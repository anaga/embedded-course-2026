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13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 Ecosystem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GPIO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 + CubeIDE  |  HAL  |  Nucleo-F3334R8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896112" cy="25603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63040" y="3566160"/>
            <a:ext cx="635508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1463040" y="3566160"/>
            <a:ext cx="635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3566160"/>
            <a:ext cx="461772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2194560" y="3566160"/>
            <a:ext cx="461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12 — Agenda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cover today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466344"/>
          </a:xfrm>
          <a:prstGeom prst="rect">
            <a:avLst/>
          </a:prstGeom>
          <a:solidFill>
            <a:srgbClr val="1327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320040" cy="46634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320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124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 Family 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33502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lines F0/F1/F4/H7, naming convention, where F334 fits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591056"/>
            <a:ext cx="8412480" cy="466344"/>
          </a:xfrm>
          <a:prstGeom prst="rect">
            <a:avLst/>
          </a:prstGeom>
          <a:solidFill>
            <a:srgbClr val="0D1E3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Shape 9"/>
          <p:cNvSpPr/>
          <p:nvPr/>
        </p:nvSpPr>
        <p:spPr>
          <a:xfrm>
            <a:off x="365760" y="1591056"/>
            <a:ext cx="320040" cy="46634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365760" y="1591056"/>
            <a:ext cx="320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6367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Ecosystem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84708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CubeMX, CubeIDE, HAL vs LL vs CMSIS, ST-Link debugger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103120"/>
            <a:ext cx="8412480" cy="466344"/>
          </a:xfrm>
          <a:prstGeom prst="rect">
            <a:avLst/>
          </a:prstGeom>
          <a:solidFill>
            <a:srgbClr val="1327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320040" cy="46634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365760" y="2103120"/>
            <a:ext cx="320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 Walkthrough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3591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Pinout editor, clock tree configuration, code generation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615184"/>
            <a:ext cx="8412480" cy="466344"/>
          </a:xfrm>
          <a:prstGeom prst="rect">
            <a:avLst/>
          </a:prstGeom>
          <a:solidFill>
            <a:srgbClr val="0D1E3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1" name="Shape 19"/>
          <p:cNvSpPr/>
          <p:nvPr/>
        </p:nvSpPr>
        <p:spPr>
          <a:xfrm>
            <a:off x="365760" y="2615184"/>
            <a:ext cx="320040" cy="46634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Text 20"/>
          <p:cNvSpPr/>
          <p:nvPr/>
        </p:nvSpPr>
        <p:spPr>
          <a:xfrm>
            <a:off x="365760" y="2615184"/>
            <a:ext cx="320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26609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Generated Project Structure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28712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.ioc file, Core/, Drivers/, USER CODE sections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127248"/>
            <a:ext cx="8412480" cy="466344"/>
          </a:xfrm>
          <a:prstGeom prst="rect">
            <a:avLst/>
          </a:prstGeom>
          <a:solidFill>
            <a:srgbClr val="1327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6" name="Shape 24"/>
          <p:cNvSpPr/>
          <p:nvPr/>
        </p:nvSpPr>
        <p:spPr>
          <a:xfrm>
            <a:off x="365760" y="3127248"/>
            <a:ext cx="320040" cy="46634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7" name="Text 25"/>
          <p:cNvSpPr/>
          <p:nvPr/>
        </p:nvSpPr>
        <p:spPr>
          <a:xfrm>
            <a:off x="365760" y="3127248"/>
            <a:ext cx="320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172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Nucleo-F334R Board Overview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33832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 connectors, LD2 = PA5, B1 = PC13, ST-Link on-board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639312"/>
            <a:ext cx="8412480" cy="466344"/>
          </a:xfrm>
          <a:prstGeom prst="rect">
            <a:avLst/>
          </a:prstGeom>
          <a:solidFill>
            <a:srgbClr val="0D1E3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1" name="Shape 29"/>
          <p:cNvSpPr/>
          <p:nvPr/>
        </p:nvSpPr>
        <p:spPr>
          <a:xfrm>
            <a:off x="365760" y="3639312"/>
            <a:ext cx="320040" cy="46634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2" name="Text 30"/>
          <p:cNvSpPr/>
          <p:nvPr/>
        </p:nvSpPr>
        <p:spPr>
          <a:xfrm>
            <a:off x="365760" y="3639312"/>
            <a:ext cx="320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3685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 GPIO API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38953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HAL_GPIO_WritePin, ReadPin, TogglePin, Init struct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151376"/>
            <a:ext cx="8412480" cy="466344"/>
          </a:xfrm>
          <a:prstGeom prst="rect">
            <a:avLst/>
          </a:prstGeom>
          <a:solidFill>
            <a:srgbClr val="1327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6" name="Shape 34"/>
          <p:cNvSpPr/>
          <p:nvPr/>
        </p:nvSpPr>
        <p:spPr>
          <a:xfrm>
            <a:off x="365760" y="4151376"/>
            <a:ext cx="320040" cy="46634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7" name="Text 35"/>
          <p:cNvSpPr/>
          <p:nvPr/>
        </p:nvSpPr>
        <p:spPr>
          <a:xfrm>
            <a:off x="365760" y="4151376"/>
            <a:ext cx="320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41970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" y="44074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Blink LD2, read B1 — first HAL project on Nucleo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Module 4  |  Lesson 12  |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 Family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Cortex-M based MCUs from STMicroelectronics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1920240" cy="219456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1920240" cy="10972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STM32F0 / F1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Cortex-M0/M3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to 72 MHz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Entry-level, low cost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96312" y="1234440"/>
            <a:ext cx="1920240" cy="2194560"/>
          </a:xfrm>
          <a:prstGeom prst="rect">
            <a:avLst/>
          </a:prstGeom>
          <a:solidFill>
            <a:srgbClr val="1A4A5C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Shape 10"/>
          <p:cNvSpPr/>
          <p:nvPr/>
        </p:nvSpPr>
        <p:spPr>
          <a:xfrm>
            <a:off x="2496312" y="1234440"/>
            <a:ext cx="1920240" cy="10972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/>
          <p:nvPr/>
        </p:nvSpPr>
        <p:spPr>
          <a:xfrm>
            <a:off x="2587752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STM32F4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87752" y="1783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Cortex-M4F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87752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to 180 MHz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87752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Mainstream + FPU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81144" y="1234440"/>
            <a:ext cx="1920240" cy="2194560"/>
          </a:xfrm>
          <a:prstGeom prst="rect">
            <a:avLst/>
          </a:prstGeom>
          <a:solidFill>
            <a:srgbClr val="1A5A4C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Shape 16"/>
          <p:cNvSpPr/>
          <p:nvPr/>
        </p:nvSpPr>
        <p:spPr>
          <a:xfrm>
            <a:off x="4581144" y="1234440"/>
            <a:ext cx="1920240" cy="10972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/>
          <p:nvPr/>
        </p:nvSpPr>
        <p:spPr>
          <a:xfrm>
            <a:off x="4672584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STM32H7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72584" y="1783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Cortex-M7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72584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to 480 MHz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72584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performance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65976" y="1234440"/>
            <a:ext cx="1920240" cy="2194560"/>
          </a:xfrm>
          <a:prstGeom prst="rect">
            <a:avLst/>
          </a:prstGeom>
          <a:solidFill>
            <a:srgbClr val="2A3A6C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4" name="Shape 22"/>
          <p:cNvSpPr/>
          <p:nvPr/>
        </p:nvSpPr>
        <p:spPr>
          <a:xfrm>
            <a:off x="6665976" y="1234440"/>
            <a:ext cx="1920240" cy="10972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/>
          <p:nvPr/>
        </p:nvSpPr>
        <p:spPr>
          <a:xfrm>
            <a:off x="6757416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STM32L4 / U5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57416" y="1783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Cortex-M4/M33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to 120 MHz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Ultra-low power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3657600"/>
            <a:ext cx="8321040" cy="987552"/>
          </a:xfrm>
          <a:prstGeom prst="rect">
            <a:avLst/>
          </a:prstGeom>
          <a:solidFill>
            <a:srgbClr val="080F18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0" name="Text 28"/>
          <p:cNvSpPr/>
          <p:nvPr/>
        </p:nvSpPr>
        <p:spPr>
          <a:xfrm>
            <a:off x="594360" y="3730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Naming convention: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3959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  F 3 3 4 R 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42245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Family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54621" y="42245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line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(F=mainstream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L=low-power)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956816" y="42519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Subline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(3=Cortex-M4)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638044" y="42336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number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78708" y="4234243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 count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(R=64 pins)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63924" y="42519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Flash size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(64KB)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505456" y="1216152"/>
            <a:ext cx="1920240" cy="2194560"/>
          </a:xfrm>
          <a:prstGeom prst="rect">
            <a:avLst/>
          </a:prstGeom>
          <a:solidFill>
            <a:srgbClr val="1A4A5C">
              <a:alpha val="0"/>
            </a:srgbClr>
          </a:solidFill>
          <a:ln w="254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9" name="Text 37"/>
          <p:cNvSpPr/>
          <p:nvPr/>
        </p:nvSpPr>
        <p:spPr>
          <a:xfrm>
            <a:off x="2350008" y="29047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board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Module 4  |  Lesson 12  |  2026</a:t>
            </a:r>
            <a:endParaRPr lang="en-US" sz="800" dirty="0"/>
          </a:p>
        </p:txBody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A7F39BA3-7165-F9F0-AAE2-05E5C2C6BE24}"/>
              </a:ext>
            </a:extLst>
          </p:cNvPr>
          <p:cNvSpPr/>
          <p:nvPr/>
        </p:nvSpPr>
        <p:spPr>
          <a:xfrm>
            <a:off x="401959" y="4681156"/>
            <a:ext cx="8321040" cy="192595"/>
          </a:xfrm>
          <a:prstGeom prst="rect">
            <a:avLst/>
          </a:prstGeom>
          <a:solidFill>
            <a:srgbClr val="080F18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r>
              <a:rPr lang="en-US" sz="800" dirty="0">
                <a:highlight>
                  <a:srgbClr val="C0C0C0"/>
                </a:highlight>
              </a:rPr>
              <a:t>Link to bard description https://os.mbed.com/platforms/ST-Nucleo-F334R8/</a:t>
            </a:r>
            <a:endParaRPr lang="et-EE" sz="1100" dirty="0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 Development Ecosystem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that work together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651760" cy="3291840"/>
          </a:xfrm>
          <a:prstGeom prst="rect">
            <a:avLst/>
          </a:prstGeom>
          <a:solidFill>
            <a:srgbClr val="1A4A7A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2651760" cy="347472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STM32CubeMX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Graphical pinout editor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84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 tree configurator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140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Peripheral setup wizard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843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Generates C project skeleton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.ioc project file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651760" cy="3291840"/>
          </a:xfrm>
          <a:prstGeom prst="rect">
            <a:avLst/>
          </a:prstGeom>
          <a:solidFill>
            <a:srgbClr val="1A5A4C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Shape 12"/>
          <p:cNvSpPr/>
          <p:nvPr/>
        </p:nvSpPr>
        <p:spPr>
          <a:xfrm>
            <a:off x="3246120" y="1097280"/>
            <a:ext cx="2651760" cy="34747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3337560" y="1097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STM32CubeIDE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Eclipse/CDT based IDE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984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 built-in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4140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 GCC toolchain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843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ST-Link debug (SWD)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SWV live data viewer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1097280"/>
            <a:ext cx="2651760" cy="3291840"/>
          </a:xfrm>
          <a:prstGeom prst="rect">
            <a:avLst/>
          </a:prstGeom>
          <a:solidFill>
            <a:srgbClr val="3A2A5C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Shape 20"/>
          <p:cNvSpPr/>
          <p:nvPr/>
        </p:nvSpPr>
        <p:spPr>
          <a:xfrm>
            <a:off x="6080760" y="1097280"/>
            <a:ext cx="265176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/>
          <p:nvPr/>
        </p:nvSpPr>
        <p:spPr>
          <a:xfrm>
            <a:off x="6172200" y="1097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 / LL / CMSIS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HAL: high-level, portable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1984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LL: low-level, fast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24140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CMSIS: Cortex-M standard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843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 = what we use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 for performance-critical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480560"/>
            <a:ext cx="8321040" cy="347472"/>
          </a:xfrm>
          <a:prstGeom prst="rect">
            <a:avLst/>
          </a:prstGeom>
          <a:solidFill>
            <a:srgbClr val="1A2A3A"/>
          </a:solidFill>
          <a:ln w="12700">
            <a:solidFill>
              <a:srgbClr val="8BA8C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0" name="Text 28"/>
          <p:cNvSpPr/>
          <p:nvPr/>
        </p:nvSpPr>
        <p:spPr>
          <a:xfrm>
            <a:off x="548640" y="4517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ST-Link:  on-board debugger/programmer on Nucleo — connects via USB, programs and debugs over SWD (2-wire)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Module 4  |  Lesson 12  |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 — Pinout &amp; Peripherals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of 3: configure what pins 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347472" cy="34747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1978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444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&gt; New Project &gt; Board Selector &gt; NUCLEO-F334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029968"/>
            <a:ext cx="347472" cy="34747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41148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0391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Pinout 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pin shown on chip diagram — click to assign function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871216"/>
            <a:ext cx="347472" cy="34747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4114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8803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 GPIO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127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PA5: GPIO_Output (LD2), PC13: GPIO_Input (B1 button)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712464"/>
            <a:ext cx="347472" cy="34747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Text 16"/>
          <p:cNvSpPr/>
          <p:nvPr/>
        </p:nvSpPr>
        <p:spPr>
          <a:xfrm>
            <a:off x="41148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7216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 pins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968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Right-click pin &gt; Enter User Label for readable names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74920" y="1097280"/>
            <a:ext cx="3657600" cy="3474720"/>
          </a:xfrm>
          <a:prstGeom prst="rect">
            <a:avLst/>
          </a:prstGeom>
          <a:solidFill>
            <a:srgbClr val="16304A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Shape 20"/>
          <p:cNvSpPr/>
          <p:nvPr/>
        </p:nvSpPr>
        <p:spPr>
          <a:xfrm>
            <a:off x="5074920" y="1097280"/>
            <a:ext cx="3657600" cy="32004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/>
          <p:nvPr/>
        </p:nvSpPr>
        <p:spPr>
          <a:xfrm>
            <a:off x="516636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Nucleo-F334 Key Pins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4920" y="1508760"/>
            <a:ext cx="3657600" cy="457200"/>
          </a:xfrm>
          <a:prstGeom prst="rect">
            <a:avLst/>
          </a:prstGeom>
          <a:solidFill>
            <a:srgbClr val="15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/>
          <p:nvPr/>
        </p:nvSpPr>
        <p:spPr>
          <a:xfrm>
            <a:off x="5166360" y="15544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GPIO_Output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66360" y="17647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LD2 (green LED)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74920" y="1993392"/>
            <a:ext cx="3657600" cy="457200"/>
          </a:xfrm>
          <a:prstGeom prst="rect">
            <a:avLst/>
          </a:prstGeom>
          <a:solidFill>
            <a:srgbClr val="0D182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9" name="Text 27"/>
          <p:cNvSpPr/>
          <p:nvPr/>
        </p:nvSpPr>
        <p:spPr>
          <a:xfrm>
            <a:off x="5166360" y="20391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PC13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20391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GPIO_Input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66360" y="22494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B1 (blue button)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74920" y="2478024"/>
            <a:ext cx="3657600" cy="457200"/>
          </a:xfrm>
          <a:prstGeom prst="rect">
            <a:avLst/>
          </a:prstGeom>
          <a:solidFill>
            <a:srgbClr val="15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3" name="Text 31"/>
          <p:cNvSpPr/>
          <p:nvPr/>
        </p:nvSpPr>
        <p:spPr>
          <a:xfrm>
            <a:off x="5166360" y="2523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25237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USART2_TX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66360" y="27340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ST-Link UART TX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74920" y="2962656"/>
            <a:ext cx="3657600" cy="457200"/>
          </a:xfrm>
          <a:prstGeom prst="rect">
            <a:avLst/>
          </a:prstGeom>
          <a:solidFill>
            <a:srgbClr val="0D182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7" name="Text 35"/>
          <p:cNvSpPr/>
          <p:nvPr/>
        </p:nvSpPr>
        <p:spPr>
          <a:xfrm>
            <a:off x="5166360" y="3008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0" y="30083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USART2_RX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66360" y="32186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ST-Link UART RX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74920" y="3447288"/>
            <a:ext cx="3657600" cy="457200"/>
          </a:xfrm>
          <a:prstGeom prst="rect">
            <a:avLst/>
          </a:prstGeom>
          <a:solidFill>
            <a:srgbClr val="15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1" name="Text 39"/>
          <p:cNvSpPr/>
          <p:nvPr/>
        </p:nvSpPr>
        <p:spPr>
          <a:xfrm>
            <a:off x="5166360" y="34930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PA13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60720" y="34930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SYS_JTMS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66360" y="37033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ST-Link SWD (SWDIO)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74920" y="3931920"/>
            <a:ext cx="3657600" cy="457200"/>
          </a:xfrm>
          <a:prstGeom prst="rect">
            <a:avLst/>
          </a:prstGeom>
          <a:solidFill>
            <a:srgbClr val="0D182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5" name="Text 43"/>
          <p:cNvSpPr/>
          <p:nvPr/>
        </p:nvSpPr>
        <p:spPr>
          <a:xfrm>
            <a:off x="5166360" y="3977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PA14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760720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SYS_JTCK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66360" y="41879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ST-Link SWD (SWCLK)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Module 4  |  Lesson 12  |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 Walkthrough — Clock Tree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of 3: configure system clocks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Shape 3"/>
          <p:cNvSpPr/>
          <p:nvPr/>
        </p:nvSpPr>
        <p:spPr>
          <a:xfrm>
            <a:off x="411480" y="1645920"/>
            <a:ext cx="155448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484632" y="173736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MHz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(Nucleo crystal)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1645920"/>
            <a:ext cx="1371600" cy="914400"/>
          </a:xfrm>
          <a:prstGeom prst="rect">
            <a:avLst/>
          </a:prstGeom>
          <a:solidFill>
            <a:srgbClr val="1A4A6C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/>
          <p:nvPr/>
        </p:nvSpPr>
        <p:spPr>
          <a:xfrm>
            <a:off x="2404872" y="173736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x84 /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69080" y="1645920"/>
            <a:ext cx="1371600" cy="914400"/>
          </a:xfrm>
          <a:prstGeom prst="rect">
            <a:avLst/>
          </a:prstGeom>
          <a:solidFill>
            <a:srgbClr val="1A5A4C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4142232" y="173736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SYSCLK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 MHz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88152" y="1664208"/>
            <a:ext cx="128016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5861304" y="173736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 MHz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(/ 1)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52360" y="1188720"/>
            <a:ext cx="128016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7525512" y="128016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APB2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 MHz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(/ 1)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52360" y="2331720"/>
            <a:ext cx="1280160" cy="914400"/>
          </a:xfrm>
          <a:prstGeom prst="rect">
            <a:avLst/>
          </a:prstGeom>
          <a:solidFill>
            <a:srgbClr val="2A2A4C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/>
          <p:nvPr/>
        </p:nvSpPr>
        <p:spPr>
          <a:xfrm>
            <a:off x="7525512" y="242316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APB1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 MHz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(/ 2)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65960" y="2084832"/>
            <a:ext cx="347472" cy="0"/>
          </a:xfrm>
          <a:prstGeom prst="line">
            <a:avLst/>
          </a:prstGeom>
          <a:noFill/>
          <a:ln w="254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Shape 16"/>
          <p:cNvSpPr/>
          <p:nvPr/>
        </p:nvSpPr>
        <p:spPr>
          <a:xfrm>
            <a:off x="3703320" y="2084832"/>
            <a:ext cx="347472" cy="0"/>
          </a:xfrm>
          <a:prstGeom prst="line">
            <a:avLst/>
          </a:prstGeom>
          <a:noFill/>
          <a:ln w="254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Shape 17"/>
          <p:cNvSpPr/>
          <p:nvPr/>
        </p:nvSpPr>
        <p:spPr>
          <a:xfrm>
            <a:off x="5440680" y="2084832"/>
            <a:ext cx="347472" cy="0"/>
          </a:xfrm>
          <a:prstGeom prst="line">
            <a:avLst/>
          </a:prstGeom>
          <a:noFill/>
          <a:ln w="254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Shape 18"/>
          <p:cNvSpPr/>
          <p:nvPr/>
        </p:nvSpPr>
        <p:spPr>
          <a:xfrm>
            <a:off x="7086600" y="1780032"/>
            <a:ext cx="347472" cy="0"/>
          </a:xfrm>
          <a:prstGeom prst="line">
            <a:avLst/>
          </a:prstGeom>
          <a:noFill/>
          <a:ln w="254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1" name="Shape 19"/>
          <p:cNvSpPr/>
          <p:nvPr/>
        </p:nvSpPr>
        <p:spPr>
          <a:xfrm>
            <a:off x="7104888" y="2468880"/>
            <a:ext cx="347472" cy="0"/>
          </a:xfrm>
          <a:prstGeom prst="line">
            <a:avLst/>
          </a:prstGeom>
          <a:noFill/>
          <a:ln w="254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Shape 20"/>
          <p:cNvSpPr/>
          <p:nvPr/>
        </p:nvSpPr>
        <p:spPr>
          <a:xfrm>
            <a:off x="411480" y="3246120"/>
            <a:ext cx="8321040" cy="1508760"/>
          </a:xfrm>
          <a:prstGeom prst="rect">
            <a:avLst/>
          </a:prstGeom>
          <a:solidFill>
            <a:srgbClr val="16304A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/>
          <p:nvPr/>
        </p:nvSpPr>
        <p:spPr>
          <a:xfrm>
            <a:off x="594360" y="3337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611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Nucleo-F401RE runs at 84 MHz (not 168 MHz max — HSE 8 MHz limits PLL on this board)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3886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APB1 max = 42 MHz — affects UART/I2C/SPI baud rate calculations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1605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 shows clock errors in red if you exceed limits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44348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HAL_RCC_GetSysClockFreq() returns SYSCLK at runtime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Module 4  |  Lesson 12  |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 Walkthrough — Code Generation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of 3: generate the project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206240" cy="713232"/>
          </a:xfrm>
          <a:prstGeom prst="rect">
            <a:avLst/>
          </a:prstGeom>
          <a:solidFill>
            <a:srgbClr val="16304A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91440" cy="71323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594360" y="12435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Manager tab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99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project name, location, toolchain = STM32CubeIDE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993392"/>
            <a:ext cx="4206240" cy="713232"/>
          </a:xfrm>
          <a:prstGeom prst="rect">
            <a:avLst/>
          </a:prstGeom>
          <a:solidFill>
            <a:srgbClr val="16304A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Shape 8"/>
          <p:cNvSpPr/>
          <p:nvPr/>
        </p:nvSpPr>
        <p:spPr>
          <a:xfrm>
            <a:off x="411480" y="1993392"/>
            <a:ext cx="91440" cy="71323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594360" y="20482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Generator tab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304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 only necessary library files (not full HAL)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798064"/>
            <a:ext cx="4206240" cy="713232"/>
          </a:xfrm>
          <a:prstGeom prst="rect">
            <a:avLst/>
          </a:prstGeom>
          <a:solidFill>
            <a:srgbClr val="16304A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Shape 12"/>
          <p:cNvSpPr/>
          <p:nvPr/>
        </p:nvSpPr>
        <p:spPr>
          <a:xfrm>
            <a:off x="411480" y="2798064"/>
            <a:ext cx="91440" cy="71323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594360" y="2852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Code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Button top-right — creates full project with Makefile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602736"/>
            <a:ext cx="4206240" cy="713232"/>
          </a:xfrm>
          <a:prstGeom prst="rect">
            <a:avLst/>
          </a:prstGeom>
          <a:solidFill>
            <a:srgbClr val="16304A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Shape 16"/>
          <p:cNvSpPr/>
          <p:nvPr/>
        </p:nvSpPr>
        <p:spPr>
          <a:xfrm>
            <a:off x="411480" y="3602736"/>
            <a:ext cx="91440" cy="71323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/>
          <p:nvPr/>
        </p:nvSpPr>
        <p:spPr>
          <a:xfrm>
            <a:off x="594360" y="3657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in CubeIDE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913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 opens automatically, ready to build and flash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1097280"/>
            <a:ext cx="3840480" cy="3566160"/>
          </a:xfrm>
          <a:prstGeom prst="rect">
            <a:avLst/>
          </a:prstGeom>
          <a:solidFill>
            <a:srgbClr val="080F18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Text 20"/>
          <p:cNvSpPr/>
          <p:nvPr/>
        </p:nvSpPr>
        <p:spPr>
          <a:xfrm>
            <a:off x="4983480" y="1170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main.c — USER CODE sections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1481328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USER CODE BEGIN Includes */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83480" y="1650492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"my_driver.h"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83480" y="1819656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USER CODE END Includes */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83480" y="2157984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main(void) {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83480" y="2327148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HAL_Init();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83480" y="2496312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SystemClock_Config();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83480" y="2665476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MX_GPIO_Init();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83480" y="3003804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USER CODE BEGIN 2 */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83480" y="3172968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my_init();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83480" y="3342132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USER CODE END 2 */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83480" y="3680460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(1) {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83480" y="3849624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USER CODE BEGIN 3 */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83480" y="4018788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my_loop();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83480" y="4187952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USER CODE END 3 */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83480" y="4357116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83480" y="4526280"/>
            <a:ext cx="3657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1480" y="46817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 will NOT overwrite USER CODE sections on regeneration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Module 4  |  Lesson 12  |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Generated Project Structure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CubeMX creates inside CubeIDE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4114800" cy="3749040"/>
          </a:xfrm>
          <a:prstGeom prst="rect">
            <a:avLst/>
          </a:prstGeom>
          <a:solidFill>
            <a:srgbClr val="080F18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3886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MyProject/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94460"/>
            <a:ext cx="3886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MyProject.ioc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18488"/>
            <a:ext cx="3886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Core/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842516"/>
            <a:ext cx="3886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Inc/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3886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main.h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290572"/>
            <a:ext cx="3886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stm32f4xx_hal_conf.h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3886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Src/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738628"/>
            <a:ext cx="3886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main.c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962656"/>
            <a:ext cx="3886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stm32f4xx_hal_msp.c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186684"/>
            <a:ext cx="3886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stm32f4xx_it.c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410712"/>
            <a:ext cx="3886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system_stm32f4xx.c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634740"/>
            <a:ext cx="3886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Drivers/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858768"/>
            <a:ext cx="3886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STM32F4xx_HAL_Driver/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082796"/>
            <a:ext cx="3886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CMSIS/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306824"/>
            <a:ext cx="3886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startup_stm32f401retx.s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143000"/>
            <a:ext cx="3977640" cy="658368"/>
          </a:xfrm>
          <a:prstGeom prst="rect">
            <a:avLst/>
          </a:prstGeom>
          <a:solidFill>
            <a:srgbClr val="16304A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Text 20"/>
          <p:cNvSpPr/>
          <p:nvPr/>
        </p:nvSpPr>
        <p:spPr>
          <a:xfrm>
            <a:off x="4892040" y="1197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.ioc file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14356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 project — source of truth for peripheral config. Re-open to change settings and regenerate.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1892808"/>
            <a:ext cx="3977640" cy="658368"/>
          </a:xfrm>
          <a:prstGeom prst="rect">
            <a:avLst/>
          </a:prstGeom>
          <a:solidFill>
            <a:srgbClr val="16304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/>
          <p:nvPr/>
        </p:nvSpPr>
        <p:spPr>
          <a:xfrm>
            <a:off x="4892040" y="1947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1854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application entry point. Contains USER CODE sections — safe to edit.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2642616"/>
            <a:ext cx="3977640" cy="658368"/>
          </a:xfrm>
          <a:prstGeom prst="rect">
            <a:avLst/>
          </a:prstGeom>
          <a:solidFill>
            <a:srgbClr val="16304A"/>
          </a:solidFill>
          <a:ln w="12700">
            <a:solidFill>
              <a:srgbClr val="8BA8C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8" name="Text 26"/>
          <p:cNvSpPr/>
          <p:nvPr/>
        </p:nvSpPr>
        <p:spPr>
          <a:xfrm>
            <a:off x="4892040" y="2697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HAL_Driver/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9352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ST-provided HAL source. Never edit — will be overwritten on regeneration.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3392424"/>
            <a:ext cx="3977640" cy="658368"/>
          </a:xfrm>
          <a:prstGeom prst="rect">
            <a:avLst/>
          </a:prstGeom>
          <a:solidFill>
            <a:srgbClr val="16304A"/>
          </a:solidFill>
          <a:ln w="12700">
            <a:solidFill>
              <a:srgbClr val="8BA8C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1" name="Text 29"/>
          <p:cNvSpPr/>
          <p:nvPr/>
        </p:nvSpPr>
        <p:spPr>
          <a:xfrm>
            <a:off x="4892040" y="34472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*_it.c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6850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 handlers. CubeMX generates stubs; add your ISR code in USER CODE sections.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4142232"/>
            <a:ext cx="3977640" cy="658368"/>
          </a:xfrm>
          <a:prstGeom prst="rect">
            <a:avLst/>
          </a:prstGeom>
          <a:solidFill>
            <a:srgbClr val="16304A"/>
          </a:solidFill>
          <a:ln w="12700">
            <a:solidFill>
              <a:srgbClr val="8BA8C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4" name="Text 32"/>
          <p:cNvSpPr/>
          <p:nvPr/>
        </p:nvSpPr>
        <p:spPr>
          <a:xfrm>
            <a:off x="4892040" y="41970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startup_*.s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4434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Assembler startup file. Sets up stack, calls SystemInit(), then jumps to main().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Module 4  |  Lesson 12  | 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Nucleo-F401RE Board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 your hardware before writing code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5212080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502920" y="11978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MCU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37360" y="11978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STM32F401RET6 — Cortex-M4 @ 84 MHz, 512KB Flash, 96KB SRAM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5212080" cy="457200"/>
          </a:xfrm>
          <a:prstGeom prst="rect">
            <a:avLst/>
          </a:prstGeom>
          <a:solidFill>
            <a:srgbClr val="0D1E3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502920" y="17007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Debugger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37360" y="17007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ST-Link v2-1 on-board — no external programmer needed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148840"/>
            <a:ext cx="5212080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502920" y="22037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22037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Micro-USB — powers board, flashes, provides UART via ST-Link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651760"/>
            <a:ext cx="5212080" cy="457200"/>
          </a:xfrm>
          <a:prstGeom prst="rect">
            <a:avLst/>
          </a:prstGeom>
          <a:solidFill>
            <a:srgbClr val="0D1E3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502920" y="27066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LD2 (green)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37360" y="27066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GPIO PA5 — active HIGH, connect to 3.3V through LED+resistor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154680"/>
            <a:ext cx="5212080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Text 16"/>
          <p:cNvSpPr/>
          <p:nvPr/>
        </p:nvSpPr>
        <p:spPr>
          <a:xfrm>
            <a:off x="502920" y="32095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 (blue)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37360" y="32095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GPIO PC13 — active LOW, internal pull-up, button to GND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657600"/>
            <a:ext cx="5212080" cy="457200"/>
          </a:xfrm>
          <a:prstGeom prst="rect">
            <a:avLst/>
          </a:prstGeom>
          <a:solidFill>
            <a:srgbClr val="0D1E3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/>
          <p:nvPr/>
        </p:nvSpPr>
        <p:spPr>
          <a:xfrm>
            <a:off x="502920" y="37124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37360" y="37124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5V from USB or VIN (7-12V) — 3.3V regulated on-board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4160520"/>
            <a:ext cx="5212080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4" name="Text 22"/>
          <p:cNvSpPr/>
          <p:nvPr/>
        </p:nvSpPr>
        <p:spPr>
          <a:xfrm>
            <a:off x="502920" y="42153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Connectors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37360" y="42153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Arduino Uno headers + ST Morpho 2x38 pin headers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52160" y="1097280"/>
            <a:ext cx="2834640" cy="3749040"/>
          </a:xfrm>
          <a:prstGeom prst="rect">
            <a:avLst/>
          </a:prstGeom>
          <a:solidFill>
            <a:srgbClr val="0A2010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7" name="Text 25"/>
          <p:cNvSpPr/>
          <p:nvPr/>
        </p:nvSpPr>
        <p:spPr>
          <a:xfrm>
            <a:off x="5943600" y="1170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Nucleo-F334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1600200"/>
            <a:ext cx="1920240" cy="2926080"/>
          </a:xfrm>
          <a:prstGeom prst="rect">
            <a:avLst/>
          </a:prstGeom>
          <a:solidFill>
            <a:srgbClr val="0D2A10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9" name="Text 27"/>
          <p:cNvSpPr/>
          <p:nvPr/>
        </p:nvSpPr>
        <p:spPr>
          <a:xfrm>
            <a:off x="5925312" y="16642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ST-Link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25312" y="1965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USB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25312" y="2331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B1 PC13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25312" y="26974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LD2 PA5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25312" y="3063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Arduino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25312" y="32461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headers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75320" y="23134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75320" y="24505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solidFill>
            <a:srgbClr val="1A1A0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8" name="Text 36"/>
          <p:cNvSpPr/>
          <p:nvPr/>
        </p:nvSpPr>
        <p:spPr>
          <a:xfrm>
            <a:off x="548640" y="46817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B1 is active-LOW (pressed = 0). LD2 is active-HIGH (1 = on). Opposite polarity from ESP32-C3 common-anode LEDs!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Module 4  |  Lesson 12  |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 GPIO API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and writing pins the HAL way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Initialization — GPIO_InitTypeDef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663440" cy="1188720"/>
          </a:xfrm>
          <a:prstGeom prst="rect">
            <a:avLst/>
          </a:prstGeom>
          <a:solidFill>
            <a:srgbClr val="080F18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521208" y="1417320"/>
            <a:ext cx="4443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GPIO_InitTypeDef cfg = {0};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cfg.Pin   = GPIO_PIN_5;        // PA5 = LD2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cfg.Mode  = GPIO_MODE_OUTPUT_PP;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cfg.Pull  = GPIO_NOPULL;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cfg.Speed = GPIO_SPEED_FREQ_LOW;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HAL_GPIO_Init(GPIOA, &amp;cfg);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5780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/ Toggle / Read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57800" y="1325880"/>
            <a:ext cx="3474720" cy="2011680"/>
          </a:xfrm>
          <a:prstGeom prst="rect">
            <a:avLst/>
          </a:prstGeom>
          <a:solidFill>
            <a:srgbClr val="080F18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5367528" y="1417320"/>
            <a:ext cx="3255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Write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HAL_GPIO_WritePin(GPIOA,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GPIO_PIN_5, GPIO_PIN_SET);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Toggle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HAL_GPIO_TogglePin(GPIOA, GPIO_PIN_5);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GPIO_PinState st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HAL_GPIO_ReadPin(GPIOC, GPIO_PIN_13);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 == GPIO_PIN_RESET) { /* pressed */ 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606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GPIO_Mode values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926080"/>
            <a:ext cx="8321040" cy="347472"/>
          </a:xfrm>
          <a:prstGeom prst="rect">
            <a:avLst/>
          </a:prstGeom>
          <a:solidFill>
            <a:srgbClr val="1327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/>
          <p:nvPr/>
        </p:nvSpPr>
        <p:spPr>
          <a:xfrm>
            <a:off x="502920" y="2990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GPIO_MODE_OUTPUT_PP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54680" y="2990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Push-pull output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2990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 HIGH or LOW — most common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310128"/>
            <a:ext cx="8321040" cy="347472"/>
          </a:xfrm>
          <a:prstGeom prst="rect">
            <a:avLst/>
          </a:prstGeom>
          <a:solidFill>
            <a:srgbClr val="0D1E3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502920" y="3374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GPIO_MODE_OUTPUT_OD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54680" y="337413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Open-drain output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33741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Needs external pull-up (I2C)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694176"/>
            <a:ext cx="8321040" cy="347472"/>
          </a:xfrm>
          <a:prstGeom prst="rect">
            <a:avLst/>
          </a:prstGeom>
          <a:solidFill>
            <a:srgbClr val="1327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/>
          <p:nvPr/>
        </p:nvSpPr>
        <p:spPr>
          <a:xfrm>
            <a:off x="502920" y="37581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GPIO_MODE_INPUT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54680" y="375818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Floating input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37581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pull — external resistor needed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078224"/>
            <a:ext cx="8321040" cy="347472"/>
          </a:xfrm>
          <a:prstGeom prst="rect">
            <a:avLst/>
          </a:prstGeom>
          <a:solidFill>
            <a:srgbClr val="0D1E3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/>
          <p:nvPr/>
        </p:nvSpPr>
        <p:spPr>
          <a:xfrm>
            <a:off x="502920" y="4142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GPIO_MODE_IT_FALLING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154680" y="41422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 on fall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83480" y="41422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Triggers EXTI on HIGH-&gt;LOW edge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4462272"/>
            <a:ext cx="8321040" cy="347472"/>
          </a:xfrm>
          <a:prstGeom prst="rect">
            <a:avLst/>
          </a:prstGeom>
          <a:solidFill>
            <a:srgbClr val="1327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9" name="Text 27"/>
          <p:cNvSpPr/>
          <p:nvPr/>
        </p:nvSpPr>
        <p:spPr>
          <a:xfrm>
            <a:off x="502920" y="4526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GPIO_MODE_AF_PP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54680" y="4526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Alternate function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83480" y="4526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 driven by peripheral (UART, SPI)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Module 4  |  Lesson 12  | 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ESP32-C3 vs STM32F401 — GPIO Comparison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concept, different HAL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374904"/>
          </a:xfrm>
          <a:prstGeom prst="rect">
            <a:avLst/>
          </a:prstGeom>
          <a:solidFill>
            <a:srgbClr val="2E86DE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502920" y="1088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80360" y="10881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ESP32-C3 (Arduino)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97880" y="10881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STM32F401 (HAL)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426464"/>
            <a:ext cx="8321040" cy="374904"/>
          </a:xfrm>
          <a:prstGeom prst="rect">
            <a:avLst/>
          </a:prstGeom>
          <a:solidFill>
            <a:srgbClr val="0D1E3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502920" y="1490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80360" y="1490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digitalWrite(3, LOW)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97880" y="1490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HAL_GPIO_WritePin(GPIOA, PIN_5, SET)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1828800"/>
            <a:ext cx="8321040" cy="374904"/>
          </a:xfrm>
          <a:prstGeom prst="rect">
            <a:avLst/>
          </a:prstGeom>
          <a:solidFill>
            <a:srgbClr val="1327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502920" y="1892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toggle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880360" y="1892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digitalWrite(pin, !state)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1892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HAL_GPIO_TogglePin(GPIOA, PIN_5)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231136"/>
            <a:ext cx="8321040" cy="374904"/>
          </a:xfrm>
          <a:prstGeom prst="rect">
            <a:avLst/>
          </a:prstGeom>
          <a:solidFill>
            <a:srgbClr val="0D1E3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Text 16"/>
          <p:cNvSpPr/>
          <p:nvPr/>
        </p:nvSpPr>
        <p:spPr>
          <a:xfrm>
            <a:off x="502920" y="2295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read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80360" y="22951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digitalRead(0) == LOW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97880" y="22951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HAL_GPIO_ReadPin(GPIOC, PIN_13) == RESET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633472"/>
            <a:ext cx="8321040" cy="374904"/>
          </a:xfrm>
          <a:prstGeom prst="rect">
            <a:avLst/>
          </a:prstGeom>
          <a:solidFill>
            <a:srgbClr val="1327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Text 20"/>
          <p:cNvSpPr/>
          <p:nvPr/>
        </p:nvSpPr>
        <p:spPr>
          <a:xfrm>
            <a:off x="502920" y="2697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 500ms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80360" y="2697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delay(500)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97880" y="2697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HAL_Delay(500)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3035808"/>
            <a:ext cx="8321040" cy="374904"/>
          </a:xfrm>
          <a:prstGeom prst="rect">
            <a:avLst/>
          </a:prstGeom>
          <a:solidFill>
            <a:srgbClr val="0D1E3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6" name="Text 24"/>
          <p:cNvSpPr/>
          <p:nvPr/>
        </p:nvSpPr>
        <p:spPr>
          <a:xfrm>
            <a:off x="502920" y="3099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config (input)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880360" y="30998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pinMode(0, INPUT_PULLUP)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97880" y="30998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cfg.Pull = GPIO_PULLUP + Init()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3438144"/>
            <a:ext cx="8321040" cy="374904"/>
          </a:xfrm>
          <a:prstGeom prst="rect">
            <a:avLst/>
          </a:prstGeom>
          <a:solidFill>
            <a:srgbClr val="1327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0" name="Text 28"/>
          <p:cNvSpPr/>
          <p:nvPr/>
        </p:nvSpPr>
        <p:spPr>
          <a:xfrm>
            <a:off x="502920" y="3502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config (output)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880360" y="35021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pinMode(3, OUTPUT)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97880" y="35021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cfg.Mode = OUTPUT_PP + Init()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1480" y="3840480"/>
            <a:ext cx="8321040" cy="374904"/>
          </a:xfrm>
          <a:prstGeom prst="rect">
            <a:avLst/>
          </a:prstGeom>
          <a:solidFill>
            <a:srgbClr val="0D1E3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4" name="Text 32"/>
          <p:cNvSpPr/>
          <p:nvPr/>
        </p:nvSpPr>
        <p:spPr>
          <a:xfrm>
            <a:off x="502920" y="3904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Flash/debug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880360" y="3904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 CDC / PlatformIO upload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97880" y="3904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ST-Link SWD, CubeIDE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" y="4242816"/>
            <a:ext cx="8321040" cy="374904"/>
          </a:xfrm>
          <a:prstGeom prst="rect">
            <a:avLst/>
          </a:prstGeom>
          <a:solidFill>
            <a:srgbClr val="1327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8" name="Text 36"/>
          <p:cNvSpPr/>
          <p:nvPr/>
        </p:nvSpPr>
        <p:spPr>
          <a:xfrm>
            <a:off x="502920" y="4306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880360" y="43068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 Core (C++)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97880" y="43068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 (C) + your C++ on top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" y="46817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concept is identical — only the function names and register abstraction differ.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Module 4  |  Lesson 12  | 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Blink LD2 + Read B1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HAL project on Nucleo-F401RE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build: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project in CubeMX for NUCLEO-F401RE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PA5 as GPIO_Output (LD2)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PC13 as GPIO_Input pull-up (B1)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code and open in CubeIDE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0632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main loop: blink LD2, change rate when B1 pressed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4747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Flash via ST-Link and observe on board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5780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loop sketch: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57800" y="1417320"/>
            <a:ext cx="3474720" cy="2606040"/>
          </a:xfrm>
          <a:prstGeom prst="rect">
            <a:avLst/>
          </a:prstGeom>
          <a:solidFill>
            <a:srgbClr val="080F18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5367528" y="1508760"/>
            <a:ext cx="32552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USER CODE BEGIN 3 */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 delay_ms = 500;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Button pressed -&gt; fast blink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(HAL_GPIO_ReadPin(GPIOC, GPIO_PIN_13)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== GPIO_PIN_RESET)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delay_ms = 100;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delay_ms = 500;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HAL_GPIO_TogglePin(GPIOA, GPIO_PIN_5);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HAL_Delay(delay_ms);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USER CODE END 3 */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4160520"/>
            <a:ext cx="8321040" cy="658368"/>
          </a:xfrm>
          <a:prstGeom prst="rect">
            <a:avLst/>
          </a:prstGeom>
          <a:solidFill>
            <a:srgbClr val="1A0D0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/>
          <p:nvPr/>
        </p:nvSpPr>
        <p:spPr>
          <a:xfrm>
            <a:off x="548640" y="42336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B1 = active LOW (GPIO_PIN_RESET = pressed)   |   LD2 = active HIGH (GPIO_PIN_SET = on)   |   No inversion needed on Nucleo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Module 4  |  Lesson 12  | 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 the demo on your own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129844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384048" cy="129844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3840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8321040" cy="1298448"/>
          </a:xfrm>
          <a:prstGeom prst="rect">
            <a:avLst/>
          </a:prstGeom>
          <a:solidFill>
            <a:srgbClr val="1A5A4C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Shape 11"/>
          <p:cNvSpPr/>
          <p:nvPr/>
        </p:nvSpPr>
        <p:spPr>
          <a:xfrm>
            <a:off x="411480" y="2468880"/>
            <a:ext cx="384048" cy="129844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411480" y="2468880"/>
            <a:ext cx="3840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542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 the demo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a second blink pattern: SOS in Morse code (... --- ...)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3127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Button B1 switches between normal blink and SOS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34198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only HAL_GPIO_TogglePin and HAL_Delay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886200"/>
            <a:ext cx="8321040" cy="886968"/>
          </a:xfrm>
          <a:prstGeom prst="rect">
            <a:avLst/>
          </a:prstGeom>
          <a:solidFill>
            <a:srgbClr val="3A2A5C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Shape 18"/>
          <p:cNvSpPr/>
          <p:nvPr/>
        </p:nvSpPr>
        <p:spPr>
          <a:xfrm>
            <a:off x="411480" y="3886200"/>
            <a:ext cx="384048" cy="88696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/>
          <p:nvPr/>
        </p:nvSpPr>
        <p:spPr>
          <a:xfrm>
            <a:off x="411480" y="3886200"/>
            <a:ext cx="3840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9593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Read: what is SWD (Serial Wire Debug) and how does it differ from JTAG?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4400" y="4544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 up: GPIO_PULLUP vs GPIO_NOPULL — when would you use each?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Module 4  |  Lesson 12  |  2026</a:t>
            </a:r>
            <a:endParaRPr lang="en-US" sz="80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933652DC-935F-DF7F-EF94-EDA71D7401A0}"/>
              </a:ext>
            </a:extLst>
          </p:cNvPr>
          <p:cNvSpPr/>
          <p:nvPr/>
        </p:nvSpPr>
        <p:spPr>
          <a:xfrm>
            <a:off x="795528" y="1051560"/>
            <a:ext cx="7936992" cy="1298448"/>
          </a:xfrm>
          <a:prstGeom prst="rect">
            <a:avLst/>
          </a:prstGeom>
          <a:solidFill>
            <a:srgbClr val="1A5A4C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STM32CubeIDE on your machine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1709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 new project for NUCLEO-</a:t>
            </a:r>
            <a:r>
              <a:rPr lang="en-US" sz="95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Fxxxx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20025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the project builds and LD2 blinks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11247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covered in Lesson 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8321040" cy="530352"/>
          </a:xfrm>
          <a:prstGeom prst="rect">
            <a:avLst/>
          </a:prstGeom>
          <a:solidFill>
            <a:srgbClr val="16304A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84048" cy="530352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 family: F0 thru H7, Cortex-M cores, F334 at 84 MHz on Nucleo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728216"/>
            <a:ext cx="8321040" cy="530352"/>
          </a:xfrm>
          <a:prstGeom prst="rect">
            <a:avLst/>
          </a:prstGeom>
          <a:solidFill>
            <a:srgbClr val="16304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Shape 8"/>
          <p:cNvSpPr/>
          <p:nvPr/>
        </p:nvSpPr>
        <p:spPr>
          <a:xfrm>
            <a:off x="411480" y="1728216"/>
            <a:ext cx="384048" cy="53035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411480" y="172821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81965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Ecosystem: CubeMX (config) + CubeIDE (build/debug) + HAL (API)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313432"/>
            <a:ext cx="8321040" cy="530352"/>
          </a:xfrm>
          <a:prstGeom prst="rect">
            <a:avLst/>
          </a:prstGeom>
          <a:solidFill>
            <a:srgbClr val="16304A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Shape 12"/>
          <p:cNvSpPr/>
          <p:nvPr/>
        </p:nvSpPr>
        <p:spPr>
          <a:xfrm>
            <a:off x="411480" y="2313432"/>
            <a:ext cx="384048" cy="5303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411480" y="231343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40487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 generates project skeleton — pinout, clocks, USER CODE sections preserved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898648"/>
            <a:ext cx="8321040" cy="530352"/>
          </a:xfrm>
          <a:prstGeom prst="rect">
            <a:avLst/>
          </a:prstGeom>
          <a:solidFill>
            <a:srgbClr val="16304A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Shape 16"/>
          <p:cNvSpPr/>
          <p:nvPr/>
        </p:nvSpPr>
        <p:spPr>
          <a:xfrm>
            <a:off x="411480" y="2898648"/>
            <a:ext cx="384048" cy="530352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/>
          <p:nvPr/>
        </p:nvSpPr>
        <p:spPr>
          <a:xfrm>
            <a:off x="411480" y="289864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9900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structure: .ioc, Core/Src/main.c, Drivers/ — never edit HAL files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483864"/>
            <a:ext cx="8321040" cy="530352"/>
          </a:xfrm>
          <a:prstGeom prst="rect">
            <a:avLst/>
          </a:prstGeom>
          <a:solidFill>
            <a:srgbClr val="16304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Shape 20"/>
          <p:cNvSpPr/>
          <p:nvPr/>
        </p:nvSpPr>
        <p:spPr>
          <a:xfrm>
            <a:off x="411480" y="3483864"/>
            <a:ext cx="384048" cy="53035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/>
          <p:nvPr/>
        </p:nvSpPr>
        <p:spPr>
          <a:xfrm>
            <a:off x="411480" y="3483864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57530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Nucleo-F334: PA5 = LD2, PC13 = B1, ST-Link on-board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069080"/>
            <a:ext cx="8321040" cy="530352"/>
          </a:xfrm>
          <a:prstGeom prst="rect">
            <a:avLst/>
          </a:prstGeom>
          <a:solidFill>
            <a:srgbClr val="16304A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6" name="Shape 24"/>
          <p:cNvSpPr/>
          <p:nvPr/>
        </p:nvSpPr>
        <p:spPr>
          <a:xfrm>
            <a:off x="411480" y="4069080"/>
            <a:ext cx="384048" cy="5303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7" name="Text 25"/>
          <p:cNvSpPr/>
          <p:nvPr/>
        </p:nvSpPr>
        <p:spPr>
          <a:xfrm>
            <a:off x="411480" y="406908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16052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 GPIO: WritePin, TogglePin, ReadPin — same concept as ESP32, different names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6817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Next: Lesson 13 — Timers, PWM, and Interrupts on STM32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Module 4  |  Lesson 12  |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2086</Words>
  <Application>Microsoft Office PowerPoint</Application>
  <PresentationFormat>On-screen Show (16:9)</PresentationFormat>
  <Paragraphs>373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12 - STM32 Ecosystem and GPIO</dc:title>
  <dc:subject>PptxGenJS Presentation</dc:subject>
  <dc:creator>PptxGenJS</dc:creator>
  <cp:lastModifiedBy>Bobyrev, Aleksandr</cp:lastModifiedBy>
  <cp:revision>7</cp:revision>
  <dcterms:created xsi:type="dcterms:W3CDTF">2026-03-21T13:56:23Z</dcterms:created>
  <dcterms:modified xsi:type="dcterms:W3CDTF">2026-03-25T14:53:52Z</dcterms:modified>
</cp:coreProperties>
</file>