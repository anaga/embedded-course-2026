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1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9281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A4D4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9B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4 — MICROCONTROLLER PLATFORMS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14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Nokia 5110 LCD via SPI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5BA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NUCLEO-F446RE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4023360"/>
            <a:ext cx="2011680" cy="548640"/>
          </a:xfrm>
          <a:prstGeom prst="rect">
            <a:avLst/>
          </a:prstGeom>
          <a:solidFill>
            <a:srgbClr val="2E3F8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8" name="Text 6"/>
          <p:cNvSpPr/>
          <p:nvPr/>
        </p:nvSpPr>
        <p:spPr>
          <a:xfrm>
            <a:off x="365760" y="4023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Protocol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42032" y="4023360"/>
            <a:ext cx="2011680" cy="548640"/>
          </a:xfrm>
          <a:prstGeom prst="rect">
            <a:avLst/>
          </a:prstGeom>
          <a:solidFill>
            <a:srgbClr val="2E3F8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Text 8"/>
          <p:cNvSpPr/>
          <p:nvPr/>
        </p:nvSpPr>
        <p:spPr>
          <a:xfrm>
            <a:off x="2542032" y="4023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PCD8544 Driver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18304" y="4023360"/>
            <a:ext cx="2011680" cy="548640"/>
          </a:xfrm>
          <a:prstGeom prst="rect">
            <a:avLst/>
          </a:prstGeom>
          <a:solidFill>
            <a:srgbClr val="2E3F8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4718304" y="4023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Bitmap Font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94576" y="4023360"/>
            <a:ext cx="2011680" cy="548640"/>
          </a:xfrm>
          <a:prstGeom prst="rect">
            <a:avLst/>
          </a:prstGeom>
          <a:solidFill>
            <a:srgbClr val="2E3F8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/>
          <p:nvPr/>
        </p:nvSpPr>
        <p:spPr>
          <a:xfrm>
            <a:off x="6894576" y="4023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HAL_SPI_Transmit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 — Serial Peripheral Interface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5BA4D4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synchronous serial bus: full-duplex, master-driven, 4-wire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914400" cy="658368"/>
          </a:xfrm>
          <a:prstGeom prst="rect">
            <a:avLst/>
          </a:prstGeom>
          <a:solidFill>
            <a:srgbClr val="4EC994"/>
          </a:solidFill>
          <a:ln w="12700">
            <a:solidFill>
              <a:srgbClr val="4EC99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2161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— generated by master, synchronises every bit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914400" cy="658368"/>
          </a:xfrm>
          <a:prstGeom prst="rect">
            <a:avLst/>
          </a:prstGeom>
          <a:solidFill>
            <a:srgbClr val="5BA4D4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08760" y="206654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Out Slave In — data from STM32 to display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89504"/>
            <a:ext cx="914400" cy="658368"/>
          </a:xfrm>
          <a:prstGeom prst="rect">
            <a:avLst/>
          </a:prstGeom>
          <a:solidFill>
            <a:srgbClr val="9BB4D8"/>
          </a:solidFill>
          <a:ln w="12700">
            <a:solidFill>
              <a:srgbClr val="9BB4D8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457200" y="288950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291693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In Slave Out — not used (PCD8544 is write-only)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39896"/>
            <a:ext cx="914400" cy="65836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/>
          <p:nvPr/>
        </p:nvSpPr>
        <p:spPr>
          <a:xfrm>
            <a:off x="457200" y="373989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376732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Select — active-low, enables the device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94960" y="1188720"/>
            <a:ext cx="3291840" cy="3246120"/>
          </a:xfrm>
          <a:prstGeom prst="rect">
            <a:avLst/>
          </a:prstGeom>
          <a:solidFill>
            <a:srgbClr val="253070"/>
          </a:solidFill>
          <a:ln w="12700">
            <a:solidFill>
              <a:srgbClr val="5BA4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8" name="Text 16"/>
          <p:cNvSpPr/>
          <p:nvPr/>
        </p:nvSpPr>
        <p:spPr>
          <a:xfrm>
            <a:off x="5504688" y="128016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 Key Properties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04688" y="1591056"/>
            <a:ext cx="3072384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 polarity: CPOL=0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 phase:    CPHA=0  (Mode 0)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 order:      MSB first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width:     8 bits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speed:      4 MHz (PCD8544)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Nokia 5110 uses 3 of 4 wires: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SCK + MOSI + CS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Plus DC pin (command/data)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PCD8544 — Nokia 5110 LCD Controller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5BA4D4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x 48 pixels, monochrome, 3.3 V logic, SPI-only (no MISO)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3832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Pin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Name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Function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RST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Active-low hardware reset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Chip Enable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SPI chip select (active-low)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Data/Command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 = command,  HIGH = data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MOSI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SPI data input to display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SPI clock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VCC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Power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3.3 V (max 3.6 V — do not use 5 V!)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LIGHT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Backlight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 anode — connect via resistor to 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Ground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Reference ground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4A1C1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4"/>
          <p:cNvSpPr/>
          <p:nvPr/>
        </p:nvSpPr>
        <p:spPr>
          <a:xfrm>
            <a:off x="566928" y="4645152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 VCC must be 3.3 V. The F446RE GPIO is 3.3 V — safe. Never connect to 5 V header pins.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Wiring — F446RE to Nokia 5110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5BA4D4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SPI1 peripheral + four GPIO control lines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669280" cy="3520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Nokia 5110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F446RE Pin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Signal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VCC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3.3V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Power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Ground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PA5 (D13)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SPI1_SCK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PA7 (D11)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SPI1_MOSI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PB6  (D10)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GPIO out (NSS SW)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PA9  (D8)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GPIO out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RST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PA8  (D7)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GPIO out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LIGHT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Backlight (always on)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A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188720"/>
            <a:ext cx="2331720" cy="3520440"/>
          </a:xfrm>
          <a:prstGeom prst="rect">
            <a:avLst/>
          </a:prstGeom>
          <a:solidFill>
            <a:srgbClr val="253070"/>
          </a:solidFill>
          <a:ln w="12700">
            <a:solidFill>
              <a:srgbClr val="5BA4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7" name="Text 4"/>
          <p:cNvSpPr/>
          <p:nvPr/>
        </p:nvSpPr>
        <p:spPr>
          <a:xfrm>
            <a:off x="6510528" y="128016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10528" y="1564957"/>
            <a:ext cx="2112264" cy="228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SPI1: hardware SCK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MOSI only.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MISO needed.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/ DC / RST are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GPIO outputs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(push-pull, no AF).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-&gt; GND works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module has a resistor.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STM32CubeMX — SPI1 Configuration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5BA4D4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setup before writing a single line of driver code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2286000"/>
          </a:xfrm>
          <a:prstGeom prst="rect">
            <a:avLst/>
          </a:prstGeom>
          <a:solidFill>
            <a:srgbClr val="253070"/>
          </a:solidFill>
          <a:ln w="12700">
            <a:solidFill>
              <a:srgbClr val="5BA4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SPI1 Settings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591056"/>
            <a:ext cx="38953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            Full-Duplex Master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Size:        8 Bits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Bit:        MSB First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CPOL:             Low   (CPOL=0)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CPHA:             1 Edge (CPHA=0)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NSS:              Software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Baud Rate:        APB2/16  (~5.6 MHz)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4114800" cy="1325880"/>
          </a:xfrm>
          <a:prstGeom prst="rect">
            <a:avLst/>
          </a:prstGeom>
          <a:solidFill>
            <a:srgbClr val="253070"/>
          </a:solidFill>
          <a:ln w="12700">
            <a:solidFill>
              <a:srgbClr val="5BA4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566928" y="374904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GPIO Pins (Output, Push-Pull)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4059936"/>
            <a:ext cx="3895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PB6  -&gt;  Nokia CE   (label: LCD_CE)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PA9  -&gt;  Nokia DC   (label: LCD_DC)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PA8  -&gt;  Nokia RST  (label: LCD_RST)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188720"/>
            <a:ext cx="3931920" cy="3794760"/>
          </a:xfrm>
          <a:prstGeom prst="rect">
            <a:avLst/>
          </a:prstGeom>
          <a:solidFill>
            <a:srgbClr val="253070"/>
          </a:solidFill>
          <a:ln w="12700">
            <a:solidFill>
              <a:srgbClr val="5BA4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4910328" y="1280160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Steps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0328" y="1591056"/>
            <a:ext cx="3712464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.ioc in STM32CubeIDE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Pinout -&gt; SPI1 -&gt; Full-Duplex Master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PA5 = SPI1_SCK,  PA7 = SPI1_MOSI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NSS = Software (we toggle PB6 manually)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Set PB6, PA9, PA8 as GPIO_Output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Label them in Pin properties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Project -&gt; Generate Code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PCD8544 Protocol — Command vs 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5BA4D4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DC pin tells the controller whether each SPI byte is a command or pixel data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960120"/>
          </a:xfrm>
          <a:prstGeom prst="rect">
            <a:avLst/>
          </a:prstGeom>
          <a:solidFill>
            <a:srgbClr val="3D1010"/>
          </a:solidFill>
          <a:ln w="254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005840" cy="96012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 = 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1234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byte — configures the controller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(contrast, addressing mode, display on/off)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931920" cy="960120"/>
          </a:xfrm>
          <a:prstGeom prst="rect">
            <a:avLst/>
          </a:prstGeom>
          <a:solidFill>
            <a:srgbClr val="103D22"/>
          </a:solidFill>
          <a:ln w="25400">
            <a:solidFill>
              <a:srgbClr val="4EC99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005840" cy="960120"/>
          </a:xfrm>
          <a:prstGeom prst="rect">
            <a:avLst/>
          </a:prstGeom>
          <a:solidFill>
            <a:srgbClr val="4EC994"/>
          </a:solidFill>
          <a:ln w="12700">
            <a:solidFill>
              <a:srgbClr val="4EC99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Text 9"/>
          <p:cNvSpPr/>
          <p:nvPr/>
        </p:nvSpPr>
        <p:spPr>
          <a:xfrm>
            <a:off x="4663440" y="118872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 =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1234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byte — pixel data written to DDRAM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(each bit = one pixel in the 84x6-row grid)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Initialization Sequence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599"/>
            <a:ext cx="3931920" cy="2500313"/>
          </a:xfrm>
          <a:prstGeom prst="rect">
            <a:avLst/>
          </a:prstGeom>
          <a:solidFill>
            <a:srgbClr val="141E4A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/>
          <p:nvPr/>
        </p:nvSpPr>
        <p:spPr>
          <a:xfrm>
            <a:off x="566928" y="2743200"/>
            <a:ext cx="43525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Toggle RST low then high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HAL_GPIO_WritePin(LCD_RST_GPIO, 0);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HAL_Delay(1);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HAL_GPIO_WritePin(LCD_RST_GPIO, 1);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Enter extended command mode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lcd_cmd(0x21);  // PD=0, V=0, H=1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lcd_cmd(0xB8);  // Vop (contrast)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lcd_cmd(0x04);  // Temp coeff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lcd_cmd(0x14);  // Bias 1:48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Enter basic mode, display on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lcd_cmd(0x20);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lcd_cmd(0x0C);  // Normal mode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514600"/>
            <a:ext cx="4069080" cy="2500312"/>
          </a:xfrm>
          <a:prstGeom prst="rect">
            <a:avLst/>
          </a:prstGeom>
          <a:solidFill>
            <a:srgbClr val="253070"/>
          </a:solidFill>
          <a:ln w="12700">
            <a:solidFill>
              <a:srgbClr val="5BA4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/>
          <p:nvPr/>
        </p:nvSpPr>
        <p:spPr>
          <a:xfrm>
            <a:off x="4663440" y="2240186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DDRAM Layout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10316" y="2651854"/>
            <a:ext cx="3255264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columns x 6 banks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bank = 8 pixel rows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84 x 48 = 4032 pixels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auto-increments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left-to-right, then next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(horizontal mode).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= write 504 zeros.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Rendering — 5x7 Bitmap Font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5BA4D4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ASCII character is stored as 5 bytes, one byte per column of pixels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'A' (ASCII 65)  =  5 column bytes: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238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A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0x7E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8" name="Shape 6"/>
          <p:cNvSpPr/>
          <p:nvPr/>
        </p:nvSpPr>
        <p:spPr>
          <a:xfrm>
            <a:off x="548640" y="2048256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Shape 8"/>
          <p:cNvSpPr/>
          <p:nvPr/>
        </p:nvSpPr>
        <p:spPr>
          <a:xfrm>
            <a:off x="548640" y="2633472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Shape 10"/>
          <p:cNvSpPr/>
          <p:nvPr/>
        </p:nvSpPr>
        <p:spPr>
          <a:xfrm>
            <a:off x="548640" y="3218688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Shape 11"/>
          <p:cNvSpPr/>
          <p:nvPr/>
        </p:nvSpPr>
        <p:spPr>
          <a:xfrm>
            <a:off x="548640" y="3511296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Shape 12"/>
          <p:cNvSpPr/>
          <p:nvPr/>
        </p:nvSpPr>
        <p:spPr>
          <a:xfrm>
            <a:off x="548640" y="3803904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/>
          <p:nvPr/>
        </p:nvSpPr>
        <p:spPr>
          <a:xfrm>
            <a:off x="965822" y="1481328"/>
            <a:ext cx="5147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A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57262" y="1755648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Shape 15"/>
          <p:cNvSpPr/>
          <p:nvPr/>
        </p:nvSpPr>
        <p:spPr>
          <a:xfrm>
            <a:off x="1057262" y="2048256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8" name="Shape 16"/>
          <p:cNvSpPr/>
          <p:nvPr/>
        </p:nvSpPr>
        <p:spPr>
          <a:xfrm>
            <a:off x="1057262" y="2340864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Shape 17"/>
          <p:cNvSpPr/>
          <p:nvPr/>
        </p:nvSpPr>
        <p:spPr>
          <a:xfrm>
            <a:off x="1057262" y="2633472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0" name="Shape 18"/>
          <p:cNvSpPr/>
          <p:nvPr/>
        </p:nvSpPr>
        <p:spPr>
          <a:xfrm>
            <a:off x="1057262" y="2926080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1" name="Shape 19"/>
          <p:cNvSpPr/>
          <p:nvPr/>
        </p:nvSpPr>
        <p:spPr>
          <a:xfrm>
            <a:off x="1057262" y="3218688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2" name="Shape 20"/>
          <p:cNvSpPr/>
          <p:nvPr/>
        </p:nvSpPr>
        <p:spPr>
          <a:xfrm>
            <a:off x="1057262" y="3511296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Shape 21"/>
          <p:cNvSpPr/>
          <p:nvPr/>
        </p:nvSpPr>
        <p:spPr>
          <a:xfrm>
            <a:off x="1057262" y="3803904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4" name="Text 22"/>
          <p:cNvSpPr/>
          <p:nvPr/>
        </p:nvSpPr>
        <p:spPr>
          <a:xfrm>
            <a:off x="1420257" y="1493520"/>
            <a:ext cx="65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A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589706" y="1755648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6" name="Shape 24"/>
          <p:cNvSpPr/>
          <p:nvPr/>
        </p:nvSpPr>
        <p:spPr>
          <a:xfrm>
            <a:off x="1589706" y="2048256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7" name="Shape 25"/>
          <p:cNvSpPr/>
          <p:nvPr/>
        </p:nvSpPr>
        <p:spPr>
          <a:xfrm>
            <a:off x="1589706" y="2340864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8" name="Shape 26"/>
          <p:cNvSpPr/>
          <p:nvPr/>
        </p:nvSpPr>
        <p:spPr>
          <a:xfrm>
            <a:off x="1589706" y="2633472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9" name="Shape 27"/>
          <p:cNvSpPr/>
          <p:nvPr/>
        </p:nvSpPr>
        <p:spPr>
          <a:xfrm>
            <a:off x="1589706" y="2926080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0" name="Shape 28"/>
          <p:cNvSpPr/>
          <p:nvPr/>
        </p:nvSpPr>
        <p:spPr>
          <a:xfrm>
            <a:off x="1589706" y="3218688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1" name="Shape 29"/>
          <p:cNvSpPr/>
          <p:nvPr/>
        </p:nvSpPr>
        <p:spPr>
          <a:xfrm>
            <a:off x="1589706" y="3511296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2" name="Shape 30"/>
          <p:cNvSpPr/>
          <p:nvPr/>
        </p:nvSpPr>
        <p:spPr>
          <a:xfrm>
            <a:off x="1589706" y="3803904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3" name="Text 31"/>
          <p:cNvSpPr/>
          <p:nvPr/>
        </p:nvSpPr>
        <p:spPr>
          <a:xfrm>
            <a:off x="1935086" y="1490472"/>
            <a:ext cx="64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A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131680" y="1755648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5" name="Shape 33"/>
          <p:cNvSpPr/>
          <p:nvPr/>
        </p:nvSpPr>
        <p:spPr>
          <a:xfrm>
            <a:off x="2131680" y="2048256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6" name="Shape 34"/>
          <p:cNvSpPr/>
          <p:nvPr/>
        </p:nvSpPr>
        <p:spPr>
          <a:xfrm>
            <a:off x="2131680" y="2340864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7" name="Shape 35"/>
          <p:cNvSpPr/>
          <p:nvPr/>
        </p:nvSpPr>
        <p:spPr>
          <a:xfrm>
            <a:off x="2131680" y="2633472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8" name="Shape 36"/>
          <p:cNvSpPr/>
          <p:nvPr/>
        </p:nvSpPr>
        <p:spPr>
          <a:xfrm>
            <a:off x="2131680" y="2926080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9" name="Shape 37"/>
          <p:cNvSpPr/>
          <p:nvPr/>
        </p:nvSpPr>
        <p:spPr>
          <a:xfrm>
            <a:off x="2131680" y="3218688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0" name="Shape 38"/>
          <p:cNvSpPr/>
          <p:nvPr/>
        </p:nvSpPr>
        <p:spPr>
          <a:xfrm>
            <a:off x="2131680" y="3511296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1" name="Shape 39"/>
          <p:cNvSpPr/>
          <p:nvPr/>
        </p:nvSpPr>
        <p:spPr>
          <a:xfrm>
            <a:off x="2131680" y="3803904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2" name="Text 40"/>
          <p:cNvSpPr/>
          <p:nvPr/>
        </p:nvSpPr>
        <p:spPr>
          <a:xfrm>
            <a:off x="2558399" y="1481328"/>
            <a:ext cx="612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A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0x7E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649839" y="1755648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4" name="Shape 42"/>
          <p:cNvSpPr/>
          <p:nvPr/>
        </p:nvSpPr>
        <p:spPr>
          <a:xfrm>
            <a:off x="2649839" y="2048256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5" name="Shape 43"/>
          <p:cNvSpPr/>
          <p:nvPr/>
        </p:nvSpPr>
        <p:spPr>
          <a:xfrm>
            <a:off x="2649839" y="2340864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6" name="Shape 44"/>
          <p:cNvSpPr/>
          <p:nvPr/>
        </p:nvSpPr>
        <p:spPr>
          <a:xfrm>
            <a:off x="2649839" y="2633472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7" name="Shape 45"/>
          <p:cNvSpPr/>
          <p:nvPr/>
        </p:nvSpPr>
        <p:spPr>
          <a:xfrm>
            <a:off x="2649839" y="2926080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8" name="Shape 46"/>
          <p:cNvSpPr/>
          <p:nvPr/>
        </p:nvSpPr>
        <p:spPr>
          <a:xfrm>
            <a:off x="2649839" y="3218688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9" name="Shape 47"/>
          <p:cNvSpPr/>
          <p:nvPr/>
        </p:nvSpPr>
        <p:spPr>
          <a:xfrm>
            <a:off x="2649839" y="3511296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0" name="Shape 48"/>
          <p:cNvSpPr/>
          <p:nvPr/>
        </p:nvSpPr>
        <p:spPr>
          <a:xfrm>
            <a:off x="2649839" y="3803904"/>
            <a:ext cx="256032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1" name="Text 49"/>
          <p:cNvSpPr/>
          <p:nvPr/>
        </p:nvSpPr>
        <p:spPr>
          <a:xfrm>
            <a:off x="3207623" y="17297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0 (top)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171142" y="3814572"/>
            <a:ext cx="7771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7 (bottom)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096512"/>
            <a:ext cx="5212080" cy="868680"/>
          </a:xfrm>
          <a:prstGeom prst="rect">
            <a:avLst/>
          </a:prstGeom>
          <a:solidFill>
            <a:srgbClr val="141E4A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4" name="Text 52"/>
          <p:cNvSpPr/>
          <p:nvPr/>
        </p:nvSpPr>
        <p:spPr>
          <a:xfrm>
            <a:off x="566928" y="4187952"/>
            <a:ext cx="4992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Font table entry for 'A'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uint8_t font5x7[][5] = {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 (index = ASCII - 0x20)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0x7E, 0x11, 0x11, 0x11, 0x7E }, // 'A'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053328" y="1537144"/>
            <a:ext cx="2231136" cy="3428048"/>
          </a:xfrm>
          <a:prstGeom prst="rect">
            <a:avLst/>
          </a:prstGeom>
          <a:solidFill>
            <a:srgbClr val="253070"/>
          </a:solidFill>
          <a:ln w="12700">
            <a:solidFill>
              <a:srgbClr val="5BA4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56" name="Text 54"/>
          <p:cNvSpPr/>
          <p:nvPr/>
        </p:nvSpPr>
        <p:spPr>
          <a:xfrm>
            <a:off x="6436614" y="1588579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print_char()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208871" y="1984248"/>
            <a:ext cx="228581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Lookup char in font[][]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Set DC = HIGH (data)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SPI-transmit 5 bytes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Send 1 spacer byte 0x00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(6 bytes per character)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print_string() loops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print_char() for each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in the string.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Counter on Nokia 5110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5BA4D4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layers: HAL SPI  -&gt;  PCD8544 driver  -&gt;  application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029200" cy="658368"/>
          </a:xfrm>
          <a:prstGeom prst="rect">
            <a:avLst/>
          </a:prstGeom>
          <a:solidFill>
            <a:srgbClr val="5BA4D4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548640" y="1216152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31720" y="121615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 — counter, sprintf, lcd_print_string()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1847088"/>
            <a:ext cx="18288" cy="91440"/>
          </a:xfrm>
          <a:prstGeom prst="rect">
            <a:avLst/>
          </a:prstGeom>
          <a:solidFill>
            <a:srgbClr val="9BB4D8"/>
          </a:solidFill>
          <a:ln w="12700">
            <a:solidFill>
              <a:srgbClr val="9BB4D8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5029200" cy="658368"/>
          </a:xfrm>
          <a:prstGeom prst="rect">
            <a:avLst/>
          </a:prstGeom>
          <a:solidFill>
            <a:srgbClr val="2E3F8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PCD8544 Driver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31720" y="196596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lcd_init / lcd_clear / lcd_goto / lcd_print_char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2596896"/>
            <a:ext cx="18288" cy="91440"/>
          </a:xfrm>
          <a:prstGeom prst="rect">
            <a:avLst/>
          </a:prstGeom>
          <a:solidFill>
            <a:srgbClr val="9BB4D8"/>
          </a:solidFill>
          <a:ln w="12700">
            <a:solidFill>
              <a:srgbClr val="9BB4D8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5029200" cy="658368"/>
          </a:xfrm>
          <a:prstGeom prst="rect">
            <a:avLst/>
          </a:prstGeom>
          <a:solidFill>
            <a:srgbClr val="2E5E8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/>
          <p:nvPr/>
        </p:nvSpPr>
        <p:spPr>
          <a:xfrm>
            <a:off x="548640" y="271576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 HAL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2715768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HAL_SPI_Transmit / HAL_GPIO_WritePin / HAL_Delay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10712"/>
            <a:ext cx="5029200" cy="1554480"/>
          </a:xfrm>
          <a:prstGeom prst="rect">
            <a:avLst/>
          </a:prstGeom>
          <a:solidFill>
            <a:srgbClr val="141E4A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/>
          <p:nvPr/>
        </p:nvSpPr>
        <p:spPr>
          <a:xfrm>
            <a:off x="566928" y="3502152"/>
            <a:ext cx="4809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 counter = 0;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    buf[16];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(1) {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sprintf(buf, "Count: %5lu", counter++);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lcd_goto(0, 2);          // col=0, bank=2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lcd_print_string(buf);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HAL_Delay(500);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0" y="11704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lcd_send_byte() helper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0" y="1508760"/>
            <a:ext cx="3063240" cy="3456432"/>
          </a:xfrm>
          <a:prstGeom prst="rect">
            <a:avLst/>
          </a:prstGeom>
          <a:solidFill>
            <a:srgbClr val="141E4A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0" name="Text 18"/>
          <p:cNvSpPr/>
          <p:nvPr/>
        </p:nvSpPr>
        <p:spPr>
          <a:xfrm>
            <a:off x="5779008" y="1600200"/>
            <a:ext cx="284378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lcd_send_byte(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data,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is_data)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Set DC pin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HAL_GPIO_WritePin(DC_PORT,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DC_PIN,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is_data ? GPIO_PIN_SET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: GPIO_PIN_RESET);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Assert CE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HAL_GPIO_WritePin(CE_PORT,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CE_PIN, GPIO_PIN_RESET);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Transmit 1 byte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HAL_SPI_Transmit(&amp;hspi1,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&amp;data, 1, HAL_MAX_DELAY);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Release CE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HAL_GPIO_WritePin(CE_PORT,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CE_PIN, GPIO_PIN_SET);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 — Simple LCD UI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5BA4D4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demo: display a multi-line dashboard that updates on a timer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749040"/>
          </a:xfrm>
          <a:prstGeom prst="rect">
            <a:avLst/>
          </a:prstGeom>
          <a:solidFill>
            <a:srgbClr val="253070"/>
          </a:solidFill>
          <a:ln w="12700">
            <a:solidFill>
              <a:srgbClr val="5BA4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591056"/>
            <a:ext cx="380390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Display exactly 3 lines: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Line 1: static label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e.g. 'STM32 F446RE'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Line 2: uptime in seconds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use HAL_GetTick()/1000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Line 3: a counter (free choice)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Update every 1 second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(compare HAL_GetTick() ticks,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do NOT use HAL_Delay in loop)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 screen flicker: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only redraw changed lines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69080" cy="3749040"/>
          </a:xfrm>
          <a:prstGeom prst="rect">
            <a:avLst/>
          </a:prstGeom>
          <a:solidFill>
            <a:srgbClr val="253070"/>
          </a:solidFill>
          <a:ln w="12700">
            <a:solidFill>
              <a:srgbClr val="5BA4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4773168" y="1280160"/>
            <a:ext cx="3849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73168" y="1591056"/>
            <a:ext cx="384962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lcd_goto(col, bank) sets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DDRAM cursor position.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 0..5, col 0..83.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Non-blocking timer pattern: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uint32_t last = 0;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(HAL_GetTick()-last&gt;=1000){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 = HAL_GetTick();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update display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sprintf(buf, ...) converts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to strings.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 with spaces to erase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leftover digits.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 PCD8544 Libraries for STM32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5BA4D4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your own driver teaches the protocol. Libraries save time in production.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3749040"/>
          </a:xfrm>
          <a:prstGeom prst="rect">
            <a:avLst/>
          </a:prstGeom>
          <a:solidFill>
            <a:srgbClr val="253070"/>
          </a:solidFill>
          <a:ln w="25400">
            <a:solidFill>
              <a:srgbClr val="4EC99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697480" cy="292608"/>
          </a:xfrm>
          <a:prstGeom prst="rect">
            <a:avLst/>
          </a:prstGeom>
          <a:solidFill>
            <a:srgbClr val="4EC994"/>
          </a:solidFill>
          <a:ln w="12700">
            <a:solidFill>
              <a:srgbClr val="4EC99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STM32-HAL-Nokia-5110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alireza-tabatabaee (port of Tilen Majerle)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922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github.com/alireza-tabatabaee/STM32-HAL-Nokia-5110-library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121408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 + CubeMX compatible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SPI (fast)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5x7 font included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3-function API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553712"/>
            <a:ext cx="2514600" cy="292608"/>
          </a:xfrm>
          <a:prstGeom prst="rect">
            <a:avLst/>
          </a:prstGeom>
          <a:solidFill>
            <a:srgbClr val="0D3D22"/>
          </a:solidFill>
          <a:ln w="12700">
            <a:solidFill>
              <a:srgbClr val="4EC99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457200" y="45628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C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match for this course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2697480" cy="3749040"/>
          </a:xfrm>
          <a:prstGeom prst="rect">
            <a:avLst/>
          </a:prstGeom>
          <a:solidFill>
            <a:srgbClr val="253070"/>
          </a:solidFill>
          <a:ln w="25400">
            <a:solidFill>
              <a:srgbClr val="5BA4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4" name="Shape 12"/>
          <p:cNvSpPr/>
          <p:nvPr/>
        </p:nvSpPr>
        <p:spPr>
          <a:xfrm>
            <a:off x="3200400" y="1188720"/>
            <a:ext cx="2697480" cy="292608"/>
          </a:xfrm>
          <a:prstGeom prst="rect">
            <a:avLst/>
          </a:prstGeom>
          <a:solidFill>
            <a:srgbClr val="5BA4D4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/>
          <p:nvPr/>
        </p:nvSpPr>
        <p:spPr>
          <a:xfrm>
            <a:off x="3291840" y="12070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stm32-hal-pcd8544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15179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henriheimann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17922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github.com/henriheimann/stm32-hal-pcd8544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91840" y="2121408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Handle-based (no globals)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504-byte back buffer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pixels / lines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 style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91840" y="4553712"/>
            <a:ext cx="2514600" cy="292608"/>
          </a:xfrm>
          <a:prstGeom prst="rect">
            <a:avLst/>
          </a:prstGeom>
          <a:solidFill>
            <a:srgbClr val="1A3055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0" name="Text 18"/>
          <p:cNvSpPr/>
          <p:nvPr/>
        </p:nvSpPr>
        <p:spPr>
          <a:xfrm>
            <a:off x="3291840" y="45628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architecture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188720"/>
            <a:ext cx="2697480" cy="3749040"/>
          </a:xfrm>
          <a:prstGeom prst="rect">
            <a:avLst/>
          </a:prstGeom>
          <a:solidFill>
            <a:srgbClr val="253070"/>
          </a:solidFill>
          <a:ln w="25400">
            <a:solidFill>
              <a:srgbClr val="9B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22" name="Shape 20"/>
          <p:cNvSpPr/>
          <p:nvPr/>
        </p:nvSpPr>
        <p:spPr>
          <a:xfrm>
            <a:off x="6035040" y="1188720"/>
            <a:ext cx="2697480" cy="292608"/>
          </a:xfrm>
          <a:prstGeom prst="rect">
            <a:avLst/>
          </a:prstGeom>
          <a:solidFill>
            <a:srgbClr val="9BB4D8"/>
          </a:solidFill>
          <a:ln w="12700">
            <a:solidFill>
              <a:srgbClr val="9BB4D8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Text 21"/>
          <p:cNvSpPr/>
          <p:nvPr/>
        </p:nvSpPr>
        <p:spPr>
          <a:xfrm>
            <a:off x="6126480" y="12070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u8g2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15179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B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olikraus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17922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github.com/olikraus/u8g2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26480" y="2121408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100+ displays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graphics API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font sizes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26480" y="4553712"/>
            <a:ext cx="2514600" cy="292608"/>
          </a:xfrm>
          <a:prstGeom prst="rect">
            <a:avLst/>
          </a:prstGeom>
          <a:solidFill>
            <a:srgbClr val="333355"/>
          </a:solidFill>
          <a:ln w="12700">
            <a:solidFill>
              <a:srgbClr val="9BB4D8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8" name="Text 26"/>
          <p:cNvSpPr/>
          <p:nvPr/>
        </p:nvSpPr>
        <p:spPr>
          <a:xfrm>
            <a:off x="6126480" y="45628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for Nokia 5110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a Ready-Made Library —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5BA4D4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alireza-tabatabaee/STM32-HAL-Nokia-5110: drop-in replacement for our driver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309938" cy="3749040"/>
          </a:xfrm>
          <a:prstGeom prst="rect">
            <a:avLst/>
          </a:prstGeom>
          <a:solidFill>
            <a:srgbClr val="253070"/>
          </a:solidFill>
          <a:ln w="12700">
            <a:solidFill>
              <a:srgbClr val="5BA4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Steps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591056"/>
            <a:ext cx="3438144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Download stm32f4_pcd8544.h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and stm32f4_pcd8544.c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from GitHub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Copy both files into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Core/Inc and Core/Src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Edit the top of .h: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set SPI handle and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GPIO port/pin defines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Replace our driver calls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with library API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(see code on the right)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Build -- no other changes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43400" y="11704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3 -- configure the header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389888"/>
            <a:ext cx="4389120" cy="1371600"/>
          </a:xfrm>
          <a:prstGeom prst="rect">
            <a:avLst/>
          </a:prstGeom>
          <a:solidFill>
            <a:srgbClr val="141E4A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Text 8"/>
          <p:cNvSpPr/>
          <p:nvPr/>
        </p:nvSpPr>
        <p:spPr>
          <a:xfrm>
            <a:off x="4453128" y="1554480"/>
            <a:ext cx="4169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 SPI_HandleTypeDef hspi1;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PCD8544_SPI  hspi1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PCD8544_RST_PORT  LCD_RST_GPIO_Port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PCD8544_RST_PIN   LCD_RST_Pin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PCD8544_CE_PORT   LCD_CE_GPIO_Port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PCD8544_CE_PIN    LCD_CE_Pin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PCD8544_DC_PORT   LCD_DC_GPIO_Port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PCD8544_DC_PIN    LCD_DC_Pin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43400" y="2788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4 -- API comparison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43400" y="30906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driver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3337560"/>
            <a:ext cx="2103120" cy="1417320"/>
          </a:xfrm>
          <a:prstGeom prst="rect">
            <a:avLst/>
          </a:prstGeom>
          <a:solidFill>
            <a:srgbClr val="141E4A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/>
          <p:nvPr/>
        </p:nvSpPr>
        <p:spPr>
          <a:xfrm>
            <a:off x="4453128" y="3429000"/>
            <a:ext cx="18836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lcd_init(&amp;hspi1,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0xB8);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lcd_goto(0, 2);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lcd_print_string(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buf);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lcd_clear();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629400" y="30906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3337560"/>
            <a:ext cx="2103120" cy="1417320"/>
          </a:xfrm>
          <a:prstGeom prst="rect">
            <a:avLst/>
          </a:prstGeom>
          <a:solidFill>
            <a:srgbClr val="141E4A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/>
          <p:nvPr/>
        </p:nvSpPr>
        <p:spPr>
          <a:xfrm>
            <a:off x="6739128" y="3429000"/>
            <a:ext cx="18836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PCD8544_Init(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0x38);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PCD8544_GotoXY(0,2);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PCD8544_Puts(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buf, ...);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PCD8544_Refresh();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PCD8544_Clear();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43400" y="4965192"/>
            <a:ext cx="4389120" cy="0"/>
          </a:xfrm>
          <a:prstGeom prst="rect">
            <a:avLst/>
          </a:prstGeom>
          <a:solidFill>
            <a:srgbClr val="253070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Text 17"/>
          <p:cNvSpPr/>
          <p:nvPr/>
        </p:nvSpPr>
        <p:spPr>
          <a:xfrm>
            <a:off x="4343400" y="48280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library uses a back buffer -- you must call Refresh() to push changes to the display.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A4D4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14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685800" cy="566928"/>
          </a:xfrm>
          <a:prstGeom prst="rect">
            <a:avLst/>
          </a:prstGeom>
          <a:solidFill>
            <a:srgbClr val="5BA4D4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261872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is a 4-wire synchronous bus. PCD8544 only needs SCK + MOSI + CE (plus DC for command/data).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685800" cy="566928"/>
          </a:xfrm>
          <a:prstGeom prst="rect">
            <a:avLst/>
          </a:prstGeom>
          <a:solidFill>
            <a:srgbClr val="5BA4D4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93392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HAL_SPI_Transmit() is blocking (polling mode) — simple, predictable, ideal for learning.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697480"/>
            <a:ext cx="685800" cy="566928"/>
          </a:xfrm>
          <a:prstGeom prst="rect">
            <a:avLst/>
          </a:prstGeom>
          <a:solidFill>
            <a:srgbClr val="5BA4D4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Text 9"/>
          <p:cNvSpPr/>
          <p:nvPr/>
        </p:nvSpPr>
        <p:spPr>
          <a:xfrm>
            <a:off x="365760" y="269748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724912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DC pin is unique to PCD8544: pull LOW before sending commands, HIGH before sending pixel data.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685800" cy="566928"/>
          </a:xfrm>
          <a:prstGeom prst="rect">
            <a:avLst/>
          </a:prstGeom>
          <a:solidFill>
            <a:srgbClr val="5BA4D4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/>
          <p:nvPr/>
        </p:nvSpPr>
        <p:spPr>
          <a:xfrm>
            <a:off x="365760" y="34290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456432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rendered via a 5x7 pixel bitmap font. Each character = 5 SPI bytes + 1 spacer.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160520"/>
            <a:ext cx="685800" cy="566928"/>
          </a:xfrm>
          <a:prstGeom prst="rect">
            <a:avLst/>
          </a:prstGeom>
          <a:solidFill>
            <a:srgbClr val="5BA4D4"/>
          </a:solidFill>
          <a:ln w="12700">
            <a:solidFill>
              <a:srgbClr val="5BA4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/>
          <p:nvPr/>
        </p:nvSpPr>
        <p:spPr>
          <a:xfrm>
            <a:off x="365760" y="41605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4187952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HAL_GetTick() returns milliseconds since reset — use it for non-blocking periodic updates.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B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4 continues — RP2040 platform overview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1870</Words>
  <Application>Microsoft Office PowerPoint</Application>
  <PresentationFormat>On-screen Show (16:9)</PresentationFormat>
  <Paragraphs>345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14 – Nokia 5110 SPI on STM32</dc:title>
  <dc:subject>PptxGenJS Presentation</dc:subject>
  <dc:creator>PptxGenJS</dc:creator>
  <cp:lastModifiedBy>Bobyrev, Aleksandr</cp:lastModifiedBy>
  <cp:revision>2</cp:revision>
  <dcterms:created xsi:type="dcterms:W3CDTF">2026-04-01T12:57:38Z</dcterms:created>
  <dcterms:modified xsi:type="dcterms:W3CDTF">2026-04-01T13:18:43Z</dcterms:modified>
</cp:coreProperties>
</file>