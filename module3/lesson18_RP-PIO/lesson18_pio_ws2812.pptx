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14800" y="64008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Lesson 17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457200" y="23317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PIO: Hardware WS2812 Driver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3200400" y="3108960"/>
            <a:ext cx="2743200" cy="27432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337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Fundamentals of C++ for Microcontrollers  |  Module 4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3794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A4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I/O  |  State Machines  |  RP2350 Exclusive Feature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Problem with Bit-Banging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840480" cy="33832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5252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Bit-Bang Limitations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60020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100% busy during transmission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Must disable interrupts (blocks Serial, USB, timers)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 depends on compiler optimization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Cannot do anything else while sending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poorly: 100+ LEDs = long CPU lockout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960120"/>
            <a:ext cx="3840480" cy="33832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846320" y="1051560"/>
            <a:ext cx="3840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4CAF5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 Solution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120640" y="1600200"/>
            <a:ext cx="329184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Dedicated hardware generates the signal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b="1" dirty="0">
                <a:solidFill>
                  <a:srgbClr val="4CAF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is free to do other work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Interrupts stay enabled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Cycle-exact timing, no jitter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Scales to hundreds of LEDs effortlessly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What Is PIO?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0972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0515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960120"/>
            <a:ext cx="7223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Programmable I/O -- tiny programmable state machines built into the RP2040/RP2350 chip. They run independently of the CPU and can implement custom I/O protocols in hardware.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457200" y="2286000"/>
            <a:ext cx="1920240" cy="182880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8720" y="242316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720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Blocks</a:t>
            </a:r>
            <a:endParaRPr lang="en-US" sz="1100" dirty="0"/>
          </a:p>
        </p:txBody>
      </p:sp>
      <p:sp>
        <p:nvSpPr>
          <p:cNvPr id="11" name="Text 7"/>
          <p:cNvSpPr/>
          <p:nvPr/>
        </p:nvSpPr>
        <p:spPr>
          <a:xfrm>
            <a:off x="45720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 (RP2350)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 (RP2040)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2560320" y="2286000"/>
            <a:ext cx="1920240" cy="182880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91840" y="2423160"/>
            <a:ext cx="411480" cy="41148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56032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Machines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256032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 per block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total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663440" y="2286000"/>
            <a:ext cx="1920240" cy="182880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94960" y="2423160"/>
            <a:ext cx="411480" cy="41148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466344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 Mem</a:t>
            </a:r>
            <a:endParaRPr lang="en-US" sz="1100" dirty="0"/>
          </a:p>
        </p:txBody>
      </p:sp>
      <p:sp>
        <p:nvSpPr>
          <p:cNvPr id="19" name="Text 13"/>
          <p:cNvSpPr/>
          <p:nvPr/>
        </p:nvSpPr>
        <p:spPr>
          <a:xfrm>
            <a:off x="466344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32 instructions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 block</a:t>
            </a:r>
            <a:endParaRPr lang="en-US" sz="1400" dirty="0"/>
          </a:p>
        </p:txBody>
      </p:sp>
      <p:sp>
        <p:nvSpPr>
          <p:cNvPr id="20" name="Shape 14"/>
          <p:cNvSpPr/>
          <p:nvPr/>
        </p:nvSpPr>
        <p:spPr>
          <a:xfrm>
            <a:off x="6766560" y="2286000"/>
            <a:ext cx="1920240" cy="182880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0" y="2423160"/>
            <a:ext cx="411480" cy="41148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766560" y="2926080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Clock Speed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6766560" y="32461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Up to system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clock (150 MHz)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 Architecture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1097280" cy="1371600"/>
          </a:xfrm>
          <a:prstGeom prst="rect">
            <a:avLst/>
          </a:prstGeom>
          <a:solidFill>
            <a:srgbClr val="3A4A8A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645920"/>
            <a:ext cx="1097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CPU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(Cortex-M33)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2057400"/>
            <a:ext cx="54864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554480" y="182880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103120" y="1463040"/>
            <a:ext cx="1280160" cy="7315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0" name="Text 8"/>
          <p:cNvSpPr/>
          <p:nvPr/>
        </p:nvSpPr>
        <p:spPr>
          <a:xfrm>
            <a:off x="2103120" y="146304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 FIFO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 x 32-bit)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554480" y="2606040"/>
            <a:ext cx="54864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554480" y="2651760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pull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2103120" y="2468880"/>
            <a:ext cx="1280160" cy="731520"/>
          </a:xfrm>
          <a:prstGeom prst="rect">
            <a:avLst/>
          </a:prstGeom>
          <a:solidFill>
            <a:srgbClr val="0D47A1"/>
          </a:solidFill>
          <a:ln/>
        </p:spPr>
      </p:sp>
      <p:sp>
        <p:nvSpPr>
          <p:cNvPr id="14" name="Text 12"/>
          <p:cNvSpPr/>
          <p:nvPr/>
        </p:nvSpPr>
        <p:spPr>
          <a:xfrm>
            <a:off x="2103120" y="2468880"/>
            <a:ext cx="12801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RX FIFO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(4 x 32-bit)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383280" y="1828800"/>
            <a:ext cx="457200" cy="0"/>
          </a:xfrm>
          <a:prstGeom prst="line">
            <a:avLst/>
          </a:prstGeom>
          <a:noFill/>
          <a:ln w="25400">
            <a:solidFill>
              <a:srgbClr val="FFB30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383280" y="2834640"/>
            <a:ext cx="457200" cy="0"/>
          </a:xfrm>
          <a:prstGeom prst="line">
            <a:avLst/>
          </a:prstGeom>
          <a:noFill/>
          <a:ln w="25400">
            <a:solidFill>
              <a:srgbClr val="CADCF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1371600"/>
            <a:ext cx="2286000" cy="1920240"/>
          </a:xfrm>
          <a:prstGeom prst="rect">
            <a:avLst/>
          </a:prstGeom>
          <a:solidFill>
            <a:srgbClr val="253270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840480" y="14173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State Machine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023360" y="1828800"/>
            <a:ext cx="19202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OSR (Output Shift Reg)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ISR (Input Shift Reg)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X, Y scratch registers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 (program counter)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Clock divider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126480" y="2331720"/>
            <a:ext cx="548640" cy="0"/>
          </a:xfrm>
          <a:prstGeom prst="line">
            <a:avLst/>
          </a:prstGeom>
          <a:noFill/>
          <a:ln w="25400">
            <a:solidFill>
              <a:srgbClr val="4CAF5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675120" y="1645920"/>
            <a:ext cx="1280160" cy="1371600"/>
          </a:xfrm>
          <a:prstGeom prst="rect">
            <a:avLst/>
          </a:prstGeom>
          <a:solidFill>
            <a:srgbClr val="2E7D32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675120" y="1645920"/>
            <a:ext cx="1280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GPIO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840480" y="3474720"/>
            <a:ext cx="2286000" cy="45720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24" name="Text 22"/>
          <p:cNvSpPr/>
          <p:nvPr/>
        </p:nvSpPr>
        <p:spPr>
          <a:xfrm>
            <a:off x="3840480" y="3474720"/>
            <a:ext cx="2286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Instruction Memory (32 words, shared by 4 SMs)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4983480" y="3291840"/>
            <a:ext cx="0" cy="182880"/>
          </a:xfrm>
          <a:prstGeom prst="line">
            <a:avLst/>
          </a:prstGeom>
          <a:noFill/>
          <a:ln w="12700">
            <a:solidFill>
              <a:srgbClr val="8892B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27" name="Text 25"/>
          <p:cNvSpPr/>
          <p:nvPr/>
        </p:nvSpPr>
        <p:spPr>
          <a:xfrm>
            <a:off x="640080" y="41605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CPU writes pixel data to TX FIFO. State machine shifts bits out to GPIO with exact timing. CPU is free.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 Instruction Set (9 Instructions)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114800"/>
                <a:gridCol w="228600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Instruction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Used for WS2812?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jmp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Jump (conditional/unconditional)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pull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Load word from TX FIFO into OSR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out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Shift bits from OSR to pins/X/Y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set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Write immediate value to pins/X/Y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Yes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nop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 operation (delay only)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Yes (via side-set)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push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Write ISR to RX FIFO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in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Shift bits into ISR from pins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mov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Copy between registers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B3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  wait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Stall until pin/IRQ condition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8892B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480560"/>
            <a:ext cx="8229600" cy="182880"/>
          </a:xfrm>
          <a:prstGeom prst="rect">
            <a:avLst/>
          </a:prstGeom>
          <a:solidFill>
            <a:srgbClr val="141B3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4251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instruction also has optional side-set (toggle pins) and delay (wait N cycles)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Concept: Side-Set &amp; Delay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3931920" cy="21031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Side-Set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731520" y="1463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GPIO pins as a side effect of any instruction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out x, 1  side 1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shift 1 bit into X AND set pin HIGH simultaneously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754880" y="960120"/>
            <a:ext cx="3931920" cy="21031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54880" y="100584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Delay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5029200" y="1463040"/>
            <a:ext cx="3383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 extra cycles after instruction executes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Example:  nop  [5]</a:t>
            </a:r>
            <a:endParaRPr lang="en-US" sz="1300" dirty="0"/>
          </a:p>
          <a:p>
            <a:pPr indent="0" marL="0">
              <a:buNone/>
            </a:pPr>
            <a:r>
              <a:rPr lang="en-US" sz="12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do nothing, then wait 5 more cycles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57200" y="3291840"/>
            <a:ext cx="8229600" cy="1188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429000"/>
            <a:ext cx="320040" cy="32004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051560" y="33832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Matters for WS2812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731520" y="379476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Side-set lets us toggle the data pin HIGH/LOW at exact cycle boundaries, while the main instruction handles data shifting. Delays fine-tune the pulse widths to match WS2812 timing specs (T0H, T1H, T0L, T1L).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WS2812 PIO Program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5029200" cy="338328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05840"/>
            <a:ext cx="44805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.program ws2812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.side_set 1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.wrap_target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bitloop: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out x, 1     side 0 [T3]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jmp !x do_zero side 1 [T1]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do_one: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jmp bitloop  side 1 [T2]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FFB3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do_zero: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nop          side 0 [T2]</a:t>
            </a:r>
            <a:endParaRPr lang="en-US" sz="12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200" dirty="0">
                <a:solidFill>
                  <a:srgbClr val="C586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.wrap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868680"/>
            <a:ext cx="2926080" cy="33832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5760720" y="9144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How It Works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5943600" y="1417320"/>
            <a:ext cx="274320" cy="2743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0" y="1417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309360" y="141732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1 bit from OSR into X, set pin LOW (start of cycle)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0" y="2057400"/>
            <a:ext cx="274320" cy="2743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3" name="Text 11"/>
          <p:cNvSpPr/>
          <p:nvPr/>
        </p:nvSpPr>
        <p:spPr>
          <a:xfrm>
            <a:off x="5943600" y="20574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309360" y="205740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bit=0, jump to do_zero; set pin HIGH (start of pulse)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2697480"/>
            <a:ext cx="274320" cy="2743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6" name="Text 14"/>
          <p:cNvSpPr/>
          <p:nvPr/>
        </p:nvSpPr>
        <p:spPr>
          <a:xfrm>
            <a:off x="5943600" y="26974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309360" y="269748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Bit=1: stay HIGH longer, then loop back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0" y="3337560"/>
            <a:ext cx="274320" cy="27432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0" y="3337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309360" y="3337560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Bit=0: go LOW early, wait, then loop back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4 instructions! The side-set and delays do all the timing work.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 Timing: How the Pulses Form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960120"/>
            <a:ext cx="8229600" cy="16459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10058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 "1"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914400" y="1554480"/>
            <a:ext cx="1097280" cy="32004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544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73152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x,1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0 [T3]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011680" y="1371600"/>
            <a:ext cx="1371600" cy="502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11" name="Text 9"/>
          <p:cNvSpPr/>
          <p:nvPr/>
        </p:nvSpPr>
        <p:spPr>
          <a:xfrm>
            <a:off x="201168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0116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jmp !x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1 [T1]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3383280" y="1371600"/>
            <a:ext cx="1371600" cy="502920"/>
          </a:xfrm>
          <a:prstGeom prst="rect">
            <a:avLst/>
          </a:prstGeom>
          <a:solidFill>
            <a:srgbClr val="1B5E20"/>
          </a:solidFill>
          <a:ln/>
        </p:spPr>
      </p:sp>
      <p:sp>
        <p:nvSpPr>
          <p:cNvPr id="14" name="Text 12"/>
          <p:cNvSpPr/>
          <p:nvPr/>
        </p:nvSpPr>
        <p:spPr>
          <a:xfrm>
            <a:off x="3383280" y="13716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3383280" y="19202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jmp bitloop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1 [T2]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5029200" y="14630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HIGH = T1 + T2 + 2 cycles (long pulse = bit 1)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88920"/>
            <a:ext cx="8229600" cy="16459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" y="283464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 "0"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914400" y="3383280"/>
            <a:ext cx="1097280" cy="32004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383280"/>
            <a:ext cx="1097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3152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 x,1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0 [T3]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2011680" y="3200400"/>
            <a:ext cx="1371600" cy="502920"/>
          </a:xfrm>
          <a:prstGeom prst="rect">
            <a:avLst/>
          </a:prstGeom>
          <a:solidFill>
            <a:srgbClr val="4CAF50"/>
          </a:solidFill>
          <a:ln/>
        </p:spPr>
      </p:sp>
      <p:sp>
        <p:nvSpPr>
          <p:cNvPr id="23" name="Text 21"/>
          <p:cNvSpPr/>
          <p:nvPr/>
        </p:nvSpPr>
        <p:spPr>
          <a:xfrm>
            <a:off x="2011680" y="320040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HIGH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201168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jmp !x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4CAF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1 [T1]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3383280" y="3383280"/>
            <a:ext cx="1371600" cy="320040"/>
          </a:xfrm>
          <a:prstGeom prst="rect">
            <a:avLst/>
          </a:prstGeom>
          <a:solidFill>
            <a:srgbClr val="3A4A8A"/>
          </a:solidFill>
          <a:ln/>
        </p:spPr>
      </p:sp>
      <p:sp>
        <p:nvSpPr>
          <p:cNvPr id="26" name="Text 24"/>
          <p:cNvSpPr/>
          <p:nvPr/>
        </p:nvSpPr>
        <p:spPr>
          <a:xfrm>
            <a:off x="3383280" y="338328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LOW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383280" y="374904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nop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8892B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side 0 [T2]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029200" y="32918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HIGH = T1 + 1 cycle only (short pulse = bit 0)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 Code: Loading &amp; Using the PIO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868680"/>
            <a:ext cx="8229600" cy="3566160"/>
          </a:xfrm>
          <a:prstGeom prst="rect">
            <a:avLst/>
          </a:prstGeom>
          <a:solidFill>
            <a:srgbClr val="0D1117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960120"/>
            <a:ext cx="768096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1. Choose PIO block and find a free SM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PIO pio = pio0;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sm = pio_claim_unused_sm(pio, true);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2. Add the compiled PIO program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uint offset = pio_add_program(pio, &amp;ws2812_program);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3. Configure the state machine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ws2812_program_init(pio, sm, offset, WS2812_PIN);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4. Send pixel data -- just write to the FIFO!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569CD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void put_pixel(uint32_t grb) {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pio_sm_put_blocking(pio, sm, grb &lt;&lt; 8);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1100" dirty="0">
                <a:solidFill>
                  <a:srgbClr val="6A99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Usage: put_pixel(0x00FF00);  // Green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Bit-Bang vs PIO: Comparison</a:t>
            </a:r>
            <a:endParaRPr lang="en-US" sz="28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2743200"/>
                <a:gridCol w="32004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Aspect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Bit-Bang (L16)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 (L17)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A4A8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CPU Usage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 during send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~0% (FIFO write only)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Interrupts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Must disable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Stay enabled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Timing Accuracy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Depends on compiler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Cycle-exact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Scalability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(&gt;100 LEDs = lag)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Excellent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Code Complexity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Simple 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FF5252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PIO assembly needed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Portability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4CAF5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MCU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RP2040/RP2350 only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 Learning 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 understanding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dirty="0">
                          <a:solidFill>
                            <a:srgbClr val="CADCF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Hardware offloading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A4A8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3270"/>
                    </a:solidFill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457200" y="4160520"/>
            <a:ext cx="8229600" cy="411480"/>
          </a:xfrm>
          <a:prstGeom prst="rect">
            <a:avLst/>
          </a:prstGeom>
          <a:solidFill>
            <a:srgbClr val="141B3D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4206240"/>
            <a:ext cx="274320" cy="27432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60120" y="4160520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are valid tools -- bit-bang for learning, PIO for production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0916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17  |  PIO: Hardware WS2812 Driver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8229600" y="470916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8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PIO Beyond WS2812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8686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can implement almost any digital I/O protocol: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1371600"/>
            <a:ext cx="2560320" cy="1188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VGA / DVI Video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a display directly from PIO pins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371600"/>
            <a:ext cx="2560320" cy="1188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29184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Extra UART / SPI / I2C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42900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more serial ports beyond hardware limits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126480" y="1371600"/>
            <a:ext cx="2560320" cy="1188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126480" y="14630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Parallel Bus (8080)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263640" y="187452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 LCDs with parallel interfaces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2560320" cy="1188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5720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Rotary Encoders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9436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Quadrature decoding without CPU polling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91840" y="2834640"/>
            <a:ext cx="2560320" cy="1188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29184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Logic Analyzer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42900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 signals at up to system clock rate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26480" y="2834640"/>
            <a:ext cx="2560320" cy="118872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6126480" y="29260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Audio I2S / PDM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263640" y="33375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audio in/out for microphones, DACs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43434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PIO is the killer feature that sets RP2040/RP2350 apart from ESP32 and STM32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CADCFC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 &amp; RP2350 Wrap-Up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457200" y="1051560"/>
            <a:ext cx="3931920" cy="29260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1887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5156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Homework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640080" y="16916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Refactor Lesson 16 ring effects to use PIO driver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Compare: measure CPU time with bit-bang vs PIO (use a GPIO toggle as probe)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drive two independent LED strips on two different PIO state machines simultaneously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Bonus: add a 4th animation effect using your creativity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051560"/>
            <a:ext cx="3931920" cy="2926080"/>
          </a:xfrm>
          <a:prstGeom prst="rect">
            <a:avLst/>
          </a:prstGeom>
          <a:solidFill>
            <a:srgbClr val="253270"/>
          </a:solidFill>
          <a:ln/>
          <a:effectLst>
            <a:outerShdw sx="100000" sy="100000" kx="0" ky="0" algn="bl" rotWithShape="0" blurRad="50800" dist="25400" dir="8100000">
              <a:srgbClr val="000000">
                <a:alpha val="25000"/>
              </a:srgbClr>
            </a:outerShdw>
          </a:effectLst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0" y="118872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349240" y="1143000"/>
            <a:ext cx="2743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Coming Up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4937760" y="1691640"/>
            <a:ext cx="34747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B30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Cross-Platform Comparison: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ESP32-C3 vs STM32 vs RP2350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GPIO, peripherals, ecosystem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to choose which platform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Trade-offs and sweet spots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B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 your project to GitHub Classroom before next session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Lesson 17 - PIO: Hardware WS2812 Driver</dc:title>
  <dc:subject>PptxGenJS Presentation</dc:subject>
  <dc:creator>Fundamentals of C++ for Microcontrollers</dc:creator>
  <cp:lastModifiedBy>Fundamentals of C++ for Microcontrollers</cp:lastModifiedBy>
  <cp:revision>1</cp:revision>
  <dcterms:created xsi:type="dcterms:W3CDTF">2026-04-08T15:02:10Z</dcterms:created>
  <dcterms:modified xsi:type="dcterms:W3CDTF">2026-04-08T15:02:10Z</dcterms:modified>
</cp:coreProperties>
</file>