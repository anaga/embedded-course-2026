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  <p:sldId id="269" r:id="rId16"/>
    <p:sldId id="270" r:id="rId17"/>
    <p:sldId id="271" r:id="rId18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1367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09433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423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54413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4723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66490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85000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74646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11160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7554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23783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001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1156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0072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13  |  MODULE 4: STM32 PLATFORM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USART3 and I2C1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NUCLEO-F334R8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CubeMX Peripheral Configuration  +  OPT4001 Light Sensor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0"/>
            <a:ext cx="8229600" cy="27432"/>
          </a:xfrm>
          <a:prstGeom prst="rect">
            <a:avLst/>
          </a:prstGeom>
          <a:solidFill>
            <a:srgbClr val="2A3580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/>
          <p:nvPr/>
        </p:nvSpPr>
        <p:spPr>
          <a:xfrm>
            <a:off x="457200" y="4544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899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 of C++ for Microcontrollers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2D5C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41832"/>
            <a:ext cx="365760" cy="365760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/>
          <p:nvPr/>
        </p:nvSpPr>
        <p:spPr>
          <a:xfrm>
            <a:off x="320040" y="941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95097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F334R8 vs F401RE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161288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differences: flash, RAM, HRTIM, DAC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17904"/>
            <a:ext cx="365760" cy="365760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/>
          <p:nvPr/>
        </p:nvSpPr>
        <p:spPr>
          <a:xfrm>
            <a:off x="320040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15270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CubeMX: Clock Setup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1737360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HSI PLL -&gt; 64 MHz SYSCLK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093976"/>
            <a:ext cx="365760" cy="365760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3" name="Text 11"/>
          <p:cNvSpPr/>
          <p:nvPr/>
        </p:nvSpPr>
        <p:spPr>
          <a:xfrm>
            <a:off x="320040" y="2093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" y="21031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Adding USART3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2313432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PC10/PC11, AF7, Morpho CN7 (flying wires)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670048"/>
            <a:ext cx="365760" cy="365760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7" name="Text 15"/>
          <p:cNvSpPr/>
          <p:nvPr/>
        </p:nvSpPr>
        <p:spPr>
          <a:xfrm>
            <a:off x="320040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26791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I2C Protocol + Pull-ups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2889504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Open-drain bus, pull-up resistor value selection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246120"/>
            <a:ext cx="365760" cy="365760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21" name="Text 19"/>
          <p:cNvSpPr/>
          <p:nvPr/>
        </p:nvSpPr>
        <p:spPr>
          <a:xfrm>
            <a:off x="32004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" y="32552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Adding I2C1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3465576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PB6 (SCL) / PB7 (SDA), AF4, Arduino D15/D14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822192"/>
            <a:ext cx="365760" cy="365760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25" name="Text 23"/>
          <p:cNvSpPr/>
          <p:nvPr/>
        </p:nvSpPr>
        <p:spPr>
          <a:xfrm>
            <a:off x="32004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" y="383133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OPT4001 Light Sensor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4672" y="4041648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SOT-5X3 variant, address selection, wiring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4398264"/>
            <a:ext cx="365760" cy="365760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29" name="Text 27"/>
          <p:cNvSpPr/>
          <p:nvPr/>
        </p:nvSpPr>
        <p:spPr>
          <a:xfrm>
            <a:off x="320040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4672" y="44074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Code + VSCode Setup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4672" y="4617720"/>
            <a:ext cx="7955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HAL_I2C_IsDeviceReady, printf over USART2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2D5C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F334R8 vs F401RE: What Changed?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37795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F401RE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F334R8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Cortex-M4 @ 84 MHz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Cortex-M4 @ 72 MHz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KB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KB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KB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KB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timer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HRTIM (1.25 ns resolution, for power electronics)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 12-bit DAC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USART/UART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USART1/2/6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USART1/2/3 + UART4/5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I2C1/2/3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I2C1/2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LD2 / B1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PA5 / PC13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PA5 / PC13  (identical)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2D5C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CubeMX: Create New Project for F334R8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65760" cy="347472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STM32CubeMX or CubeIDE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12471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&gt; New STM32 Project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737360"/>
            <a:ext cx="365760" cy="347472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7373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Board Selector tab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4767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NUCLEO-F334R8, press Enter to confirm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560320"/>
            <a:ext cx="365760" cy="347472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3" name="Text 11"/>
          <p:cNvSpPr/>
          <p:nvPr/>
        </p:nvSpPr>
        <p:spPr>
          <a:xfrm>
            <a:off x="320040" y="25603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560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Initialize all peripherals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77063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Yes -- LD2 (PA5) and B1 (PC13) assigned automatically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383280"/>
            <a:ext cx="365760" cy="347472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7" name="Text 15"/>
          <p:cNvSpPr/>
          <p:nvPr/>
        </p:nvSpPr>
        <p:spPr>
          <a:xfrm>
            <a:off x="320040" y="33832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3832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pinout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59359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pins: PA5, PC13. Same positions as F401RE.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206240"/>
            <a:ext cx="365760" cy="347472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21" name="Text 19"/>
          <p:cNvSpPr/>
          <p:nvPr/>
        </p:nvSpPr>
        <p:spPr>
          <a:xfrm>
            <a:off x="320040" y="42062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2062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toolchain (Project Manager)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41655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CubeIDE for demo; students: STM32 VS Code Extension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0640" y="914400"/>
            <a:ext cx="3657600" cy="3840480"/>
          </a:xfrm>
          <a:prstGeom prst="rect">
            <a:avLst/>
          </a:prstGeom>
          <a:solidFill>
            <a:srgbClr val="252D5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5" name="Text 23"/>
          <p:cNvSpPr/>
          <p:nvPr/>
        </p:nvSpPr>
        <p:spPr>
          <a:xfrm>
            <a:off x="5257800" y="1005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HSI vs HSE on F334R8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57800" y="1325880"/>
            <a:ext cx="33832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F334R8 has no external crystal fitted on the Nucleo board by default. The main clock source is HSI (8 MHz internal RC oscillator).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PLL is used to reach 64 MHz (the chip maximum). You will configure this in the Clock Configuration tab.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remains disabled unless you solder a crystal to X3.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2D5C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Clock Tree: 64 MHz from HSI PLL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1188720" cy="548640"/>
          </a:xfrm>
          <a:prstGeom prst="rect">
            <a:avLst/>
          </a:prstGeom>
          <a:solidFill>
            <a:srgbClr val="252D5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/>
          <p:nvPr/>
        </p:nvSpPr>
        <p:spPr>
          <a:xfrm>
            <a:off x="228600" y="1252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1490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MHz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osc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17320" y="1508760"/>
            <a:ext cx="21031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8" name="Shape 6"/>
          <p:cNvSpPr/>
          <p:nvPr/>
        </p:nvSpPr>
        <p:spPr>
          <a:xfrm>
            <a:off x="1627632" y="1234440"/>
            <a:ext cx="1188720" cy="548640"/>
          </a:xfrm>
          <a:prstGeom prst="rect">
            <a:avLst/>
          </a:prstGeom>
          <a:solidFill>
            <a:srgbClr val="252D5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/>
          <p:nvPr/>
        </p:nvSpPr>
        <p:spPr>
          <a:xfrm>
            <a:off x="1627632" y="1252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HSI/2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27632" y="1490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MHz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(fixed prediv)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16352" y="1508760"/>
            <a:ext cx="21031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Shape 10"/>
          <p:cNvSpPr/>
          <p:nvPr/>
        </p:nvSpPr>
        <p:spPr>
          <a:xfrm>
            <a:off x="3026664" y="1234440"/>
            <a:ext cx="1188720" cy="548640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3" name="Text 11"/>
          <p:cNvSpPr/>
          <p:nvPr/>
        </p:nvSpPr>
        <p:spPr>
          <a:xfrm>
            <a:off x="3026664" y="1252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26664" y="1490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MHz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15384" y="1508760"/>
            <a:ext cx="21031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6" name="Shape 14"/>
          <p:cNvSpPr/>
          <p:nvPr/>
        </p:nvSpPr>
        <p:spPr>
          <a:xfrm>
            <a:off x="4425696" y="1234440"/>
            <a:ext cx="1188720" cy="548640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7" name="Text 15"/>
          <p:cNvSpPr/>
          <p:nvPr/>
        </p:nvSpPr>
        <p:spPr>
          <a:xfrm>
            <a:off x="4425696" y="1252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SYSCLK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25696" y="1490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MHz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14416" y="1508760"/>
            <a:ext cx="21031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0" name="Shape 18"/>
          <p:cNvSpPr/>
          <p:nvPr/>
        </p:nvSpPr>
        <p:spPr>
          <a:xfrm>
            <a:off x="5824728" y="1234440"/>
            <a:ext cx="1188720" cy="548640"/>
          </a:xfrm>
          <a:prstGeom prst="rect">
            <a:avLst/>
          </a:prstGeom>
          <a:solidFill>
            <a:srgbClr val="252D5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1" name="Text 19"/>
          <p:cNvSpPr/>
          <p:nvPr/>
        </p:nvSpPr>
        <p:spPr>
          <a:xfrm>
            <a:off x="5824728" y="1252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AHB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24728" y="1490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HPRE /1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MHz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13448" y="1508760"/>
            <a:ext cx="21031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4" name="Shape 22"/>
          <p:cNvSpPr/>
          <p:nvPr/>
        </p:nvSpPr>
        <p:spPr>
          <a:xfrm>
            <a:off x="7223760" y="1234440"/>
            <a:ext cx="1188720" cy="548640"/>
          </a:xfrm>
          <a:prstGeom prst="rect">
            <a:avLst/>
          </a:prstGeom>
          <a:solidFill>
            <a:srgbClr val="252D5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5" name="Text 23"/>
          <p:cNvSpPr/>
          <p:nvPr/>
        </p:nvSpPr>
        <p:spPr>
          <a:xfrm>
            <a:off x="7223760" y="1252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APB1/2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23760" y="1490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PPRE /1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MHz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2011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CubeMX Steps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235000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Pinout &amp; Configuration &gt; System Core &gt; RCC: HSE = Disabled, HSI = Enabled (default)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29443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Clock Configuration tab. Set PLL Source = HSI/2, PLLMUL = x16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35387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SYSCLK source = PLLCLK. Result: 64 MHz. AHB and APB prescalers = 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413308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CubeMX highlights out-of-range values in red. No red cells means configuration is valid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2D5C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USART2: ST-Link VCP (Preconfigured)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VCP?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ST-Link debugger on the Nucleo board exposes a Virtual COM Port (VCP) over USB. CubeMX automatically assigns USART2 (PA2 TX / PA3 RX) to this link on F334R8, exactly as on F401RE.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redirecting printf() to USART2 lets you send debug text to a serial terminal on your PC with no extra hardware.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 Assignment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17520"/>
          <a:ext cx="4572000" cy="109728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MCU -&gt; ST-Link -&gt; PC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 -&gt; ST-Link -&gt; MCU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212080" y="914400"/>
            <a:ext cx="3611880" cy="3886200"/>
          </a:xfrm>
          <a:prstGeom prst="rect">
            <a:avLst/>
          </a:prstGeom>
          <a:solidFill>
            <a:srgbClr val="252D5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9" name="Text 6"/>
          <p:cNvSpPr/>
          <p:nvPr/>
        </p:nvSpPr>
        <p:spPr>
          <a:xfrm>
            <a:off x="5394960" y="1005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Retargeting printf()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349240" y="1307592"/>
            <a:ext cx="3337560" cy="22860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1" name="Text 8"/>
          <p:cNvSpPr/>
          <p:nvPr/>
        </p:nvSpPr>
        <p:spPr>
          <a:xfrm>
            <a:off x="5349240" y="1307592"/>
            <a:ext cx="3337560" cy="2286000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main.c  USER CODE BEGIN 0 */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__io_putchar(int ch)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HAL_UART_Transmit(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&amp;huart2,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(uint8_t *)&amp;ch,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1,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HAL_MAX_DELAY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ch;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USER CODE END 0 */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394960" y="363931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USART2 baud rate: 115200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 CubeMX &gt; Connectivity &gt; USART2 &gt; Parameter Settings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2D5C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Adding USART3: PC10 / PC11 (Morpho CN7)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CubeMX Configuration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65760" cy="347472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Connectivity &gt; USART3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44475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Mode to Asynchronous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29384"/>
            <a:ext cx="365760" cy="347472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0" name="Text 8"/>
          <p:cNvSpPr/>
          <p:nvPr/>
        </p:nvSpPr>
        <p:spPr>
          <a:xfrm>
            <a:off x="320040" y="192938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293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Parameter Settings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139696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 Rate: 115200, 8N1 (8 bits, no parity, 1 stop bit)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624328"/>
            <a:ext cx="365760" cy="347472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4" name="Text 12"/>
          <p:cNvSpPr/>
          <p:nvPr/>
        </p:nvSpPr>
        <p:spPr>
          <a:xfrm>
            <a:off x="320040" y="26243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6243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CubeMX auto-assigns pins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28346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PC10 = USART3_TX (AF7), PC11 = USART3_RX (AF7)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319272"/>
            <a:ext cx="365760" cy="347472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8" name="Text 16"/>
          <p:cNvSpPr/>
          <p:nvPr/>
        </p:nvSpPr>
        <p:spPr>
          <a:xfrm>
            <a:off x="320040" y="33192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3192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Pins turn green in pinout view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52958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 the chip diagram on the left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114800"/>
          <a:ext cx="4663440" cy="82296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Morpho CN7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Morpho CN7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212080" y="914400"/>
            <a:ext cx="3611880" cy="3886200"/>
          </a:xfrm>
          <a:prstGeom prst="rect">
            <a:avLst/>
          </a:prstGeom>
          <a:solidFill>
            <a:srgbClr val="252D5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3" name="Text 20"/>
          <p:cNvSpPr/>
          <p:nvPr/>
        </p:nvSpPr>
        <p:spPr>
          <a:xfrm>
            <a:off x="5394960" y="1005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Morpho CN7 (left header)</a:t>
            </a:r>
            <a:endParaRPr lang="en-US" sz="1300" dirty="0"/>
          </a:p>
        </p:txBody>
      </p:sp>
      <p:graphicFrame>
        <p:nvGraphicFramePr>
          <p:cNvPr id="2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1325880"/>
          <a:ext cx="3337560" cy="153619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CN7 Pin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7EC8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PC10 / USART3_TX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7EC8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PC11 / USART3_RX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 pin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 -- also connect this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5394960" y="2971800"/>
            <a:ext cx="32918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Flying wires to a USB-UART adapter: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TX (PC10) -&gt; RX on adapter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RX (PC11) -&gt; TX on adapter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GND       -&gt; GND on adapter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F334R8 I/O is 3.3 V. Do NOT connect to a 5 V UART adapter without a level shifter.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exact CN7 row in the board silkscreen -- pin 1 is marked with an arrow.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2D5C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I2C Protocol Basics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754880" cy="640080"/>
          </a:xfrm>
          <a:prstGeom prst="rect">
            <a:avLst/>
          </a:prstGeom>
          <a:solidFill>
            <a:srgbClr val="252D5C"/>
          </a:solidFill>
          <a:ln w="12700">
            <a:solidFill>
              <a:srgbClr val="2A358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475488" y="12710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Two-wire bus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 carries the clock; SDA carries data. Both lines are pulled high by external resistors.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4754880" cy="640080"/>
          </a:xfrm>
          <a:prstGeom prst="rect">
            <a:avLst/>
          </a:prstGeom>
          <a:solidFill>
            <a:srgbClr val="252D5C"/>
          </a:solidFill>
          <a:ln w="12700">
            <a:solidFill>
              <a:srgbClr val="2A358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/>
          <p:nvPr/>
        </p:nvSpPr>
        <p:spPr>
          <a:xfrm>
            <a:off x="475488" y="20025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Open-drain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2128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can only pull a line LOW by activating an N-channel FET. They release the line to let the pull-up restore it HIGH. No device ever drives HIGH actively.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697480"/>
            <a:ext cx="4754880" cy="640080"/>
          </a:xfrm>
          <a:prstGeom prst="rect">
            <a:avLst/>
          </a:prstGeom>
          <a:solidFill>
            <a:srgbClr val="252D5C"/>
          </a:solidFill>
          <a:ln w="12700">
            <a:solidFill>
              <a:srgbClr val="2A358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/>
          <p:nvPr/>
        </p:nvSpPr>
        <p:spPr>
          <a:xfrm>
            <a:off x="475488" y="27340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7-bit address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2944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target device has a unique 7-bit address. The master sends ADDR[6:0] followed by a direction bit: 0 = write, 1 = read.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4754880" cy="640080"/>
          </a:xfrm>
          <a:prstGeom prst="rect">
            <a:avLst/>
          </a:prstGeom>
          <a:solidFill>
            <a:srgbClr val="252D5C"/>
          </a:solidFill>
          <a:ln w="12700">
            <a:solidFill>
              <a:srgbClr val="2A358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Text 13"/>
          <p:cNvSpPr/>
          <p:nvPr/>
        </p:nvSpPr>
        <p:spPr>
          <a:xfrm>
            <a:off x="475488" y="34655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ACK / NACK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" y="3675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byte the receiver pulls SDA low for one clock (ACK). If SDA stays high it is a NACK. A missing ACK means the address was not recognized.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160520"/>
            <a:ext cx="4754880" cy="640080"/>
          </a:xfrm>
          <a:prstGeom prst="rect">
            <a:avLst/>
          </a:prstGeom>
          <a:solidFill>
            <a:srgbClr val="252D5C"/>
          </a:solidFill>
          <a:ln w="12700">
            <a:solidFill>
              <a:srgbClr val="2A358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8" name="Text 16"/>
          <p:cNvSpPr/>
          <p:nvPr/>
        </p:nvSpPr>
        <p:spPr>
          <a:xfrm>
            <a:off x="475488" y="41970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4407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read: START, ADDR+W, REG, STOP/RESTART, ADDR+R, DATA bytes, NACK, STOP.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0" y="914400"/>
            <a:ext cx="3520440" cy="3886200"/>
          </a:xfrm>
          <a:prstGeom prst="rect">
            <a:avLst/>
          </a:prstGeom>
          <a:solidFill>
            <a:srgbClr val="252D5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1" name="Text 19"/>
          <p:cNvSpPr/>
          <p:nvPr/>
        </p:nvSpPr>
        <p:spPr>
          <a:xfrm>
            <a:off x="5486400" y="10058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I2C Write Transaction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40680" y="1307592"/>
            <a:ext cx="3246120" cy="338328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23" name="Text 21"/>
          <p:cNvSpPr/>
          <p:nvPr/>
        </p:nvSpPr>
        <p:spPr>
          <a:xfrm>
            <a:off x="5440680" y="1307592"/>
            <a:ext cx="3246120" cy="3383280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 [ADDR 0x44] [W=0]   &lt;- master sends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[ACK]                &lt;- sensor pulls SDA low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 [REG ADDR 0x0A]      &lt;- register pointer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[ACK]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RESTART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 [ADDR 0x44] [R=1]    &lt;- master sends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[ACK]                &lt;- sensor ACKs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 [DATA byte 0]        &lt;- sensor sends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[ACK by master]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 [DATA byte 1]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[NACK by master]     &lt;- signals last byte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2D5C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I2C Pull-up Resistors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are pull-ups required?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lines are open-drain. No device drives them HIGH. The pull-up resistor (Rp) connected between the line and VDD is the only source that restores a line to logic HIGH when the bus is idle or released.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pull-ups both SCL and SDA float. The I2C peripheral will never see valid logic levels and the bus will not function.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606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Selection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4754880" cy="1645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Rp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 100 kHz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kOhm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wires, many devices on bus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      400 kHz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 kOhm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sensor applications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Fast-plus    1 MHz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 kOhm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PCB traces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212080" y="914400"/>
            <a:ext cx="3611880" cy="3886200"/>
          </a:xfrm>
          <a:prstGeom prst="rect">
            <a:avLst/>
          </a:prstGeom>
          <a:solidFill>
            <a:srgbClr val="252D5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9" name="Text 6"/>
          <p:cNvSpPr/>
          <p:nvPr/>
        </p:nvSpPr>
        <p:spPr>
          <a:xfrm>
            <a:off x="5394960" y="1005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Circuit</a:t>
            </a:r>
            <a:endParaRPr lang="en-US" sz="1300" dirty="0"/>
          </a:p>
        </p:txBody>
      </p:sp>
      <p:sp>
        <p:nvSpPr>
          <p:cNvPr id="7" name="Shape 7"/>
          <p:cNvSpPr/>
          <p:nvPr/>
        </p:nvSpPr>
        <p:spPr>
          <a:xfrm>
            <a:off x="5349240" y="1307592"/>
            <a:ext cx="3337560" cy="22860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1" name="Text 8"/>
          <p:cNvSpPr/>
          <p:nvPr/>
        </p:nvSpPr>
        <p:spPr>
          <a:xfrm>
            <a:off x="5349240" y="1307592"/>
            <a:ext cx="3337560" cy="2286000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VDD (3.3 V)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|         |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Rp        Rp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4.7k      4.7k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|         |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---+-- SCL   +-- SDA ---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                    |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[F334R8 I2C1]         [OPT4001]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                    |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GND                     GND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394960" y="363931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OPT4001 eval board already has 10 kOhm pull-ups installed. For 400 kHz you can add 4.7 kOhm resistors in parallel (result: ~3.2 kOhm). No extra resistors needed for 100 kHz (standard mode).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2D5C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Adding I2C1: PB6 (SCL) / PB7 (SDA)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CubeMX Configuration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65760" cy="347472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Connectivity &gt; I2C1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444752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I2C mode to I2C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84248"/>
            <a:ext cx="365760" cy="347472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0" name="Text 8"/>
          <p:cNvSpPr/>
          <p:nvPr/>
        </p:nvSpPr>
        <p:spPr>
          <a:xfrm>
            <a:off x="320040" y="198424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842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Parameter Settings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194560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Mode: Fast Mode, Speed Frequency: 400000 Hz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734056"/>
            <a:ext cx="365760" cy="347472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4" name="Text 12"/>
          <p:cNvSpPr/>
          <p:nvPr/>
        </p:nvSpPr>
        <p:spPr>
          <a:xfrm>
            <a:off x="320040" y="273405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7340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 assignment (automatic)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2944368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PB6 = I2C1_SCL (AF4), PB7 = I2C1_SDA (AF4)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483864"/>
            <a:ext cx="365760" cy="347472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8" name="Text 16"/>
          <p:cNvSpPr/>
          <p:nvPr/>
        </p:nvSpPr>
        <p:spPr>
          <a:xfrm>
            <a:off x="320040" y="348386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4838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Arduino connector location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694176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PB6 = D15 (top of CN5), PB7 = D14 (second from top)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233672"/>
            <a:ext cx="365760" cy="347472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22" name="Text 20"/>
          <p:cNvSpPr/>
          <p:nvPr/>
        </p:nvSpPr>
        <p:spPr>
          <a:xfrm>
            <a:off x="320040" y="42336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2336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GPIO mode (set by CubeMX)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443984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Function Open Drain, Pull-up, Very High Speed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12080" y="914400"/>
            <a:ext cx="3611880" cy="3886200"/>
          </a:xfrm>
          <a:prstGeom prst="rect">
            <a:avLst/>
          </a:prstGeom>
          <a:solidFill>
            <a:srgbClr val="252D5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6" name="Text 24"/>
          <p:cNvSpPr/>
          <p:nvPr/>
        </p:nvSpPr>
        <p:spPr>
          <a:xfrm>
            <a:off x="5394960" y="1005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I2C1 Pin Summary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1325880"/>
          <a:ext cx="3337560" cy="10972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D15 (CN5)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 (CN5)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5394960" y="2514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GPIO Configuration Detail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349240" y="2816352"/>
            <a:ext cx="3337560" cy="187452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30" name="Text 27"/>
          <p:cNvSpPr/>
          <p:nvPr/>
        </p:nvSpPr>
        <p:spPr>
          <a:xfrm>
            <a:off x="5349240" y="2816352"/>
            <a:ext cx="3337560" cy="1874520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Mode:                Alternate Function Open Drain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Pull-up/Pull-down:   Pull-up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Maximum speed:       Very High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Alternate Function:  AF4 (I2C1_SCL / I2C1_SDA)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Drain is required by the I2C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specification. Never change it to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Push-Pull -- this will fight the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pull-up resistors on the bus.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2D5C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CubeMX: Generate the Project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Manager Tab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65760" cy="347472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Name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444752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lesson13_i2c_uart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84248"/>
            <a:ext cx="365760" cy="347472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0" name="Text 8"/>
          <p:cNvSpPr/>
          <p:nvPr/>
        </p:nvSpPr>
        <p:spPr>
          <a:xfrm>
            <a:off x="320040" y="198424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842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Toolchain / IDE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194560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CubeIDE (demo) or STM32 VS Code Extension (students)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734056"/>
            <a:ext cx="365760" cy="347472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4" name="Text 12"/>
          <p:cNvSpPr/>
          <p:nvPr/>
        </p:nvSpPr>
        <p:spPr>
          <a:xfrm>
            <a:off x="320040" y="273405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7340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Generator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2944368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Select: Copy only the necessary library files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483864"/>
            <a:ext cx="365760" cy="347472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8" name="Text 16"/>
          <p:cNvSpPr/>
          <p:nvPr/>
        </p:nvSpPr>
        <p:spPr>
          <a:xfrm>
            <a:off x="320040" y="348386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4838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 Code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694176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Alt+K or button. CubeMX opens the project folder.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251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Generated Project Structure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212080" y="914400"/>
            <a:ext cx="3611880" cy="3886200"/>
          </a:xfrm>
          <a:prstGeom prst="rect">
            <a:avLst/>
          </a:prstGeom>
          <a:solidFill>
            <a:srgbClr val="252D5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3" name="Text 21"/>
          <p:cNvSpPr/>
          <p:nvPr/>
        </p:nvSpPr>
        <p:spPr>
          <a:xfrm>
            <a:off x="5394960" y="1005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Generated File Structure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49240" y="1307592"/>
            <a:ext cx="3337560" cy="18288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25" name="Text 23"/>
          <p:cNvSpPr/>
          <p:nvPr/>
        </p:nvSpPr>
        <p:spPr>
          <a:xfrm>
            <a:off x="5349240" y="1307592"/>
            <a:ext cx="3337560" cy="1828800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lesson13_i2c_uart/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Core/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Inc/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main.h        &lt;- peripheral handles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Src/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main.c        &lt;- your code lives here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stm32f3xx_it.c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Drivers/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STM32F3xx_HAL_Driver/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CMSIS/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lesson13.ioc      &lt;- CubeMX project file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94960" y="32004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Generated handles (main.c)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49240" y="3474720"/>
            <a:ext cx="3337560" cy="118872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28" name="Text 26"/>
          <p:cNvSpPr/>
          <p:nvPr/>
        </p:nvSpPr>
        <p:spPr>
          <a:xfrm>
            <a:off x="5349240" y="3474720"/>
            <a:ext cx="3337560" cy="1188720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UART_HandleTypeDef huart2; /* VCP   */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UART_HandleTypeDef huart3; /* ext   */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I2C_HandleTypeDef  hi2c1;  /* sensor*/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USER CODE BEGIN 0 */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USER CODE END 0 */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4389120"/>
            <a:ext cx="4617720" cy="475488"/>
          </a:xfrm>
          <a:prstGeom prst="rect">
            <a:avLst/>
          </a:prstGeom>
          <a:solidFill>
            <a:srgbClr val="1A1A0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0" name="Text 28"/>
          <p:cNvSpPr/>
          <p:nvPr/>
        </p:nvSpPr>
        <p:spPr>
          <a:xfrm>
            <a:off x="411480" y="443484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write your code between USER CODE BEGIN and END comments. CubeMX preserves these blocks when you regenerate.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2D5C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OPT4001: High-Precision Ambient Light Sensor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Specifications (SOT-5X3 Package)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846320" cy="530352"/>
          </a:xfrm>
          <a:prstGeom prst="rect">
            <a:avLst/>
          </a:prstGeom>
          <a:solidFill>
            <a:srgbClr val="252D5C"/>
          </a:solidFill>
          <a:ln w="12700">
            <a:solidFill>
              <a:srgbClr val="2A358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475488" y="127101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4813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Single-chip lux meter. Spectral response matches the human eye.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4846320" cy="530352"/>
          </a:xfrm>
          <a:prstGeom prst="rect">
            <a:avLst/>
          </a:prstGeom>
          <a:solidFill>
            <a:srgbClr val="252D5C"/>
          </a:solidFill>
          <a:ln w="12700">
            <a:solidFill>
              <a:srgbClr val="2A358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/>
          <p:nvPr/>
        </p:nvSpPr>
        <p:spPr>
          <a:xfrm>
            <a:off x="475488" y="188366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range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0939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437.5 uLux to 117 kLux  (28-bit effective, SOT-5X3 variant)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59736"/>
            <a:ext cx="4846320" cy="530352"/>
          </a:xfrm>
          <a:prstGeom prst="rect">
            <a:avLst/>
          </a:prstGeom>
          <a:solidFill>
            <a:srgbClr val="252D5C"/>
          </a:solidFill>
          <a:ln w="12700">
            <a:solidFill>
              <a:srgbClr val="2A358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/>
          <p:nvPr/>
        </p:nvSpPr>
        <p:spPr>
          <a:xfrm>
            <a:off x="475488" y="249631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Gain ranges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270662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logarithmic ranges with automatic selection. No manual gain programming needed.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72384"/>
            <a:ext cx="4846320" cy="530352"/>
          </a:xfrm>
          <a:prstGeom prst="rect">
            <a:avLst/>
          </a:prstGeom>
          <a:solidFill>
            <a:srgbClr val="252D5C"/>
          </a:solidFill>
          <a:ln w="12700">
            <a:solidFill>
              <a:srgbClr val="2A358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Text 13"/>
          <p:cNvSpPr/>
          <p:nvPr/>
        </p:nvSpPr>
        <p:spPr>
          <a:xfrm>
            <a:off x="475488" y="31089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I2C speed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33192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100 kHz, Fast 400 kHz, High-Speed 2.6 MHz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85032"/>
            <a:ext cx="4846320" cy="530352"/>
          </a:xfrm>
          <a:prstGeom prst="rect">
            <a:avLst/>
          </a:prstGeom>
          <a:solidFill>
            <a:srgbClr val="252D5C"/>
          </a:solidFill>
          <a:ln w="12700">
            <a:solidFill>
              <a:srgbClr val="2A358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8" name="Text 16"/>
          <p:cNvSpPr/>
          <p:nvPr/>
        </p:nvSpPr>
        <p:spPr>
          <a:xfrm>
            <a:off x="475488" y="372160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9319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V to 3.6 V.  I/O tolerant up to 5.5 V.  Safe with 3.3 V Nucleo.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297680"/>
            <a:ext cx="4846320" cy="530352"/>
          </a:xfrm>
          <a:prstGeom prst="rect">
            <a:avLst/>
          </a:prstGeom>
          <a:solidFill>
            <a:srgbClr val="252D5C"/>
          </a:solidFill>
          <a:ln w="12700">
            <a:solidFill>
              <a:srgbClr val="2A358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1" name="Text 19"/>
          <p:cNvSpPr/>
          <p:nvPr/>
        </p:nvSpPr>
        <p:spPr>
          <a:xfrm>
            <a:off x="475488" y="433425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" y="45445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uA active,  2 uA standby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94960" y="914400"/>
            <a:ext cx="3429000" cy="3886200"/>
          </a:xfrm>
          <a:prstGeom prst="rect">
            <a:avLst/>
          </a:prstGeom>
          <a:solidFill>
            <a:srgbClr val="252D5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4" name="Text 22"/>
          <p:cNvSpPr/>
          <p:nvPr/>
        </p:nvSpPr>
        <p:spPr>
          <a:xfrm>
            <a:off x="5559552" y="10058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I2C Address (SOT-5X3 ADDR Pin)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59552" y="1371600"/>
          <a:ext cx="3063240" cy="1828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 pin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7-bit address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VDD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5559552" y="329184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board default:</a:t>
            </a:r>
            <a:endParaRPr lang="en-US" sz="11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 pin tied to GND --&gt; address 0x44.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on your board: check the silkscreen or schematic for the ADDR solder bridge / jumper position.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2D5C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Wiring the OPT4001 Eval Board to Nucleo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281635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OPT4001 Pin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Nucleo Pin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VDD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3V3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CN6 pin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 V supply to sensor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CN6 pin 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ground -- required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D15 (CN5)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I2C1 clock, AF4, open-drain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 (CN5)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I2C1 data,  AF4, open-drain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CN6 pin 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 I2C address 0x44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 -- not used in this lesson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840480"/>
            <a:ext cx="8412480" cy="640080"/>
          </a:xfrm>
          <a:prstGeom prst="rect">
            <a:avLst/>
          </a:prstGeom>
          <a:solidFill>
            <a:srgbClr val="1A0A00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3"/>
          <p:cNvSpPr/>
          <p:nvPr/>
        </p:nvSpPr>
        <p:spPr>
          <a:xfrm>
            <a:off x="502920" y="389534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IMPORTANT: The eval board has 10 kOhm pull-ups on SCL and SDA already. No extra resistors are needed for 100 kHz operation. For 400 kHz add 4.7 kOhm in parallel. The sensor I/O is 5.5 V tolerant but power it from 3.3 V only.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solidFill>
            <a:srgbClr val="252D5C"/>
          </a:solidFill>
          <a:ln w="12700">
            <a:solidFill>
              <a:srgbClr val="2A358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8" name="Text 5"/>
          <p:cNvSpPr/>
          <p:nvPr/>
        </p:nvSpPr>
        <p:spPr>
          <a:xfrm>
            <a:off x="502920" y="4617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GND between Nucleo and eval board. Floating ground = no communication. Check with a multimeter before powering on.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2D5C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the ST-Link Debugger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50392"/>
            <a:ext cx="4069080" cy="292608"/>
          </a:xfrm>
          <a:prstGeom prst="rect">
            <a:avLst/>
          </a:prstGeom>
          <a:solidFill>
            <a:srgbClr val="2A3580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/>
          <p:nvPr/>
        </p:nvSpPr>
        <p:spPr>
          <a:xfrm>
            <a:off x="411480" y="88696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CubeIDE  (demo)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 button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20700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bug icon (not the arrow). CubeIDE flashes and halts at main().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6878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66878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-- run until next breakpoint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13055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213055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over -- execute current line, stay in function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59232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91640" y="259232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into -- follow a function call inside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5409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Breakpoint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305409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line number margin. Red dot appears. Execution stops there.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51586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 view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351586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panel -- shows all local and global variables live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97764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91640" y="397764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&gt; Show View &gt; Expressions. Type any variable or address to watch it.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443941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91640" y="443941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&gt; Show View &gt; Registers. Shows raw CPU and peripheral registers.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26280" y="850392"/>
            <a:ext cx="2331720" cy="292608"/>
          </a:xfrm>
          <a:prstGeom prst="rect">
            <a:avLst/>
          </a:prstGeom>
          <a:solidFill>
            <a:srgbClr val="2A3580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23" name="Text 21"/>
          <p:cNvSpPr/>
          <p:nvPr/>
        </p:nvSpPr>
        <p:spPr>
          <a:xfrm>
            <a:off x="4617720" y="88696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 Extension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17720" y="1207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12070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debugging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17720" y="17556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17556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over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17720" y="23042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23042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into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17720" y="28529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Shift+F5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0" y="28529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session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17720" y="34015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Breakpoint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0" y="3401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line number margin -- same as CubeIDE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17720" y="39502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0" y="39502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&gt; Add Watch -- type variable name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95160" y="850392"/>
            <a:ext cx="1828800" cy="292608"/>
          </a:xfrm>
          <a:prstGeom prst="rect">
            <a:avLst/>
          </a:prstGeom>
          <a:solidFill>
            <a:srgbClr val="1A3A00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37" name="Text 35"/>
          <p:cNvSpPr/>
          <p:nvPr/>
        </p:nvSpPr>
        <p:spPr>
          <a:xfrm>
            <a:off x="7086600" y="8869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13 tip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995160" y="1170432"/>
            <a:ext cx="1828800" cy="2880360"/>
          </a:xfrm>
          <a:prstGeom prst="rect">
            <a:avLst/>
          </a:prstGeom>
          <a:solidFill>
            <a:srgbClr val="252D5C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9" name="Text 37"/>
          <p:cNvSpPr/>
          <p:nvPr/>
        </p:nvSpPr>
        <p:spPr>
          <a:xfrm>
            <a:off x="7086600" y="12344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breakpoint after HAL_I2C_IsDeviceReady() and hover over result: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40880" y="1874520"/>
            <a:ext cx="1737360" cy="64008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41" name="Text 39"/>
          <p:cNvSpPr/>
          <p:nvPr/>
        </p:nvSpPr>
        <p:spPr>
          <a:xfrm>
            <a:off x="7040880" y="1874520"/>
            <a:ext cx="1737360" cy="640080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== 0  -&gt; HAL_OK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== 1  -&gt; HAL_ERROR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086600" y="2578608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printf needed. The debugger shows the value live -- this is the point of a hardware debugger.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0040" y="4297680"/>
            <a:ext cx="8503920" cy="658368"/>
          </a:xfrm>
          <a:prstGeom prst="rect">
            <a:avLst/>
          </a:prstGeom>
          <a:solidFill>
            <a:srgbClr val="252D5C"/>
          </a:solidFill>
          <a:ln w="12700">
            <a:solidFill>
              <a:srgbClr val="2A358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4" name="Text 42"/>
          <p:cNvSpPr/>
          <p:nvPr/>
        </p:nvSpPr>
        <p:spPr>
          <a:xfrm>
            <a:off x="457200" y="43708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works: 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691640" y="4361688"/>
            <a:ext cx="6995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ST-Link chip on the Nucleo board connects to the STM32 over SWD (SWDCLK + SWDIO, 2 wires). One USB cable does everything: power, flash, and full hardware debug. Breakpoints, single-stepping, variable inspection, and register reads all work without any printf or logic analyzer.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2D5C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 I2C API Essentials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HAL_I2C_IsDeviceReady()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the bus. Sends address, checks for ACK. Returns HAL_OK if the device responded.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43400" y="914400"/>
            <a:ext cx="4480560" cy="1261872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/>
          <p:nvPr/>
        </p:nvSpPr>
        <p:spPr>
          <a:xfrm>
            <a:off x="4343400" y="914400"/>
            <a:ext cx="4480560" cy="1261872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HAL_StatusTypeDef ret =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HAL_I2C_IsDeviceReady(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&amp;hi2c1,    /* handle        */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0x44 &lt;&lt; 1, /* 8-bit address */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3,         /* retries       */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100        /* timeout ms    */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3042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HAL_I2C_Master_Transmit()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59689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bytes to the target (e.g. set a register pointer or write config).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304288"/>
            <a:ext cx="4480560" cy="1261872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1" name="Text 9"/>
          <p:cNvSpPr/>
          <p:nvPr/>
        </p:nvSpPr>
        <p:spPr>
          <a:xfrm>
            <a:off x="4343400" y="2304288"/>
            <a:ext cx="4480560" cy="1261872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reg = 0x0A;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HAL_I2C_Master_Transmit(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&amp;hi2c1, 0x44 &lt;&lt; 1,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&amp;reg, 1, HAL_MAX_DELAY);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6941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HAL_I2C_Master_Receive()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98678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bytes from the target after pointing to a register.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3694176"/>
            <a:ext cx="4480560" cy="1261872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5" name="Text 13"/>
          <p:cNvSpPr/>
          <p:nvPr/>
        </p:nvSpPr>
        <p:spPr>
          <a:xfrm>
            <a:off x="4343400" y="3694176"/>
            <a:ext cx="4480560" cy="1261872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buf[2];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HAL_I2C_Master_Receive(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&amp;hi2c1, (0x44 &lt;&lt; 1) | 0x01,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buf, 2, HAL_MAX_DELAY);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5102352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note: HAL_I2C_IsDeviceReady handles the shift internally. For Transmit/Receive you must pass the 8-bit address: write = addr &lt;&lt; 1, read = (addr &lt;&lt; 1) | 0x01.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2D5C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Demo: Ping OPT4001, Report over USART2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50392"/>
            <a:ext cx="5394960" cy="397764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/>
          <p:nvPr/>
        </p:nvSpPr>
        <p:spPr>
          <a:xfrm>
            <a:off x="320040" y="850392"/>
            <a:ext cx="5394960" cy="3977640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USER CODE BEGIN 0 */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OPT4001_ADDR  (0x44 &lt;&lt; 1)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__io_putchar(int ch)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HAL_UART_Transmit(&amp;huart2,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(uint8_t *)&amp;ch, 1, HAL_MAX_DELAY);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ch;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USER CODE END 0 */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USER CODE BEGIN WHILE */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(1)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HAL_StatusTypeDef ret;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 = HAL_I2C_IsDeviceReady(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&amp;hi2c1, OPT4001_ADDR, 3, 100);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(ret == HAL_OK)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printf("OPT4001 found at 0x44\r\n");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HAL_GPIO_TogglePin(LD2_GPIO_Port,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LD2_Pin);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printf("No ACK -- check wiring\r\n");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HAL_Delay(1000);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USER CODE END WHILE */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897880" y="850392"/>
            <a:ext cx="2926080" cy="3977640"/>
          </a:xfrm>
          <a:prstGeom prst="rect">
            <a:avLst/>
          </a:prstGeom>
          <a:solidFill>
            <a:srgbClr val="252D5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/>
          <p:nvPr/>
        </p:nvSpPr>
        <p:spPr>
          <a:xfrm>
            <a:off x="6053328" y="941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Observe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53328" y="126187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Serial terminal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53328" y="147218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at 115200 on ST-Link VCP. Should print 'OPT4001 found at 0x44' once per second.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53328" y="209397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 analyzer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53328" y="230428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PB6 (SCL) and PB7 (SDA). Observe START, address byte 0x88, ACK pulled low by sensor.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53328" y="29260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LD2 heartbeat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53328" y="313639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LED toggles on each successful ACK -- a quick visual sanity check.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53328" y="375818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NACK scenario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53328" y="396849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SDA. Terminal shows 'No ACK'. IsDeviceReady retries 3 times, then returns HAL_ERROR.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2D5C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STM32 VS Code Extension: Open the Project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41832"/>
            <a:ext cx="347472" cy="329184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/>
          <p:nvPr/>
        </p:nvSpPr>
        <p:spPr>
          <a:xfrm>
            <a:off x="274320" y="94183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9509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the extension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1704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'STM32 VS Code Extension' in the Marketplace. Publisher: ST Microelectronics.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9384"/>
            <a:ext cx="347472" cy="329184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/>
          <p:nvPr/>
        </p:nvSpPr>
        <p:spPr>
          <a:xfrm>
            <a:off x="274320" y="192938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9385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project folder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15798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&gt; Open Folder &gt; select the CubeMX-generated project root (contains .ioc file)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16936"/>
            <a:ext cx="347472" cy="329184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3" name="Text 11"/>
          <p:cNvSpPr/>
          <p:nvPr/>
        </p:nvSpPr>
        <p:spPr>
          <a:xfrm>
            <a:off x="274320" y="291693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9260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14553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Build in the STM32 sidebar, or Ctrl+Shift+B. Output goes to the build/ folder.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904488"/>
            <a:ext cx="347472" cy="329184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7" name="Text 15"/>
          <p:cNvSpPr/>
          <p:nvPr/>
        </p:nvSpPr>
        <p:spPr>
          <a:xfrm>
            <a:off x="274320" y="390448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9136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Flash and debug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1330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Nucleo via USB. Press F5 or Run &gt; Start Debugging. ST-Link is used automatically.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941832"/>
            <a:ext cx="347472" cy="329184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21" name="Text 19"/>
          <p:cNvSpPr/>
          <p:nvPr/>
        </p:nvSpPr>
        <p:spPr>
          <a:xfrm>
            <a:off x="4754880" y="94183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9509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Serial monitor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11704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terminal at 115200 on the ST-Link VCP COM port (Windows: COMx, Linux: /dev/ttyACMx).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929384"/>
            <a:ext cx="347472" cy="329184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25" name="Text 23"/>
          <p:cNvSpPr/>
          <p:nvPr/>
        </p:nvSpPr>
        <p:spPr>
          <a:xfrm>
            <a:off x="4754880" y="192938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12080" y="19385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Reconfigure peripherals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215798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.ioc file in CubeMX, click Generate Code. The VS Code project updates in place.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916936"/>
            <a:ext cx="347472" cy="329184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29" name="Text 27"/>
          <p:cNvSpPr/>
          <p:nvPr/>
        </p:nvSpPr>
        <p:spPr>
          <a:xfrm>
            <a:off x="4754880" y="291693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12080" y="29260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 user code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12080" y="314553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write code between USER CODE BEGIN / END blocks. CubeMX never touches those sections.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904488"/>
            <a:ext cx="347472" cy="329184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33" name="Text 31"/>
          <p:cNvSpPr/>
          <p:nvPr/>
        </p:nvSpPr>
        <p:spPr>
          <a:xfrm>
            <a:off x="4754880" y="390448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12080" y="39136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Workspace tip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12080" y="41330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.ioc file in version control. It is the source of truth for peripheral configuration.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</TotalTime>
  <Words>2912</Words>
  <Application>Microsoft Office PowerPoint</Application>
  <PresentationFormat>On-screen Show (16:9)</PresentationFormat>
  <Paragraphs>515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Trebuchet MS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13 - USART3 and I2C1 on NUCLEO-F334R8</dc:title>
  <dc:subject>PptxGenJS Presentation</dc:subject>
  <dc:creator>PptxGenJS</dc:creator>
  <cp:lastModifiedBy>Bobyrev, Aleksandr</cp:lastModifiedBy>
  <cp:revision>2</cp:revision>
  <dcterms:created xsi:type="dcterms:W3CDTF">2026-03-27T09:35:45Z</dcterms:created>
  <dcterms:modified xsi:type="dcterms:W3CDTF">2026-03-27T12:57:59Z</dcterms:modified>
</cp:coreProperties>
</file>