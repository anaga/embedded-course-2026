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image" Target="../media/image-14-9.png"/><Relationship Id="rId10" Type="http://schemas.openxmlformats.org/officeDocument/2006/relationships/image" Target="../media/image-14-10.png"/><Relationship Id="rId11" Type="http://schemas.openxmlformats.org/officeDocument/2006/relationships/image" Target="../media/image-14-11.png"/><Relationship Id="rId12" Type="http://schemas.openxmlformats.org/officeDocument/2006/relationships/image" Target="../media/image-14-12.png"/><Relationship Id="rId13" Type="http://schemas.openxmlformats.org/officeDocument/2006/relationships/image" Target="../media/image-14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image" Target="../media/image-1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C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spc="600" kern="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7680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Classes, Objects</a:t>
            </a:r>
            <a:endParaRPr lang="en-US" sz="4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and Encapsulation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33832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 structs to C++ classes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Systems Course 2026  |  ESP32-C3 Super Mini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1645920"/>
            <a:ext cx="82296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Today's Agenda</a:t>
            </a:r>
            <a:endParaRPr lang="en-US" sz="3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2588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Structs to Classes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280160" y="157276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C++ classes exist and how they differ from C structs</a:t>
            </a:r>
            <a:endParaRPr lang="en-US" sz="12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039112"/>
            <a:ext cx="320040" cy="3200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80160" y="19933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1280160" y="22860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public, private, protected — hiding implementation details</a:t>
            </a:r>
            <a:endParaRPr lang="en-US" sz="12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752344"/>
            <a:ext cx="320040" cy="3200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80160" y="270662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Constructors &amp; Destructors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1280160" y="299923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lifecycle — init and cleanup done right</a:t>
            </a:r>
            <a:endParaRPr lang="en-US" sz="12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465576"/>
            <a:ext cx="320040" cy="32004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80160" y="341985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&amp; this Pointer</a:t>
            </a:r>
            <a:endParaRPr lang="en-US" sz="1600" dirty="0"/>
          </a:p>
        </p:txBody>
      </p:sp>
      <p:sp>
        <p:nvSpPr>
          <p:cNvPr id="14" name="Text 8"/>
          <p:cNvSpPr/>
          <p:nvPr/>
        </p:nvSpPr>
        <p:spPr>
          <a:xfrm>
            <a:off x="1280160" y="3712464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functions, const correctness, operator overloads</a:t>
            </a:r>
            <a:endParaRPr lang="en-US" sz="12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178808"/>
            <a:ext cx="320040" cy="32004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280160" y="41330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Practical: Rewriting Drivers</a:t>
            </a:r>
            <a:endParaRPr lang="en-US" sz="1600" dirty="0"/>
          </a:p>
        </p:txBody>
      </p:sp>
      <p:sp>
        <p:nvSpPr>
          <p:cNvPr id="17" name="Text 10"/>
          <p:cNvSpPr/>
          <p:nvPr/>
        </p:nvSpPr>
        <p:spPr>
          <a:xfrm>
            <a:off x="1280160" y="4425696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GpioPin and Button as C++ classes on ESP32-C3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From Structs to Classes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Approach (Lesson 4)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3931920" cy="2286000"/>
          </a:xfrm>
          <a:prstGeom prst="rect">
            <a:avLst/>
          </a:prstGeom>
          <a:solidFill>
            <a:srgbClr val="141E33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600200"/>
            <a:ext cx="3657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typedef struct {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uint8_t pin;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bool    active_high;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GpioPin_t;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gpio_pin_init(GpioPin_t *p);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gpio_pin_set(GpioPin_t *p,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bool state);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 gpio_pin_read(GpioPin_t *p);</a:t>
            </a:r>
            <a:endParaRPr lang="en-US" sz="1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34840" y="237744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800600" y="10972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Approach (Today)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800600" y="1508760"/>
            <a:ext cx="3931920" cy="2286000"/>
          </a:xfrm>
          <a:prstGeom prst="rect">
            <a:avLst/>
          </a:prstGeom>
          <a:solidFill>
            <a:srgbClr val="141E33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937760" y="1600200"/>
            <a:ext cx="3657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GpioPin {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uint8_t pin_;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bool    active_high_;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GpioPin(uint8_t pin, bool ah);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set(bool state);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bool read() const;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7200" y="4023360"/>
            <a:ext cx="8229600" cy="640080"/>
          </a:xfrm>
          <a:prstGeom prst="rect">
            <a:avLst/>
          </a:prstGeom>
          <a:solidFill>
            <a:srgbClr val="141C3D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133088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97280" y="40233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+ functions that operate on that data = bundled together in one unit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Anatomy of a C++ Class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solidFill>
            <a:srgbClr val="141E33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94360" y="1188720"/>
            <a:ext cx="79552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Led {                         // class keyword + name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private:                             // --- hidden from outside ---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uint8_t  pin_;                   // data members (fields)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bool     active_high_;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bool     state_;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public:                              // --- accessible from outside ---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Led(uint8_t pin, bool ah);       // constructor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~Led();                          // destructor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on();                       // member functions (methods)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off();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toggle();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bool isOn() const;               // const = does not modify object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                                   // &lt;-- semicolon required!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583680" y="1508760"/>
            <a:ext cx="73152" cy="64008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0" y="15087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583680" y="2560320"/>
            <a:ext cx="73152" cy="146304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8" name="Text 6"/>
          <p:cNvSpPr/>
          <p:nvPr/>
        </p:nvSpPr>
        <p:spPr>
          <a:xfrm>
            <a:off x="6766560" y="2560320"/>
            <a:ext cx="1371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Access Specifiers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97480" cy="2286000"/>
          </a:xfrm>
          <a:prstGeom prst="rect">
            <a:avLst/>
          </a:prstGeom>
          <a:solidFill>
            <a:srgbClr val="141C3D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188720"/>
            <a:ext cx="2697480" cy="54864"/>
          </a:xfrm>
          <a:prstGeom prst="rect">
            <a:avLst/>
          </a:prstGeom>
          <a:solidFill>
            <a:srgbClr val="4CAF5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41732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1371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94360" y="1920240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can access.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your API — the interface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code uses.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337560" y="1188720"/>
            <a:ext cx="2697480" cy="2286000"/>
          </a:xfrm>
          <a:prstGeom prst="rect">
            <a:avLst/>
          </a:prstGeom>
          <a:solidFill>
            <a:srgbClr val="141C3D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337560" y="1188720"/>
            <a:ext cx="2697480" cy="54864"/>
          </a:xfrm>
          <a:prstGeom prst="rect">
            <a:avLst/>
          </a:prstGeom>
          <a:solidFill>
            <a:srgbClr val="E74C3C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141732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886200" y="1371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3474720" y="1920240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class itself can access.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 implementation details.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in class.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217920" y="1188720"/>
            <a:ext cx="2697480" cy="2286000"/>
          </a:xfrm>
          <a:prstGeom prst="rect">
            <a:avLst/>
          </a:prstGeom>
          <a:solidFill>
            <a:srgbClr val="141C3D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217920" y="1188720"/>
            <a:ext cx="2697480" cy="54864"/>
          </a:xfrm>
          <a:prstGeom prst="rect">
            <a:avLst/>
          </a:prstGeom>
          <a:solidFill>
            <a:srgbClr val="F39C12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41732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766560" y="1371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protected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6355080" y="1920240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+ its children can access.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with inheritance.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(Lesson 7)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457200" y="3749040"/>
            <a:ext cx="8229600" cy="914400"/>
          </a:xfrm>
          <a:prstGeom prst="rect">
            <a:avLst/>
          </a:prstGeom>
          <a:solidFill>
            <a:srgbClr val="141C3D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931920"/>
            <a:ext cx="320040" cy="3200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097280" y="3749040"/>
            <a:ext cx="7406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vs struct in C++: 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difference is the default access. </a:t>
            </a:r>
            <a:pPr algn="l" indent="0" marL="0">
              <a:buNone/>
            </a:pPr>
            <a:r>
              <a:rPr lang="en-US" sz="1300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public by default.  </a:t>
            </a:r>
            <a:pPr algn="l" indent="0" marL="0">
              <a:buNone/>
            </a:pPr>
            <a:r>
              <a:rPr lang="en-US" sz="1300" dirty="0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private by default.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Encapsulation Matters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encapsulation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91840" y="1097280"/>
            <a:ext cx="228600" cy="228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463040"/>
            <a:ext cx="3931920" cy="1463040"/>
          </a:xfrm>
          <a:prstGeom prst="rect">
            <a:avLst/>
          </a:prstGeom>
          <a:solidFill>
            <a:srgbClr val="141E33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94360" y="155448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 myLed;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myLed.pin_ = 8;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myLed.state_ = true;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Oops — forgot to call pinMode!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Hardware is now in unknown state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800600" y="1097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encapsulation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1097280"/>
            <a:ext cx="228600" cy="2286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800600" y="1463040"/>
            <a:ext cx="3931920" cy="1463040"/>
          </a:xfrm>
          <a:prstGeom prst="rect">
            <a:avLst/>
          </a:prstGeom>
          <a:solidFill>
            <a:srgbClr val="141E33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4937760" y="155448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 myLed(8, true);   // constructor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myLed.on();            // clean API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myLed.toggle();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Cannot touch pin_ or state_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Hardware always consistent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for embedded systems:</a:t>
            </a:r>
            <a:endParaRPr lang="en-US" sz="15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675888"/>
            <a:ext cx="201168" cy="2011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14400" y="365760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is always in a valid state — constructor guarantees proper init</a:t>
            </a:r>
            <a:endParaRPr lang="en-US" sz="12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995928"/>
            <a:ext cx="201168" cy="20116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14400" y="397764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is clear — users see only what they need (on/off/toggle/read)</a:t>
            </a:r>
            <a:endParaRPr lang="en-US" sz="12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315968"/>
            <a:ext cx="201168" cy="20116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914400" y="429768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changes do not break user code — swap GPIO lib, API stays the same</a:t>
            </a:r>
            <a:endParaRPr lang="en-US" sz="12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4636008"/>
            <a:ext cx="201168" cy="20116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914400" y="46177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 are localized — if state_ is wrong, the bug is inside the class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Constructors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constructor runs automatically when an object is created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solidFill>
            <a:srgbClr val="141E33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417320"/>
            <a:ext cx="7955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 the header (Led.h)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Led {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uint8_t pin_;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bool    active_high_;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bool    state_;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Led(uint8_t pin, bool active_high);   // declaration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 the source (Led.cpp)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Led::Led(uint8_t pin, bool active_high)   // definition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: pin_(pin)                           // initializer list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, active_high_(active_high)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, state_(false)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pinMode(pin_, OUTPUT);                // hardware init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set(false);                           // start OFF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4297680"/>
            <a:ext cx="3931920" cy="502920"/>
          </a:xfrm>
          <a:prstGeom prst="rect">
            <a:avLst/>
          </a:prstGeom>
          <a:solidFill>
            <a:srgbClr val="141C3D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42976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name as the class, no return type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4297680"/>
            <a:ext cx="4114800" cy="502920"/>
          </a:xfrm>
          <a:prstGeom prst="rect">
            <a:avLst/>
          </a:prstGeom>
          <a:solidFill>
            <a:srgbClr val="141C3D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09160" y="429768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Initializer list: preferred over assignment in body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Destructors &amp; Object Lifetime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5029200" cy="2103120"/>
          </a:xfrm>
          <a:prstGeom prst="rect">
            <a:avLst/>
          </a:prstGeom>
          <a:solidFill>
            <a:srgbClr val="141E33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94360" y="1188720"/>
            <a:ext cx="4754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Led {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public: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Led(uint8_t pin, bool ah);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~Led();   // destructor: ~ClassName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Led::~Led() {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set(false);   // turn off LED on destroy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lifetime on the stack: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3749040"/>
            <a:ext cx="8229600" cy="1005840"/>
          </a:xfrm>
          <a:prstGeom prst="rect">
            <a:avLst/>
          </a:prstGeom>
          <a:solidFill>
            <a:srgbClr val="141E33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3794760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doWork() {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Led led(8, true);    // constructor called here — LED initialized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led.on();            // use the object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                       // destructor called here — LED turned off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760720" y="1097280"/>
            <a:ext cx="2926080" cy="2103120"/>
          </a:xfrm>
          <a:prstGeom prst="rect">
            <a:avLst/>
          </a:prstGeom>
          <a:solidFill>
            <a:srgbClr val="141C3D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128016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309360" y="12344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embedded systems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943600" y="1645920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objects live forever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(global or static scope).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Destructors rarely run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typical firmware.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important to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concept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RAII (Lesson 8).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this Pointer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member function receives a hidden pointer to the object it was called 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solidFill>
            <a:srgbClr val="141E33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463040"/>
            <a:ext cx="7955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Led::on() {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this-&gt;state_ = true;               // explicit this-&gt;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state_ = true;                     // same thing — this-&gt; is implicit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digitalWrite(this-&gt;pin_,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active_high_ ? HIGH : LOW);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33832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the C version?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3749040"/>
            <a:ext cx="3931920" cy="914400"/>
          </a:xfrm>
          <a:prstGeom prst="rect">
            <a:avLst/>
          </a:prstGeom>
          <a:solidFill>
            <a:srgbClr val="141E33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37947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C: you pass the pointer yourself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gpio_pin_set(GpioPin_t *p,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bool state);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0" y="374904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does the same thing — it just hides the pointer for you!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Methods &amp; const Correctness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2377440"/>
          </a:xfrm>
          <a:prstGeom prst="rect">
            <a:avLst/>
          </a:prstGeom>
          <a:solidFill>
            <a:srgbClr val="141E33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94360" y="1188720"/>
            <a:ext cx="7955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Led {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on();                  // modifies state_ -&gt; non-const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off();                 // modifies state_ -&gt; non-const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toggle();              // modifies state_ -&gt; non-const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bool isOn()   const;        // read-only -&gt; mark const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uint8_t pin() const;        // read-only -&gt; mark const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const method implementation: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 Led::isOn() const {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state_;              // OK: reading is fine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state_ = true;          // ERROR: cannot modify in const method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3749040"/>
            <a:ext cx="8229600" cy="914400"/>
          </a:xfrm>
          <a:prstGeom prst="rect">
            <a:avLst/>
          </a:prstGeom>
          <a:solidFill>
            <a:srgbClr val="141C3D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88620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3749040"/>
            <a:ext cx="7406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method does not modify the object, mark it </a:t>
            </a:r>
            <a:pPr algn="l" indent="0" marL="0">
              <a:buNone/>
            </a:pPr>
            <a:r>
              <a:rPr lang="en-US" sz="1300" b="1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This catches bugs at compile time and allows use with </a:t>
            </a:r>
            <a:pPr algn="l" indent="0" marL="0">
              <a:buNone/>
            </a:pPr>
            <a:r>
              <a:rPr lang="en-US" sz="1300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references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Header and Source Files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90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Led.h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31920" cy="2651760"/>
          </a:xfrm>
          <a:prstGeom prst="rect">
            <a:avLst/>
          </a:prstGeom>
          <a:solidFill>
            <a:srgbClr val="141E33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46304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#pragma once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&lt;stdint.h&gt;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Led {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private: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uint8_t pin_;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bool    active_high_;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bool    state_;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public: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Led(uint8_t pin, bool ah);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~Led();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on();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off();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toggle();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bool isOn() const;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800600" y="10515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90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Led.cpp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00600" y="1417320"/>
            <a:ext cx="3931920" cy="2651760"/>
          </a:xfrm>
          <a:prstGeom prst="rect">
            <a:avLst/>
          </a:prstGeom>
          <a:solidFill>
            <a:srgbClr val="141E33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46304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"Led.h"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&lt;Arduino.h&gt;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Led::Led(uint8_t pin, bool ah)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: pin_(pin)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, active_high_(ah)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, state_(false)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pinMode(pin_, OUTPUT);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off();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Led::~Led() { off(); }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Led::on() {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state_ = true;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uint8_t level = active_high_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? HIGH : LOW;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digitalWrite(pin_, level);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4297680"/>
            <a:ext cx="8229600" cy="502920"/>
          </a:xfrm>
          <a:prstGeom prst="rect">
            <a:avLst/>
          </a:prstGeom>
          <a:solidFill>
            <a:srgbClr val="141C3D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429768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#pragma once</a:t>
            </a:r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include guard.  </a:t>
            </a:r>
            <a:pPr algn="l" indent="0" marL="0">
              <a:buNone/>
            </a:pPr>
            <a:r>
              <a:rPr lang="en-US" sz="1100" dirty="0">
                <a:solidFill>
                  <a:srgbClr val="4A90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Led::on()</a:t>
            </a:r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scope resolution operator </a:t>
            </a:r>
            <a:pPr algn="l" indent="0" marL="0">
              <a:buNone/>
            </a:pPr>
            <a:r>
              <a:rPr lang="en-US" sz="1100" b="1" dirty="0">
                <a:solidFill>
                  <a:srgbClr val="F9E7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::</a:t>
            </a:r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tells compiler which class the method belongs to.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Practical: GpioPin Class</a:t>
            </a:r>
            <a:endParaRPr lang="en-US" sz="3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11480"/>
            <a:ext cx="457200" cy="4572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051560"/>
            <a:ext cx="8229600" cy="3749040"/>
          </a:xfrm>
          <a:prstGeom prst="rect">
            <a:avLst/>
          </a:prstGeom>
          <a:solidFill>
            <a:srgbClr val="141E33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594360" y="1097280"/>
            <a:ext cx="79552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GpioPin {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uint8_t pin_;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bool    output_;         // true = output, false = input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bool    active_high_;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bool    pull_up_;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GpioPin(uint8_t pin, bool output, bool active_high,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bool pull_up = false);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   set(bool state);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   toggle();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bool    read()  const;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uint8_t pin()   const  { return pin_; }    // inline getter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Usage on ESP32-C3: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GpioPin onboardLed(8, true, true);      // output, active-high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GpioPin button(0, false, false, true);  // input, active-low, pull-up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setup() {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onboardLed.set(true);    // LED on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Practical: Button Class</a:t>
            </a:r>
            <a:endParaRPr lang="en-US" sz="3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11480"/>
            <a:ext cx="457200" cy="4572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051560"/>
            <a:ext cx="8229600" cy="3749040"/>
          </a:xfrm>
          <a:prstGeom prst="rect">
            <a:avLst/>
          </a:prstGeom>
          <a:solidFill>
            <a:srgbClr val="141E33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594360" y="1097280"/>
            <a:ext cx="79552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Button {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private: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uint8_t  pin_;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bool     active_high_;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uint16_t debounce_ms_;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Internal state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bool     last_raw_;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bool     stable_state_;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uint32_t last_change_;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bool     event_pending_;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public: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Button(uint8_t pin, bool active_high,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uint16_t debounce_ms = 50);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update();          // call every loop iteration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bool pressed();         // true once per press event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bool state() const;     // current stable state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Usage: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 btn(0, false, 50);         // GPIO 0, active-low, 50ms debounce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loop() {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(btn.pressed()) {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Serial.println("Click!");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C++ on Microcontrollers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costs nothing (zero overhead)</a:t>
            </a:r>
            <a:endParaRPr lang="en-US" sz="1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81328"/>
            <a:ext cx="182880" cy="1828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" y="14447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and encapsulation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92224"/>
            <a:ext cx="182880" cy="1828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68680" y="1755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Constructors / destructors</a:t>
            </a:r>
            <a:endParaRPr lang="en-US" sz="11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103120"/>
            <a:ext cx="182880" cy="18288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68680" y="20665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(T&amp;)</a:t>
            </a:r>
            <a:endParaRPr lang="en-US" sz="11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414016"/>
            <a:ext cx="182880" cy="18288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68680" y="2377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Namespaces</a:t>
            </a:r>
            <a:endParaRPr lang="en-US" sz="11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2724912"/>
            <a:ext cx="182880" cy="18288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868680" y="268833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 / constexpr</a:t>
            </a:r>
            <a:endParaRPr lang="en-US" sz="1100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3035808"/>
            <a:ext cx="182880" cy="18288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868680" y="29992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 class (scoped enums)</a:t>
            </a:r>
            <a:endParaRPr lang="en-US" sz="1100" dirty="0"/>
          </a:p>
        </p:txBody>
      </p:sp>
      <p:sp>
        <p:nvSpPr>
          <p:cNvPr id="16" name="Text 8"/>
          <p:cNvSpPr/>
          <p:nvPr/>
        </p:nvSpPr>
        <p:spPr>
          <a:xfrm>
            <a:off x="4800600" y="10515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be careful with</a:t>
            </a:r>
            <a:endParaRPr lang="en-US" sz="1400" dirty="0"/>
          </a:p>
        </p:txBody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2040" y="1481328"/>
            <a:ext cx="182880" cy="182880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5212080" y="14447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/ delete (heap fragmentation)</a:t>
            </a:r>
            <a:endParaRPr lang="en-US" sz="1100" dirty="0"/>
          </a:p>
        </p:txBody>
      </p:sp>
      <p:pic>
        <p:nvPicPr>
          <p:cNvPr id="1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92040" y="1792224"/>
            <a:ext cx="182880" cy="182880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5212080" y="1755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Exceptions (-fno-exceptions)</a:t>
            </a:r>
            <a:endParaRPr lang="en-US" sz="1100" dirty="0"/>
          </a:p>
        </p:txBody>
      </p:sp>
      <p:pic>
        <p:nvPicPr>
          <p:cNvPr id="2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92040" y="2103120"/>
            <a:ext cx="182880" cy="182880"/>
          </a:xfrm>
          <a:prstGeom prst="rect">
            <a:avLst/>
          </a:prstGeom>
        </p:spPr>
      </p:pic>
      <p:sp>
        <p:nvSpPr>
          <p:cNvPr id="22" name="Text 11"/>
          <p:cNvSpPr/>
          <p:nvPr/>
        </p:nvSpPr>
        <p:spPr>
          <a:xfrm>
            <a:off x="5212080" y="20665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RTTI (-fno-rtti)</a:t>
            </a:r>
            <a:endParaRPr lang="en-US" sz="1100" dirty="0"/>
          </a:p>
        </p:txBody>
      </p:sp>
      <p:pic>
        <p:nvPicPr>
          <p:cNvPr id="2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92040" y="2414016"/>
            <a:ext cx="182880" cy="182880"/>
          </a:xfrm>
          <a:prstGeom prst="rect">
            <a:avLst/>
          </a:prstGeom>
        </p:spPr>
      </p:pic>
      <p:sp>
        <p:nvSpPr>
          <p:cNvPr id="24" name="Text 12"/>
          <p:cNvSpPr/>
          <p:nvPr/>
        </p:nvSpPr>
        <p:spPr>
          <a:xfrm>
            <a:off x="5212080" y="2377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functions (vtable cost)</a:t>
            </a:r>
            <a:endParaRPr lang="en-US" sz="1100" dirty="0"/>
          </a:p>
        </p:txBody>
      </p:sp>
      <p:pic>
        <p:nvPicPr>
          <p:cNvPr id="2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92040" y="2724912"/>
            <a:ext cx="182880" cy="182880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5212080" y="268833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STL containers (std::vector, etc.)</a:t>
            </a:r>
            <a:endParaRPr lang="en-US" sz="1100" dirty="0"/>
          </a:p>
        </p:txBody>
      </p:sp>
      <p:pic>
        <p:nvPicPr>
          <p:cNvPr id="27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92040" y="3035808"/>
            <a:ext cx="182880" cy="182880"/>
          </a:xfrm>
          <a:prstGeom prst="rect">
            <a:avLst/>
          </a:prstGeom>
        </p:spPr>
      </p:pic>
      <p:sp>
        <p:nvSpPr>
          <p:cNvPr id="28" name="Text 14"/>
          <p:cNvSpPr/>
          <p:nvPr/>
        </p:nvSpPr>
        <p:spPr>
          <a:xfrm>
            <a:off x="5212080" y="29992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std::string (dynamic allocation)</a:t>
            </a:r>
            <a:endParaRPr lang="en-US" sz="1100" dirty="0"/>
          </a:p>
        </p:txBody>
      </p:sp>
      <p:sp>
        <p:nvSpPr>
          <p:cNvPr id="29" name="Shape 15"/>
          <p:cNvSpPr/>
          <p:nvPr/>
        </p:nvSpPr>
        <p:spPr>
          <a:xfrm>
            <a:off x="457200" y="3566160"/>
            <a:ext cx="8229600" cy="1188720"/>
          </a:xfrm>
          <a:prstGeom prst="rect">
            <a:avLst/>
          </a:prstGeom>
          <a:solidFill>
            <a:srgbClr val="141C3D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pic>
        <p:nvPicPr>
          <p:cNvPr id="30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0080" y="3703320"/>
            <a:ext cx="320040" cy="320040"/>
          </a:xfrm>
          <a:prstGeom prst="rect">
            <a:avLst/>
          </a:prstGeom>
        </p:spPr>
      </p:pic>
      <p:sp>
        <p:nvSpPr>
          <p:cNvPr id="31" name="Text 16"/>
          <p:cNvSpPr/>
          <p:nvPr/>
        </p:nvSpPr>
        <p:spPr>
          <a:xfrm>
            <a:off x="1097280" y="361188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ESP32 has enough RAM (320 KB) and runs at 160 MHz.</a:t>
            </a:r>
            <a:endParaRPr lang="en-US" sz="1300" dirty="0"/>
          </a:p>
        </p:txBody>
      </p:sp>
      <p:sp>
        <p:nvSpPr>
          <p:cNvPr id="32" name="Text 17"/>
          <p:cNvSpPr/>
          <p:nvPr/>
        </p:nvSpPr>
        <p:spPr>
          <a:xfrm>
            <a:off x="1097280" y="4069080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use more C++ features than on an 8-bit AVR (2 KB RAM).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good habits matter — write code that works on any MCU, not just ESP32.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Default Parameters &amp; Overloading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parameter values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31920" cy="1645920"/>
          </a:xfrm>
          <a:prstGeom prst="rect">
            <a:avLst/>
          </a:prstGeom>
          <a:solidFill>
            <a:srgbClr val="141E33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46304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Button {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public: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Button(uint8_t pin,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bool ah = false,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uint16_t db = 50);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 b1(0);           // ah=false, db=50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 b2(0, true);     // db=50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 b3(0, true, 80); // all explicit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800600" y="10515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Constructor overloading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00600" y="1417320"/>
            <a:ext cx="3931920" cy="1645920"/>
          </a:xfrm>
          <a:prstGeom prst="rect">
            <a:avLst/>
          </a:prstGeom>
          <a:solidFill>
            <a:srgbClr val="141E33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46304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Led {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public: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Led(uint8_t pin);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Led(uint8_t pin, bool ah);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Compiler picks the right one: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 red(8);          // 1-arg ctor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 green(3, false); // 2-arg ctor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7200" y="3291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Getters and Setters — the C++ way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657600"/>
            <a:ext cx="8229600" cy="1097280"/>
          </a:xfrm>
          <a:prstGeom prst="rect">
            <a:avLst/>
          </a:prstGeom>
          <a:solidFill>
            <a:srgbClr val="141E33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3703320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Led {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uint8_t pin_;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uint8_t pin() const { return pin_; }     // getter — inline in header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No setter for pin_ — it should never change after construction!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Practice Exercises</a:t>
            </a:r>
            <a:endParaRPr lang="en-US" sz="3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11480"/>
            <a:ext cx="457200" cy="4572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097280"/>
            <a:ext cx="8229600" cy="777240"/>
          </a:xfrm>
          <a:prstGeom prst="rect">
            <a:avLst/>
          </a:prstGeom>
          <a:solidFill>
            <a:srgbClr val="141C3D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594360" y="1261872"/>
            <a:ext cx="411480" cy="41148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6" name="Text 3"/>
          <p:cNvSpPr/>
          <p:nvPr/>
        </p:nvSpPr>
        <p:spPr>
          <a:xfrm>
            <a:off x="594360" y="12618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188720" y="1143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1 — Read the template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88720" y="1417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project. Read Led.h, Led.cpp, Button.h, Button.cpp.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the code. Verify LED blinks and button prints to Serial.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" y="2011680"/>
            <a:ext cx="8229600" cy="777240"/>
          </a:xfrm>
          <a:prstGeom prst="rect">
            <a:avLst/>
          </a:prstGeom>
          <a:solidFill>
            <a:srgbClr val="141C3D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94360" y="2176272"/>
            <a:ext cx="411480" cy="41148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1" name="Text 8"/>
          <p:cNvSpPr/>
          <p:nvPr/>
        </p:nvSpPr>
        <p:spPr>
          <a:xfrm>
            <a:off x="594360" y="21762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188720" y="2057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2 — Add a method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188720" y="2331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blink(uint16_t ms) method to the Led class.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should turn the LED on, wait ms milliseconds, then turn off.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57200" y="2926080"/>
            <a:ext cx="8229600" cy="777240"/>
          </a:xfrm>
          <a:prstGeom prst="rect">
            <a:avLst/>
          </a:prstGeom>
          <a:solidFill>
            <a:srgbClr val="141C3D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94360" y="3090672"/>
            <a:ext cx="411480" cy="41148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6" name="Text 13"/>
          <p:cNvSpPr/>
          <p:nvPr/>
        </p:nvSpPr>
        <p:spPr>
          <a:xfrm>
            <a:off x="594360" y="30906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188720" y="2971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3 — Create an RgbLed class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188720" y="32461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new class RgbLed that holds three GpioPin objects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(red, green, blue). Add methods: setColor(r, g, b) and off().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57200" y="3840480"/>
            <a:ext cx="8229600" cy="777240"/>
          </a:xfrm>
          <a:prstGeom prst="rect">
            <a:avLst/>
          </a:prstGeom>
          <a:solidFill>
            <a:srgbClr val="141C3D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94360" y="4005072"/>
            <a:ext cx="411480" cy="41148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21" name="Text 18"/>
          <p:cNvSpPr/>
          <p:nvPr/>
        </p:nvSpPr>
        <p:spPr>
          <a:xfrm>
            <a:off x="594360" y="40050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1188720" y="3886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— Cycle colors with Button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1188720" y="41605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your RgbLed + Button to cycle through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-&gt; Green -&gt; Blue -&gt; White -&gt; Off on each press.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Homework 6</a:t>
            </a:r>
            <a:endParaRPr lang="en-US" sz="3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1148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Light Controller</a:t>
            </a:r>
            <a:endParaRPr lang="en-US" sz="20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72768"/>
            <a:ext cx="182880" cy="1828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68680" y="153619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TrafficLight class that controls 3 LEDs (R, G, B channels of your RGB LED)</a:t>
            </a:r>
            <a:endParaRPr lang="en-US" sz="12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920240"/>
            <a:ext cx="182880" cy="18288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68680" y="1883664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states: RED, YELLOW (R+G), GREEN, and transition logic</a:t>
            </a:r>
            <a:endParaRPr lang="en-US" sz="12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267712"/>
            <a:ext cx="182880" cy="18288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868680" y="2231136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Button input: each press advances to the next state</a:t>
            </a:r>
            <a:endParaRPr lang="en-US" sz="12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2615184"/>
            <a:ext cx="182880" cy="18288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868680" y="257860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 must use encapsulation: all state data is private</a:t>
            </a:r>
            <a:endParaRPr lang="en-US" sz="1200" dirty="0"/>
          </a:p>
        </p:txBody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2962656"/>
            <a:ext cx="182880" cy="182880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868680" y="29260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 clean public API: next(), currentState(), begin()</a:t>
            </a:r>
            <a:endParaRPr lang="en-US" sz="1200" dirty="0"/>
          </a:p>
        </p:txBody>
      </p:sp>
      <p:pic>
        <p:nvPicPr>
          <p:cNvPr id="1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3310128"/>
            <a:ext cx="182880" cy="182880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868680" y="327355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state transitions to Serial</a:t>
            </a:r>
            <a:endParaRPr lang="en-US" sz="1200" dirty="0"/>
          </a:p>
        </p:txBody>
      </p:sp>
      <p:pic>
        <p:nvPicPr>
          <p:cNvPr id="1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640" y="3657600"/>
            <a:ext cx="182880" cy="182880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>
            <a:off x="868680" y="3621024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header + source file split (TrafficLight.h / TrafficLight.cpp)</a:t>
            </a:r>
            <a:endParaRPr lang="en-US" sz="1200" dirty="0"/>
          </a:p>
        </p:txBody>
      </p:sp>
      <p:sp>
        <p:nvSpPr>
          <p:cNvPr id="19" name="Shape 9"/>
          <p:cNvSpPr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solidFill>
            <a:srgbClr val="141C3D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0" name="Text 10"/>
          <p:cNvSpPr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Due: before Lesson 7  |  Push to your GitHub repository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1C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Summary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097280"/>
            <a:ext cx="201168" cy="2011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106984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bundles data + functions together (struct with methods)</a:t>
            </a:r>
            <a:endParaRPr lang="en-US" sz="13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44752"/>
            <a:ext cx="201168" cy="2011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97280" y="141732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hides internals, public defines the API</a:t>
            </a:r>
            <a:endParaRPr lang="en-US" sz="13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792224"/>
            <a:ext cx="201168" cy="20116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97280" y="176479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Constructor initializes the object (replaces init functions)</a:t>
            </a:r>
            <a:endParaRPr lang="en-US" sz="13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139696"/>
            <a:ext cx="201168" cy="20116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97280" y="2112264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Destructor cleans up (important for RAII in Lesson 8)</a:t>
            </a:r>
            <a:endParaRPr lang="en-US" sz="13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2487168"/>
            <a:ext cx="201168" cy="201168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097280" y="2459736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 methods promise not to modify the object</a:t>
            </a:r>
            <a:endParaRPr lang="en-US" sz="1300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2834640"/>
            <a:ext cx="201168" cy="201168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097280" y="280720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classes have zero overhead vs C structs + functions</a:t>
            </a:r>
            <a:endParaRPr lang="en-US" sz="1300" dirty="0"/>
          </a:p>
        </p:txBody>
      </p:sp>
      <p:sp>
        <p:nvSpPr>
          <p:cNvPr id="16" name="Shape 8"/>
          <p:cNvSpPr/>
          <p:nvPr/>
        </p:nvSpPr>
        <p:spPr>
          <a:xfrm>
            <a:off x="457200" y="3474720"/>
            <a:ext cx="8229600" cy="118872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7" name="Text 9"/>
          <p:cNvSpPr/>
          <p:nvPr/>
        </p:nvSpPr>
        <p:spPr>
          <a:xfrm>
            <a:off x="640080" y="3566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Lesson 07</a:t>
            </a:r>
            <a:endParaRPr lang="en-US" sz="1600" dirty="0"/>
          </a:p>
        </p:txBody>
      </p:sp>
      <p:sp>
        <p:nvSpPr>
          <p:cNvPr id="18" name="Text 10"/>
          <p:cNvSpPr/>
          <p:nvPr/>
        </p:nvSpPr>
        <p:spPr>
          <a:xfrm>
            <a:off x="640080" y="39319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Inheritance, Templates, Data Structures</a:t>
            </a:r>
            <a:endParaRPr lang="en-US" sz="1400" dirty="0"/>
          </a:p>
        </p:txBody>
      </p:sp>
      <p:sp>
        <p:nvSpPr>
          <p:cNvPr id="19" name="Text 11"/>
          <p:cNvSpPr/>
          <p:nvPr/>
        </p:nvSpPr>
        <p:spPr>
          <a:xfrm>
            <a:off x="640080" y="42519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classes, virtual functions, generic programming with templates, ring buffers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06 — Classes, Objects, Encapsulation</dc:title>
  <dc:subject>PptxGenJS Presentation</dc:subject>
  <dc:creator>Embedded Systems Course 2026</dc:creator>
  <cp:lastModifiedBy>Embedded Systems Course 2026</cp:lastModifiedBy>
  <cp:revision>1</cp:revision>
  <dcterms:created xsi:type="dcterms:W3CDTF">2026-03-04T11:45:40Z</dcterms:created>
  <dcterms:modified xsi:type="dcterms:W3CDTF">2026-03-04T11:45:40Z</dcterms:modified>
</cp:coreProperties>
</file>