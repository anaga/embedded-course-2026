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4480560"/>
            <a:ext cx="164592" cy="164592"/>
          </a:xfrm>
          <a:prstGeom prst="ellipse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480560"/>
            <a:ext cx="164592" cy="164592"/>
          </a:xfrm>
          <a:prstGeom prst="ellipse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4480560"/>
            <a:ext cx="164592" cy="164592"/>
          </a:xfrm>
          <a:prstGeom prst="ellipse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4480560"/>
            <a:ext cx="164592" cy="164592"/>
          </a:xfrm>
          <a:prstGeom prst="ellipse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4480560"/>
            <a:ext cx="164592" cy="164592"/>
          </a:xfrm>
          <a:prstGeom prst="ellipse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64008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9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12801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Peripheral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40080" y="2011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Libraries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40080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· C++ · PlatformIO · drivers::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DigitalPin  AnalogPin  PwmPin  Button  Led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Abstract Hardware?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abstraction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246888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9344"/>
            <a:ext cx="35661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setup()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pinMode(3, OUTPUT);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ledcSetup(0, 5000, 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ledcAttachPin(3, 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pinMode(0, INPUT_PULLUP);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attachInterrupt(0, isr0, CHANGE);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scattered everywhere...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ledcWrite(0, 128);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(!digitalRead(0)) { ...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drivers:: library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840480" cy="246888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609344"/>
            <a:ext cx="35661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main.cpp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drivers::Led    red(3);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drivers::Button btn(0);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(btn.isPressed())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red.setDutyCycle(128);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2560320" cy="640080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206240"/>
            <a:ext cx="64008" cy="64008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206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4206240"/>
            <a:ext cx="2560320" cy="640080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4206240"/>
            <a:ext cx="64008" cy="64008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4206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projects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206240"/>
            <a:ext cx="2560320" cy="640080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4206240"/>
            <a:ext cx="64008" cy="64008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4206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&amp; swap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47472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347472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35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28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digital_pin.h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020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analog_pin.h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313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pwm_pin.h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button.h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191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483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button.cpp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776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led.cpp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main.cpp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1097280"/>
            <a:ext cx="4389120" cy="65836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097280"/>
            <a:ext cx="64008" cy="65836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drivers::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ALL classes — prevents name collisions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1847088"/>
            <a:ext cx="4389120" cy="65836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847088"/>
            <a:ext cx="64008" cy="65836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865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 in include/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only — no method bodies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2596896"/>
            <a:ext cx="4389120" cy="65836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2596896"/>
            <a:ext cx="64008" cy="65836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615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.cpp in src/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0" y="2871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 — #include their own header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3346704"/>
            <a:ext cx="4389120" cy="65836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3346704"/>
            <a:ext cx="64008" cy="65836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364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80560" y="3621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guard — always, in every header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4096512"/>
            <a:ext cx="4389120" cy="65836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4096512"/>
            <a:ext cx="64008" cy="65836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Arduino.h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80560" y="4370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.h files — include only in .cpp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DigitalPin — GPIO Abstraction Base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84048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0704"/>
            <a:ext cx="38404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include/digital_pin.h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DigitalPin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DigitalPin(uint8_t pin, uint8_t mode);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~DigitalPin();                 // RAII: cleanup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   write(bool high);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read() const;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pin()  const;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_pin;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_mode;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840480" cy="84124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051560"/>
            <a:ext cx="64008" cy="841248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78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350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calls pinMode()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can detach interrupts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3840480" cy="84124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011680"/>
            <a:ext cx="64008" cy="841248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2951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implicit int-&gt;DigitalPin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— always good practice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971800"/>
            <a:ext cx="3840480" cy="84124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971800"/>
            <a:ext cx="64008" cy="84124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2552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classes (Button, Led)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access to _pin and _mode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931920"/>
            <a:ext cx="3840480" cy="84124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931920"/>
            <a:ext cx="64008" cy="8412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read()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2153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read() const lets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catch accidental writes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AnalogPin — analogRead Wrapper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0704"/>
            <a:ext cx="3840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include/analog_pin.h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AnalogPin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AnalogPin(uint8_t pin);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uint16_t read()      const;  // raw 0-4095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   readVolt()  const;  // 0.0 - 3.3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pin()       const;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_pin;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 ADC facts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508760"/>
            <a:ext cx="3931920" cy="53035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5270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12-bit resolution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12280" y="15270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4095 counts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148840"/>
            <a:ext cx="3931920" cy="53035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167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voltage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2167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V (VDD)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788920"/>
            <a:ext cx="3931920" cy="53035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807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ADC1 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2807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GPIO0–GPIO4 (ADC1_CH0–CH4)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429000"/>
            <a:ext cx="3931920" cy="53035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447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ADC2 disabled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3447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Wi-Fi — avoid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4069080"/>
            <a:ext cx="3931920" cy="53035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40873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readVolt() formula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40873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4095.0f * 3.3f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572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readVolt() const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analogRead(_pin) / 4095.0f * 3.3f;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PwmPin — LEDC Wrapper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93192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0704"/>
            <a:ext cx="384048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include/pwm_pin.h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PwmPin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PwmPin(uint8_t pin, uint8_t channel,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uint32_t freq = 5000,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uint8_t  bits = 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~PwmPin();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setDutyCycle(uint8_t duty); // 0-255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_pin;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_channel;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_freq;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_bits;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840480" cy="1463040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051560"/>
            <a:ext cx="64008" cy="1463040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 recap (Arduino Core 2.x)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100584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26464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ledcSetup(ch, freq, bits);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ledcAttachPin(pin, ch);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ledcWrite(ch, duty);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has 6 LEDC channels (0–5)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channel explicitly — caller decides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PwmPin owns one channel for its lifetime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calls ledcDetachPin()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Hierarchy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3291840" cy="1691640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97280"/>
            <a:ext cx="3291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24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DigitalPin  (base)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329184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481328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_pin: uint8_t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73736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_mode: uint8_t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199339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write(bool)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224942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read() const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pin() const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097280"/>
            <a:ext cx="3291840" cy="1691640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097280"/>
            <a:ext cx="3291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124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PwmPin  (base)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417320"/>
            <a:ext cx="329184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481328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_channel: uint8_t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47488" y="173736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_freq: uint32_t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47488" y="199339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_bits: uint8_t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7488" y="224942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setDutyCycle(uint8_t)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47488" y="2505456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~PwmPin()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3108960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0400"/>
            <a:ext cx="3108960" cy="320040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 : DigitalPin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3108960" cy="18288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58444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_lastState: bool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3840480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_lastMs: uint32_t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409651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isPressed() const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4352544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IRAM_ATTR onISR()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200400"/>
            <a:ext cx="3840480" cy="1508760"/>
          </a:xfrm>
          <a:prstGeom prst="rect">
            <a:avLst/>
          </a:prstGeom>
          <a:solidFill>
            <a:srgbClr val="E3F0FF"/>
          </a:solidFill>
          <a:ln w="12700">
            <a:solidFill>
              <a:srgbClr val="E3F0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3200400"/>
            <a:ext cx="3840480" cy="32004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 : DigitalPin, PwmPin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0" y="3520440"/>
            <a:ext cx="3840480" cy="1828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58444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_duty: uint8_t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67328" y="384048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_fadeTarget: uint8_t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67328" y="409651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on() / off() / toggle()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67328" y="435254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setDutyCycle() / fade()  update()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71600" y="2807208"/>
            <a:ext cx="640080" cy="0"/>
          </a:xfrm>
          <a:prstGeom prst="line">
            <a:avLst/>
          </a:prstGeom>
          <a:noFill/>
          <a:ln w="25400">
            <a:solidFill>
              <a:srgbClr val="4ECBA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371600" y="2807208"/>
            <a:ext cx="0" cy="393192"/>
          </a:xfrm>
          <a:prstGeom prst="line">
            <a:avLst/>
          </a:prstGeom>
          <a:noFill/>
          <a:ln w="25400">
            <a:solidFill>
              <a:srgbClr val="4ECBA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017520" y="2807208"/>
            <a:ext cx="237744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394960" y="2807208"/>
            <a:ext cx="0" cy="393192"/>
          </a:xfrm>
          <a:prstGeom prst="line">
            <a:avLst/>
          </a:prstGeom>
          <a:noFill/>
          <a:ln w="25400">
            <a:solidFill>
              <a:srgbClr val="5B8DEF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126480" y="2807208"/>
            <a:ext cx="0" cy="393192"/>
          </a:xfrm>
          <a:prstGeom prst="line">
            <a:avLst/>
          </a:prstGeom>
          <a:noFill/>
          <a:ln w="25400">
            <a:solidFill>
              <a:srgbClr val="5B8DEF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0292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6616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(multiple)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 — ISR + Debounce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56616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0704"/>
            <a:ext cx="38404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include/button.h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"digital_pin.h"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Button : public DigitalPin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Button(uint8_t pin);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isPressed() const;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IRAM_ATTR onISR();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volatile bool     _pressed;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volatile uint32_t _lastMs;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uint32_t DEBOUNCE_MS = 50;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60704"/>
            <a:ext cx="384048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src/button.cpp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"button.h"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Button::Button(uint8_t pin)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DigitalPin(pin, INPUT_PULLUP)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_pressed(false), _lastMs(0) {}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Button::isPressed() const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_pressed;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Button::onISR()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now = millis();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(now - _lastMs &lt; DEBOUNCE_MS)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_pressed = !digitalRead(_pin);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_lastMs  = now;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— PWM + Non-blocking Fade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93192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0704"/>
            <a:ext cx="384048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include/led.h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"digital_pin.h"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"pwm_pin.h"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Led : public DigitalPin,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public PwmPin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Led(uint8_t pin, uint8_t channel);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off();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toggle();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setDutyCycle(uint8_t duty);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fadeTo(uint8_t target,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uint32_t durationMs);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update(); // call in loop()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_duty;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_fadeTarget;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_fadeStepMs;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_lastFadeMs;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60704"/>
            <a:ext cx="384048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Led::Led(uint8_t pin, uint8_t 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DigitalPin(pin, OUTPUT)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PwmPin(pin, 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_duty(0), _fadeTarget(0)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_fadeStepMs(0), _lastFadeMs(0) {}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Led::setDutyCycle(uint8_t 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_duty = 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PwmPin::setDutyCycle(d);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Led::fadeTo(uint8_t t, uint32_t ms)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_fadeTarget = 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_fadeStepMs = ms / 256;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_lastFadeMs = millis();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Led::update()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(_duty == _fadeTarget)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(millis()-_lastFadeMs &lt; _fadeStepMs)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_duty += (_duty &lt; _fadeTarget) ? 1 : -1;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PwmPin::setDutyCycle(_duty);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_lastFadeMs = millis();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Non-blocking update()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loop() timeline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0" y="1801368"/>
            <a:ext cx="36576" cy="34747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9248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1508760"/>
            <a:ext cx="0" cy="621792"/>
          </a:xfrm>
          <a:prstGeom prst="line">
            <a:avLst/>
          </a:prstGeom>
          <a:noFill/>
          <a:ln w="25400">
            <a:solidFill>
              <a:srgbClr val="4ECB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-45720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C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btn.isPressed()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1508760"/>
            <a:ext cx="0" cy="621792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3080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led.update()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1508760"/>
            <a:ext cx="0" cy="621792"/>
          </a:xfrm>
          <a:prstGeom prst="line">
            <a:avLst/>
          </a:prstGeom>
          <a:noFill/>
          <a:ln w="25400">
            <a:solidFill>
              <a:srgbClr val="4ECB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C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btn.isPressed()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1508760"/>
            <a:ext cx="0" cy="621792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led.update()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1508760"/>
            <a:ext cx="0" cy="621792"/>
          </a:xfrm>
          <a:prstGeom prst="line">
            <a:avLst/>
          </a:prstGeom>
          <a:noFill/>
          <a:ln w="25400">
            <a:solidFill>
              <a:srgbClr val="4ECB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C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btn.isPressed()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1508760"/>
            <a:ext cx="0" cy="621792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1307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led.update()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2487168"/>
            <a:ext cx="8229600" cy="56692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487168"/>
            <a:ext cx="64008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2514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 checks millis()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46120" y="25146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immediately if not enough time has passed — never blocks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145536"/>
            <a:ext cx="8229600" cy="56692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145536"/>
            <a:ext cx="64008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1729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 runs at full speed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46120" y="31729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sensors, buttons, Serial all get CPU time every iteration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803904"/>
            <a:ext cx="8229600" cy="56692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803904"/>
            <a:ext cx="64008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8313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delay() in library code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246120" y="383133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delay() freezes loop() — always forbidden in a reusable driver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462272"/>
            <a:ext cx="8229600" cy="566928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462272"/>
            <a:ext cx="64008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4897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_lastFadeMs tracks state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46120" y="44897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Led instance carries its own timer — fully independent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.h / .cpp Split — Rules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header (.h)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declaration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311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/ protected / private members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functions (if tiny)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method bodies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#include &lt;Arduino.h&gt;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source (.cpp)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"own_header.h"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311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body implementations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member definitions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File-local helpers (anonymous ns)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0" cy="3474720"/>
          </a:xfrm>
          <a:prstGeom prst="line">
            <a:avLst/>
          </a:prstGeom>
          <a:noFill/>
          <a:ln w="12700">
            <a:solidFill>
              <a:srgbClr val="2D3A7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2A1A1A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605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from Lesson 6: writing  Button::onISR()  inside the class body in the header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IntelliSense error 392 — "member function may not be redeclared outside its class"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 drivers:: + Include Guards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389120" cy="393192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0704"/>
            <a:ext cx="4114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header: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              // include guard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Button { ...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main.cpp — two options: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 A: fully qualified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drivers::Button btn0(0);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drivers::Led    red(3, 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 B: using declaration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drivers::Button;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drivers::Led;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btn0(0);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   red(3, 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 C: using namespace (avoid!)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namespace drivers;  // pollutes 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1051560"/>
            <a:ext cx="3566160" cy="89611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051560"/>
            <a:ext cx="64008" cy="89611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5232" y="1078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 vs #ifndef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85232" y="1344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include guards.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once is shorter and has 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typos in the guard name.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2039112"/>
            <a:ext cx="3566160" cy="89611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039112"/>
            <a:ext cx="64008" cy="89611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20665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namespace?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85232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clashes when multiple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define a class called 'Button'.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drivers:: makes the origin explicit.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3026664"/>
            <a:ext cx="3566160" cy="89611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026664"/>
            <a:ext cx="64008" cy="896112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30540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A vs 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85232" y="3319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in headers and large files.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fine in main.cpp where the scope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small and obvious.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4014216"/>
            <a:ext cx="3566160" cy="89611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4014216"/>
            <a:ext cx="64008" cy="89611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4041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Option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5232" y="43068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namespace in headers leaks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namespace into every file that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yours — pollutes the build.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main.cpp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0" cy="4023360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0704"/>
            <a:ext cx="42976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"button.h"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"led.h"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drivers;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btn0(0);   // GPIO0, INPUT_PULLUP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btn1(1);   // GPIO1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   red(3, 0); // GPIO3, LEDC ch0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   grn(10,1); // GPIO10, LEDC ch1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isr0() { btn0.onISR();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isr1() { btn1.onISR();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attachInterrupt(0, isr0, CHANGE);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attachInterrupt(1, isr1, CHANGE);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(btn0.isPressed())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red.fadeTo(255, 1000);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red.fadeTo(0,   1000);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(btn1.isPressed()) grn.toggle();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red.update();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0" y="1051560"/>
            <a:ext cx="3474720" cy="89611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1051560"/>
            <a:ext cx="64008" cy="89611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68112" y="1078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BTN0 (GPIO0)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68112" y="1344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→ red LED fades in (1 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→ fades out (1 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039112"/>
            <a:ext cx="3474720" cy="89611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039112"/>
            <a:ext cx="64008" cy="896112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2066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BTN1 (GPIO1)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68112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→ green LED toggles on/off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ISR edge)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3026664"/>
            <a:ext cx="3474720" cy="89611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3026664"/>
            <a:ext cx="64008" cy="89611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3054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red.update()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68112" y="33192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every loop() iteration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fade by 1 step if timer elapsed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4014216"/>
            <a:ext cx="3474720" cy="89611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4014216"/>
            <a:ext cx="64008" cy="896112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objects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43068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before setup()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run pinMode + ledcSetup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Pitfalls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18872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virtual destructor in base class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03520" cy="658368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264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 class DigitalPin { ~DigitalPin() {}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class DigitalPin { virtual ~DigitalPin() {} };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80760" y="13716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virtual, deleting a derived object through a base pointer skips the derived destructor — resource leak.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8229600" cy="1188720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50008"/>
            <a:ext cx="64008" cy="118872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Copying a pin object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5303520" cy="658368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249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 Button b2 = btn0;  // copies _pin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Button(const Button&amp;) = delete;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2670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objects owning the same GPIO pin cause double-attach / double-detach bugs. Disable copy.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8229600" cy="1188720"/>
          </a:xfrm>
          <a:prstGeom prst="rect">
            <a:avLst/>
          </a:prstGeom>
          <a:solidFill>
            <a:srgbClr val="D8DFF5"/>
          </a:solidFill>
          <a:ln w="12700">
            <a:solidFill>
              <a:srgbClr val="D8DF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48456"/>
            <a:ext cx="64008" cy="118872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75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_pressed without volatile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68496"/>
            <a:ext cx="5303520" cy="658368"/>
          </a:xfrm>
          <a:prstGeom prst="rect">
            <a:avLst/>
          </a:prstGeom>
          <a:solidFill>
            <a:srgbClr val="141A3A"/>
          </a:solidFill>
          <a:ln w="12700">
            <a:solidFill>
              <a:srgbClr val="141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23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 bool _pressed;  // may be cached in register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volatile bool _pressed;  // always re-read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39684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and loop() run in different contexts. Without volatile the compiler may not see the ISR update.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— Implement the Library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receive (scaffolding)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.h files (declarations)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button.cpp with TODO stubs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led.cpp with TODO stubs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main.cpp (do not edit)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platformio.ini configured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Button::Button() constructor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10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Button::isPressed()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157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Button::onISR() with debounce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5054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Led::Led() constructor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852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Led::on() / off() / toggle()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Led::setDutyCycle()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Led::fadeTo() + Led::update()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84124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69080"/>
            <a:ext cx="64008" cy="841248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3708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BTN0 held → red LED fades in (1 s)   |   BTN0 released → red fades out   |   BTN1 press → green toggles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9 —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8046720" cy="56692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24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abstraction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124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DigitalPin, AnalogPin, PwmPin hide low-level calls behind a clean interface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8046720" cy="56692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37360"/>
            <a:ext cx="54864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64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7647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and Led extend DigitalPin — reuse without duplication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8046720" cy="56692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377440"/>
            <a:ext cx="54864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404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RAII in drivers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4048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call pinMode / ledcSetup; destructors clean up automatically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8046720" cy="56692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54864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044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Non-blocking update()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044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millis() state machine — never delay() in a reusable driver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8046720" cy="56692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57600"/>
            <a:ext cx="54864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685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 discipline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3685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once, namespace drivers::, .h/.cpp split, no Arduino.h in headers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8046720" cy="566928"/>
          </a:xfrm>
          <a:prstGeom prst="rect">
            <a:avLst/>
          </a:prstGeom>
          <a:solidFill>
            <a:srgbClr val="2D3A7C"/>
          </a:solidFill>
          <a:ln w="12700">
            <a:solidFill>
              <a:srgbClr val="2D3A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297680"/>
            <a:ext cx="54864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325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Pitfalls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43251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destructor, delete copy ctor, volatile for ISR-shared variables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Lesson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 — Creating Peripheral Control Libraries</dc:title>
  <dc:subject>PptxGenJS Presentation</dc:subject>
  <dc:creator>PptxGenJS</dc:creator>
  <cp:lastModifiedBy>PptxGenJS</cp:lastModifiedBy>
  <cp:revision>1</cp:revision>
  <dcterms:created xsi:type="dcterms:W3CDTF">2026-03-13T14:58:38Z</dcterms:created>
  <dcterms:modified xsi:type="dcterms:W3CDTF">2026-03-13T14:58:38Z</dcterms:modified>
</cp:coreProperties>
</file>