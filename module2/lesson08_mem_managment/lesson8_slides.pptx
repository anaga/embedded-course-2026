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97280"/>
            <a:ext cx="256032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2  //  C++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RAII, Memory Handling,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Libraries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0"/>
            <a:ext cx="502920" cy="502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6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2026  |  ESP32-C3 Super Mini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resource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/ destructor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280160"/>
            <a:ext cx="2560320" cy="31089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Handling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5760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Heap,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new/delete pitfalls,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new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280160"/>
            <a:ext cx="256032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Libraries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49224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parts of STL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usable on ESP32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Arduino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Unmanaged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can go wrong?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blinkTask() 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pinMode(LED_PIN, OUTPUT);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some logic ...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early return!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digitalWrite(LED_PIN, LOW);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965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left in unknown state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688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stays ON after error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718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40680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not freed on exception path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7472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4068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keeps running after task ends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7764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40680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cleanup on early return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RAII: Resource Acquisition Is Initialization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74904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97280"/>
            <a:ext cx="64008" cy="13716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the resource: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pinMode(), allocate buffer,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timer, open 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74904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64008" cy="137160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Destructor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the resource: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digitalWrite(LOW), free buffer,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timer, close file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2834640"/>
            <a:ext cx="64008" cy="109728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guarantees the destructor runs when the object goes out of scope.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early return, even on exception. Cleanup is automatic and unavoidable.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 in Practice: PinOwner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846320" cy="347472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PinOwner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pin_;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state_;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PinOwner(uint8_t p, uint8_t mode)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pin_(p), state_(false)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pinMode(pin_, mode);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~PinOwner()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digitalWrite(pin_, LOW);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pinMode(pin_, INPUT);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set(bool v)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 = v;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digitalWrite(pin_, v);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configures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 (acquires resource)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2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resets pin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safe INPUT state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2004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20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goes out of scope?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runs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Scope-Based Lifetime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846320" cy="3200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doWork() 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PinOwner led(3, OUTPUT);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^ constructor runs here
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led.set(HIGH);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
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(checkError()) return;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^ destructor STILL runs!
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led.set(LOW);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destructor runs here too
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35040" y="1508760"/>
            <a:ext cx="0" cy="237744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880" y="1417320"/>
            <a:ext cx="274320" cy="27432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214884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 use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2880360"/>
            <a:ext cx="274320" cy="274320"/>
          </a:xfrm>
          <a:prstGeom prst="ellipse">
            <a:avLst/>
          </a:prstGeom>
          <a:solidFill>
            <a:srgbClr val="E0A0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3611880"/>
            <a:ext cx="274320" cy="274320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runs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Layout: Stack vs Heap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74904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97280"/>
            <a:ext cx="3749040" cy="4572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storage (local vars)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(~8 KB per task on ESP32)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60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LIFO: grows/shrinks with scope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175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allocation (pointer bump)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2900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fragmentation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84048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8872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manages lifetime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4754880" y="1097280"/>
            <a:ext cx="374904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754880" y="1097280"/>
            <a:ext cx="3749040" cy="457200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22" name="Text 13"/>
          <p:cNvSpPr/>
          <p:nvPr/>
        </p:nvSpPr>
        <p:spPr>
          <a:xfrm>
            <a:off x="47548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</a:t>
            </a:r>
            <a:endParaRPr lang="en-US" sz="16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783080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storage (new / malloc)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19456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035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 (~300 KB on ESP32-C3)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60604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0352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/ freed in any order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017520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035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allocator overhead</a:t>
            </a:r>
            <a:endParaRPr lang="en-US" sz="11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429000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0352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over time!</a:t>
            </a:r>
            <a:endParaRPr lang="en-US" sz="11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480" y="384048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30352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lifetime</a:t>
            </a:r>
            <a:endParaRPr lang="en-US" sz="1100" dirty="0"/>
          </a:p>
        </p:txBody>
      </p:sp>
      <p:sp>
        <p:nvSpPr>
          <p:cNvPr id="35" name="Shape 2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36" name="Text 21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Memory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KB SRAM total, but your app gets much less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114800" cy="50292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44752"/>
            <a:ext cx="3749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(4 MB)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43634"/>
            <a:ext cx="3749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.rodata, string literals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75104"/>
            <a:ext cx="4114800" cy="411480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02536"/>
            <a:ext cx="3749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.data + .bss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60270"/>
            <a:ext cx="3749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Globals, static variables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4114800" cy="1097280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 (~300 KB)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352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/ new / Arduino String internals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4114800" cy="54864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Stacks (in Heap!)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= 8 KB, each xTaskCreate gets its 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4114800" cy="4114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24528"/>
            <a:ext cx="3749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IDF + Wi-Fi/BLE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82262"/>
            <a:ext cx="3749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by ESP-IDF runtime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417320"/>
            <a:ext cx="3383280" cy="18288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1417320"/>
            <a:ext cx="54864" cy="18288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7607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FreeRTOS Key Fact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4924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stacks are allocated FROM the heap!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 "stack grows down, heap grows up" model. Each task gets a fixed-size block carved out of the shared heap pool.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120640" y="3429000"/>
            <a:ext cx="3383280" cy="109728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23760" y="3520440"/>
            <a:ext cx="73152" cy="164592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03520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count;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223760" y="3767328"/>
            <a:ext cx="73152" cy="164592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30" name="Text 27"/>
          <p:cNvSpPr/>
          <p:nvPr/>
        </p:nvSpPr>
        <p:spPr>
          <a:xfrm>
            <a:off x="7406640" y="3739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303520" y="3986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PinOwner(...)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23760" y="4014216"/>
            <a:ext cx="73152" cy="164592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33" name="Text 30"/>
          <p:cNvSpPr/>
          <p:nvPr/>
        </p:nvSpPr>
        <p:spPr>
          <a:xfrm>
            <a:off x="7406640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03520" y="4233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223760" y="4261104"/>
            <a:ext cx="73152" cy="164592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36" name="Text 33"/>
          <p:cNvSpPr/>
          <p:nvPr/>
        </p:nvSpPr>
        <p:spPr>
          <a:xfrm>
            <a:off x="7406640" y="4233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52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Overflow: How It Happens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Unbounded Recursion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3931920" cy="237744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087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boom(uint32_t depth)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pad[128]; // 128 B/frame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"depth: %u\n", depth);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boom(depth + 1);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never returns!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 boom(0); }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Local Array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417320"/>
            <a:ext cx="3657600" cy="146304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508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16 KB &gt; 8 KB stack!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big[16384];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memset(big, 0,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sizeof(big));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6576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3108960"/>
            <a:ext cx="54864" cy="68580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Response: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canary watchpoint triggered (loopTask)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873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8192 bytes / ~160 bytes per frame = ~51 calls before crash. With pad[128], even fewer.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Stack &amp; Heap Monitoring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051560"/>
            <a:ext cx="5029200" cy="301752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1430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printDiagnostics() {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UBaseType_t hwm =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uxTaskGetStackHighWaterMark(NULL);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freeHeap =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heap_caps_get_free_size(MALLOC_CAP_DEFAULT);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maxBlock =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heap_caps_get_largest_free_block(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MALLOC_CAP_DEFAULT);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Serial.printf("HWM:%u H:%u B:%u\n",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hwm, freeHeap, maxBlock);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43600" y="1051560"/>
            <a:ext cx="2743200" cy="6858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0" y="1051560"/>
            <a:ext cx="54864" cy="6858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078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HighWaterMark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free stack EVER.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0 = danger!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1828800"/>
            <a:ext cx="2743200" cy="6858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0" y="1828800"/>
            <a:ext cx="54864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856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free_size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free heap bytes.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over time = leak.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2606040"/>
            <a:ext cx="2743200" cy="6858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2606040"/>
            <a:ext cx="54864" cy="685800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largest_free_block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contiguous block.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 free_size = fragmentation!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E8EDF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7024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8720" y="42062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printDiagnostics() periodically in loop() during development. Remove for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Avoid new/delete on MCU?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over time: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Fresh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0" name="Shape 8"/>
          <p:cNvSpPr/>
          <p:nvPr/>
        </p:nvSpPr>
        <p:spPr>
          <a:xfrm>
            <a:off x="553212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141732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After free()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192024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192024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92024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7" name="Shape 15"/>
          <p:cNvSpPr/>
          <p:nvPr/>
        </p:nvSpPr>
        <p:spPr>
          <a:xfrm>
            <a:off x="3977640" y="192024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92024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532120" y="192024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92024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192024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T3: Need 3 blocks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42316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4" name="Shape 22"/>
          <p:cNvSpPr/>
          <p:nvPr/>
        </p:nvSpPr>
        <p:spPr>
          <a:xfrm>
            <a:off x="2423160" y="242316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242316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7640" y="242316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42316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8" name="Shape 26"/>
          <p:cNvSpPr/>
          <p:nvPr/>
        </p:nvSpPr>
        <p:spPr>
          <a:xfrm>
            <a:off x="5532120" y="242316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2423160"/>
            <a:ext cx="731520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0" name="Shape 28"/>
          <p:cNvSpPr/>
          <p:nvPr/>
        </p:nvSpPr>
        <p:spPr>
          <a:xfrm>
            <a:off x="7086600" y="2423160"/>
            <a:ext cx="731520" cy="365760"/>
          </a:xfrm>
          <a:prstGeom prst="rect">
            <a:avLst/>
          </a:prstGeom>
          <a:solidFill>
            <a:srgbClr val="4CAF7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487168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free blocks, but not contiguous. Allocation of 3 fails!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4" name="Shape 31"/>
          <p:cNvSpPr/>
          <p:nvPr/>
        </p:nvSpPr>
        <p:spPr>
          <a:xfrm>
            <a:off x="640080" y="3383280"/>
            <a:ext cx="54864" cy="100584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" y="34290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MMU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have no Memory Management Unit. No virtual memory, no page swapping.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heap = permanent problem until reboot. Long-running systems eventually crash.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Checking Heap at Runtime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56032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&lt;esp_heap_caps.h&gt;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printHeapInfo() 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Serial.printf("Free heap: %u bytes\n",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heap_caps_get_free_size(MALLOC_CAP_DEFAULT));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Serial.printf("Largest block: %u bytes\n",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heap_caps_get_largest_free_block(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MALLOC_CAP_DEFAULT));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E8ED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502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Compare free_size vs largest_block. Big gap = fragmentation!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 new &amp; Static Pools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 memory at compile time. Construct objects in-place at runtime.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0" cy="27432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&lt;new&gt;  // for placement new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buffer - no heap!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alignas(PinOwner)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buf[sizeof(PinOwner)];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 in pre-allocated buf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auto* p = new (buf) PinOwner(3, OUTPUT);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 manually call destructor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p-&gt;~PinOwner();
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use: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0116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pools for sensors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146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buffer arrays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ISR-safe data structures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52044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093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heap allocation systems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17" name="Text 11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 Standard Libraries on ESP32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5577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&lt;array&gt;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Fixed-size, stack-allocated, no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&lt;algorithm&gt;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sort, find, min, max, clamp — all useful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&lt;cstring&gt;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memcpy, memset, strlen — C classics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&lt;cstdint&gt;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uint8_t, int32_t — already using these!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&lt;type_traits&gt;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checks, zero runtime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&lt;string&gt;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allocation — heap fragmentation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&lt;vector&gt;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dynamically — same risk as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&lt;iostream&gt;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binary size, use Serial 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on MCU: Three Approaches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320040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heap allocation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memory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overhead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buffer mgmt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2011680" cy="36576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560320" cy="320040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fragmentation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copies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3657600"/>
            <a:ext cx="2011680" cy="365760"/>
          </a:xfrm>
          <a:prstGeom prst="rect">
            <a:avLst/>
          </a:prstGeom>
          <a:solidFill>
            <a:srgbClr val="E0A05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097280"/>
            <a:ext cx="2560320" cy="320040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String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concatenation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heap usage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fragmentation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Reallocates often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657600"/>
            <a:ext cx="2011680" cy="3657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if possible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 + Memory: The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645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1645920" cy="54864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55448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7520" y="1188720"/>
            <a:ext cx="1645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7520" y="1188720"/>
            <a:ext cx="16459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0896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resource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94960" y="1188720"/>
            <a:ext cx="1645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94960" y="1188720"/>
            <a:ext cx="164592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scope-bound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15200" y="1188720"/>
            <a:ext cx="1645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1188720"/>
            <a:ext cx="164592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1" name="Text 16"/>
          <p:cNvSpPr/>
          <p:nvPr/>
        </p:nvSpPr>
        <p:spPr>
          <a:xfrm>
            <a:off x="740664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Cleans Up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406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0080" y="2743200"/>
            <a:ext cx="7863840" cy="15544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2834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stack allocation over heap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2783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1821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RAII to tie resource lifetime to object lifetime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7530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34440" y="35295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use heap, wrap it in an RAII class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22776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34440" y="387705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heap with heap_caps_ functions during development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33" name="Text 24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acquires, destructor releases. Compiler guarantees cleanup on scope exit.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over Heap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2331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fast and predictable. Heap fragments without MMU. Avoid new/delete when possible.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2834640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71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 new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 static buffers. Construct objects in-place. Zero heap overhead.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703320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STL on ESP32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&lt;array&gt;, &lt;algorithm&gt;, &lt;cstring&gt; are safe. Avoid &lt;iostream&gt;, be careful with &lt;string&gt; and &lt;vector&gt;.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 |  RAII, Memory Handling, Standard Libraries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 (TBD)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260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RAII with PinOwner or similar classes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heap monitoring via Serial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previous lesson code using RAII principles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33"/>
          </a:solidFill>
          <a:ln/>
        </p:spPr>
      </p:sp>
      <p:sp>
        <p:nvSpPr>
          <p:cNvPr id="12" name="Text 7"/>
          <p:cNvSpPr/>
          <p:nvPr/>
        </p:nvSpPr>
        <p:spPr>
          <a:xfrm>
            <a:off x="640080" y="461772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2026  |  ESP32-C3 Super Mini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8: RAII, Memory Handling, Standard Libraries</dc:title>
  <dc:subject>PptxGenJS Presentation</dc:subject>
  <dc:creator>Embedded Course 2026</dc:creator>
  <cp:lastModifiedBy>Embedded Course 2026</cp:lastModifiedBy>
  <cp:revision>1</cp:revision>
  <dcterms:created xsi:type="dcterms:W3CDTF">2026-03-11T14:15:40Z</dcterms:created>
  <dcterms:modified xsi:type="dcterms:W3CDTF">2026-03-11T14:15:40Z</dcterms:modified>
</cp:coreProperties>
</file>