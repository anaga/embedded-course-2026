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C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spc="600" kern="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07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Inheritance, Templates</a:t>
            </a:r>
            <a:endParaRPr lang="en-US" sz="4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and Data Structures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383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Extending classes, generic code, and embedded containers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Systems Course 2026  |  ESP32-C3 Super Mini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645920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Today's Agenda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2588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280160" y="157276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and derived classes, reusing code through hierarchy</a:t>
            </a:r>
            <a:endParaRPr lang="en-US" sz="1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39112"/>
            <a:ext cx="320040" cy="3200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80160" y="19933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Functions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1280160" y="22860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 — one interface, different behaviors</a:t>
            </a:r>
            <a:endParaRPr lang="en-US" sz="12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752344"/>
            <a:ext cx="320040" cy="3200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80160" y="270662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1280160" y="299923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once, use with any type — generic programming</a:t>
            </a:r>
            <a:endParaRPr lang="en-US" sz="12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465576"/>
            <a:ext cx="320040" cy="32004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80160" y="341985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 Buffer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1280160" y="3712464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essential embedded data structure — template implementation</a:t>
            </a:r>
            <a:endParaRPr lang="en-US" sz="12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178808"/>
            <a:ext cx="320040" cy="32004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80160" y="41330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Practical: Shape Hierarchy</a:t>
            </a:r>
            <a:endParaRPr lang="en-US" sz="1600" dirty="0"/>
          </a:p>
        </p:txBody>
      </p:sp>
      <p:sp>
        <p:nvSpPr>
          <p:cNvPr id="17" name="Text 10"/>
          <p:cNvSpPr/>
          <p:nvPr/>
        </p:nvSpPr>
        <p:spPr>
          <a:xfrm>
            <a:off x="1280160" y="4425696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dots.h — Circle, Rectangle inheriting from Point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Inheritance?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derived class inherits all members from a base class, then adds or overrides its own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0" y="1417320"/>
            <a:ext cx="2743200" cy="914400"/>
          </a:xfrm>
          <a:prstGeom prst="rect">
            <a:avLst/>
          </a:prstGeom>
          <a:solidFill>
            <a:srgbClr val="4A90D9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0" y="14173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x, y, print(), moveX()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2926080"/>
            <a:ext cx="3017520" cy="914400"/>
          </a:xfrm>
          <a:prstGeom prst="rect">
            <a:avLst/>
          </a:prstGeom>
          <a:solidFill>
            <a:srgbClr val="1ABC9C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29260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circle : public point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radius, area(), circumference()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394960" y="2926080"/>
            <a:ext cx="3017520" cy="914400"/>
          </a:xfrm>
          <a:prstGeom prst="rect">
            <a:avLst/>
          </a:prstGeom>
          <a:solidFill>
            <a:srgbClr val="9B59B6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394960" y="29260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rectangle : public point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width, height, area(), perimeter()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0" y="2331720"/>
            <a:ext cx="-1417320" cy="59436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0" y="2331720"/>
            <a:ext cx="1417320" cy="59436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solidFill>
            <a:srgbClr val="141C3D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206240"/>
            <a:ext cx="320040" cy="3200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097280" y="411480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 and rectangle get x, y, print(), moveX() for free — they only add what is new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Inheritance Syntax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3017520"/>
          </a:xfrm>
          <a:prstGeom prst="rect">
            <a:avLst/>
          </a:prstGeom>
          <a:solidFill>
            <a:srgbClr val="141E33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1143000"/>
            <a:ext cx="7955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Base class (from Lesson 6)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point {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protected:             // &lt;-- changed from private!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uint8_t x;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uint8_t y;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point(uint8_t x, uint8_t y);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print() const;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Derived class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circle : public point {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uint8_t radius_;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circle(uint8_t x, uint8_t y, uint8_t r);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float area() const;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print() const;     // override base version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217920" y="1371600"/>
            <a:ext cx="2286000" cy="502920"/>
          </a:xfrm>
          <a:prstGeom prst="rect">
            <a:avLst/>
          </a:prstGeom>
          <a:solidFill>
            <a:srgbClr val="141C3D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217920" y="13716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protected: children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access, outsiders cannot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217920" y="2880360"/>
            <a:ext cx="2286000" cy="502920"/>
          </a:xfrm>
          <a:prstGeom prst="rect">
            <a:avLst/>
          </a:prstGeom>
          <a:solidFill>
            <a:srgbClr val="141C3D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217920" y="28803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public point means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 all public members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4297680"/>
            <a:ext cx="8229600" cy="502920"/>
          </a:xfrm>
          <a:prstGeom prst="rect">
            <a:avLst/>
          </a:prstGeom>
          <a:solidFill>
            <a:srgbClr val="141C3D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429768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only this class    </a:t>
            </a:r>
            <a:pPr algn="ctr" indent="0" marL="0">
              <a:buNone/>
            </a:pPr>
            <a:r>
              <a:rPr lang="en-US" sz="12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protected</a:t>
            </a:r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this class + children    </a:t>
            </a:r>
            <a:pPr algn="ctr" indent="0" marL="0">
              <a:buNone/>
            </a:pPr>
            <a:r>
              <a:rPr lang="en-US" sz="120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everyone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Constructor Chaining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derived constructor must call the base constructor to initialize inherited members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8229600" cy="2286000"/>
          </a:xfrm>
          <a:prstGeom prst="rect">
            <a:avLst/>
          </a:prstGeom>
          <a:solidFill>
            <a:srgbClr val="141E33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463040"/>
            <a:ext cx="7955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circle constructor calls point constructor first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circle::circle(uint8_t x, uint8_t y, uint8_t r)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: point(x, y)          // &lt;-- base class constructor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, radius_(r)            // then own members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Serial.printf("Circle created at (%d,%d) r=%d\n", x, y, r);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Usage: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circle c(5, 10, 3);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1. point::point(5, 10) runs first   — sets x, y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2. circle::circle body runs second  — sets radius_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" y="3931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order: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4297680"/>
            <a:ext cx="2011680" cy="457200"/>
          </a:xfrm>
          <a:prstGeom prst="rect">
            <a:avLst/>
          </a:prstGeom>
          <a:solidFill>
            <a:srgbClr val="4A90D9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4297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Base ctor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0" y="4297680"/>
            <a:ext cx="2011680" cy="457200"/>
          </a:xfrm>
          <a:prstGeom prst="rect">
            <a:avLst/>
          </a:prstGeom>
          <a:solidFill>
            <a:srgbClr val="1ABC9C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43200" y="4297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Derived ctor</a:t>
            </a:r>
            <a:endParaRPr lang="en-US" sz="12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0" y="4389120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029200" y="42976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Destruction: reverse order (derived first, then base)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Virtual Functions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2560320"/>
          </a:xfrm>
          <a:prstGeom prst="rect">
            <a:avLst/>
          </a:prstGeom>
          <a:solidFill>
            <a:srgbClr val="141E33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1051560"/>
            <a:ext cx="7955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point 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virtual void print() const {         // virtual = can be overridden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Serial.printf("Point(%d,%d)\n", x, y);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virtual ~point() {}                  // virtual destructor!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circle : public point 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print() const override {        // override = compiler checks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Serial.printf("Circle(%d,%d) r=%d\n", x, y, radius_);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Polymorphism in action: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point* shape = &amp;myCircle;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shape-&gt;print();   // calls circle::print(), not point::print()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3749040"/>
            <a:ext cx="8229600" cy="384048"/>
          </a:xfrm>
          <a:prstGeom prst="rect">
            <a:avLst/>
          </a:prstGeom>
          <a:solidFill>
            <a:srgbClr val="141C3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7490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virtual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03120" y="37490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compiler: this method may be overridden by children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4187952"/>
            <a:ext cx="8229600" cy="384048"/>
          </a:xfrm>
          <a:prstGeom prst="rect">
            <a:avLst/>
          </a:prstGeom>
          <a:solidFill>
            <a:srgbClr val="141C3D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18795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override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03120" y="4187952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compiler: I intend to override — error if base has no such virtual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626864"/>
            <a:ext cx="8229600" cy="384048"/>
          </a:xfrm>
          <a:prstGeom prst="rect">
            <a:avLst/>
          </a:prstGeom>
          <a:solidFill>
            <a:srgbClr val="141C3D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62686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virtual ~dtor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03120" y="4626864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the right destructor runs when deleting through base pointer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Virtual Functions in Embedded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cost: vtable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931920" cy="2103120"/>
          </a:xfrm>
          <a:prstGeom prst="rect">
            <a:avLst/>
          </a:prstGeom>
          <a:solidFill>
            <a:srgbClr val="141C3D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572768"/>
            <a:ext cx="182880" cy="182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536192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class with virtual methods gets a vtable (array of function pointers)</a:t>
            </a:r>
            <a:endParaRPr lang="en-US" sz="10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029968"/>
            <a:ext cx="182880" cy="1828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4400" y="1993392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object gets a hidden vptr (pointer to its vtable) — typically 4 bytes on 32-bit</a:t>
            </a:r>
            <a:endParaRPr lang="en-US" sz="10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487168"/>
            <a:ext cx="182880" cy="1828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14400" y="2450592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call goes through one extra indirection (vptr -&gt; vtable -&gt; function)</a:t>
            </a:r>
            <a:endParaRPr lang="en-US" sz="10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2944368"/>
            <a:ext cx="182880" cy="18288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14400" y="2907792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cannot inline virtual calls</a:t>
            </a:r>
            <a:endParaRPr lang="en-US" sz="1000" dirty="0"/>
          </a:p>
        </p:txBody>
      </p:sp>
      <p:sp>
        <p:nvSpPr>
          <p:cNvPr id="13" name="Text 7"/>
          <p:cNvSpPr/>
          <p:nvPr/>
        </p:nvSpPr>
        <p:spPr>
          <a:xfrm>
            <a:off x="4800600" y="10515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it anyway</a:t>
            </a:r>
            <a:endParaRPr lang="en-US" sz="1400" dirty="0"/>
          </a:p>
        </p:txBody>
      </p:sp>
      <p:sp>
        <p:nvSpPr>
          <p:cNvPr id="14" name="Shape 8"/>
          <p:cNvSpPr/>
          <p:nvPr/>
        </p:nvSpPr>
        <p:spPr>
          <a:xfrm>
            <a:off x="4800600" y="1463040"/>
            <a:ext cx="3931920" cy="2103120"/>
          </a:xfrm>
          <a:prstGeom prst="rect">
            <a:avLst/>
          </a:prstGeom>
          <a:solidFill>
            <a:srgbClr val="141C3D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1572768"/>
            <a:ext cx="182880" cy="18288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257800" y="1536192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 interfaces (e.g. sensor drivers with different read() implementations)</a:t>
            </a:r>
            <a:endParaRPr lang="en-US" sz="10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2029968"/>
            <a:ext cx="182880" cy="18288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5257800" y="1993392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/ strategy pattern (swap behavior at runtime)</a:t>
            </a:r>
            <a:endParaRPr lang="en-US" sz="100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0" y="2487168"/>
            <a:ext cx="182880" cy="18288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5257800" y="2450592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 layers where the same API runs on different hardware</a:t>
            </a:r>
            <a:endParaRPr lang="en-US" sz="1000" dirty="0"/>
          </a:p>
        </p:txBody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7760" y="2944368"/>
            <a:ext cx="182880" cy="182880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5257800" y="2907792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cost (4 bytes + indirection) is acceptable for the flexibility gained</a:t>
            </a:r>
            <a:endParaRPr lang="en-US" sz="1000" dirty="0"/>
          </a:p>
        </p:txBody>
      </p:sp>
      <p:sp>
        <p:nvSpPr>
          <p:cNvPr id="23" name="Shape 13"/>
          <p:cNvSpPr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solidFill>
            <a:srgbClr val="141C3D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" y="4023360"/>
            <a:ext cx="320040" cy="320040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1097280" y="3840480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ESP32 (320KB RAM, 160MHz) virtual functions are fine. On an 8-bit AVR with 2KB RAM, avoid them. 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(next slides) give polymorphism at compile time with zero runtime cost.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Templates: Generic Functions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one function that works with any type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templates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931920" cy="1645920"/>
          </a:xfrm>
          <a:prstGeom prst="rect">
            <a:avLst/>
          </a:prstGeom>
          <a:solidFill>
            <a:srgbClr val="141E33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8288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    maxInt(int a, int b);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  maxFloat(float a, float b);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uint8_t maxU8(uint8_t a, uint8_t b);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 duplicate for every type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800600" y="13716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templates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00600" y="1737360"/>
            <a:ext cx="3931920" cy="1645920"/>
          </a:xfrm>
          <a:prstGeom prst="rect">
            <a:avLst/>
          </a:prstGeom>
          <a:solidFill>
            <a:srgbClr val="141E33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8288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template&lt;typename T&gt;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myMax(T a, T b) {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(a &gt; b) ? a : b;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myMax(10, 20);       // T = int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myMax(3.14f, 2.71f); // T = float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myMax&lt;uint8_t&gt;(x,y); // explicit 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solidFill>
            <a:srgbClr val="141C3D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794760"/>
            <a:ext cx="320040" cy="3200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97280" y="3703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097280" y="4023360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compiler generates a separate function for each type used.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myMax&lt;int&gt; and myMax&lt;float&gt; are two independent functions in the binary.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runtime cost — all resolved at compile time. But: more code in flash (code bloat).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Templates: Generic Classes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2743200"/>
          </a:xfrm>
          <a:prstGeom prst="rect">
            <a:avLst/>
          </a:prstGeom>
          <a:solidFill>
            <a:srgbClr val="141E33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1097280"/>
            <a:ext cx="7955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template&lt;typename T, uint8_t SIZE&gt;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StaticArray 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    data_[SIZE];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uint8_t count_;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StaticArray() : count_(0) {}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bool push(const T&amp; value) 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(count_ &gt;= SIZE) return false;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data_[count_++] = value;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true;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T&amp; operator[](uint8_t index) { return data_[index]; }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uint8_t size() const { return count_; }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Usage: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StaticArray&lt;uint16_t, 10&gt; readings;    // 10 x uint16_t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StaticArray&lt;point, 5&gt;     waypoints;   // 5 x point objects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4023360"/>
            <a:ext cx="8229600" cy="731520"/>
          </a:xfrm>
          <a:prstGeom prst="rect">
            <a:avLst/>
          </a:prstGeom>
          <a:solidFill>
            <a:srgbClr val="141C3D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1605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4023360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Non-type template parameter: </a:t>
            </a:r>
            <a:pPr algn="l" indent="0" marL="0">
              <a:buNone/>
            </a:pPr>
            <a:r>
              <a:rPr lang="en-US" sz="120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known at compile time — the array lives on the stack, no </a:t>
            </a:r>
            <a:pPr algn="l" indent="0" marL="0">
              <a:buNone/>
            </a:pPr>
            <a:r>
              <a:rPr lang="en-US" sz="1200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new/malloc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needed. Perfect for embedded.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Template Rules for Embedded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solidFill>
            <a:srgbClr val="141C3D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73152" cy="8229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1430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in header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44475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code must be in the .h file (or an .hpp/.tpp included by the header). The compiler needs to see the full definition to generate code for each type.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8229600" cy="822960"/>
          </a:xfrm>
          <a:prstGeom prst="rect">
            <a:avLst/>
          </a:prstGeom>
          <a:solidFill>
            <a:srgbClr val="141C3D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057400"/>
            <a:ext cx="73152" cy="82296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1031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.cpp for templates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240487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regular classes, you cannot split declaration and definition into .h and .cpp. A template in a .cpp file will cause linker errors.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8229600" cy="822960"/>
          </a:xfrm>
          <a:prstGeom prst="rect">
            <a:avLst/>
          </a:prstGeom>
          <a:solidFill>
            <a:srgbClr val="141C3D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3017520"/>
            <a:ext cx="73152" cy="82296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063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fixed sizes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" y="336499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non-type parameters (uint8_t SIZE) for buffer sizes. This keeps everything on the stack — no heap, no fragmentation, deterministic timing.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977640"/>
            <a:ext cx="8229600" cy="822960"/>
          </a:xfrm>
          <a:prstGeom prst="rect">
            <a:avLst/>
          </a:prstGeom>
          <a:solidFill>
            <a:srgbClr val="141C3D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977640"/>
            <a:ext cx="73152" cy="82296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0233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code bloat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" y="432511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instantiation (RingBuffer&lt;uint8_t,10&gt;, RingBuffer&lt;float,10&gt;) creates separate code. On ESP32 (4MB flash) this is fine. On ATtiny (8KB) — be careful.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Ring Buffer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1148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important data structure in embedded systems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731520" y="1554480"/>
            <a:ext cx="822960" cy="640080"/>
          </a:xfrm>
          <a:prstGeom prst="rect">
            <a:avLst/>
          </a:prstGeom>
          <a:solidFill>
            <a:srgbClr val="4A90D9"/>
          </a:solidFill>
          <a:ln w="12700">
            <a:solidFill>
              <a:srgbClr val="8899B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55448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31520" y="19659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[0]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627632" y="1554480"/>
            <a:ext cx="822960" cy="640080"/>
          </a:xfrm>
          <a:prstGeom prst="rect">
            <a:avLst/>
          </a:prstGeom>
          <a:solidFill>
            <a:srgbClr val="4A90D9"/>
          </a:solidFill>
          <a:ln w="12700">
            <a:solidFill>
              <a:srgbClr val="8899B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627632" y="155448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627632" y="19659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523744" y="1554480"/>
            <a:ext cx="822960" cy="640080"/>
          </a:xfrm>
          <a:prstGeom prst="rect">
            <a:avLst/>
          </a:prstGeom>
          <a:solidFill>
            <a:srgbClr val="4A90D9"/>
          </a:solidFill>
          <a:ln w="12700">
            <a:solidFill>
              <a:srgbClr val="8899B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523744" y="155448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88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2523744" y="19659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[2]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419856" y="1554480"/>
            <a:ext cx="822960" cy="640080"/>
          </a:xfrm>
          <a:prstGeom prst="rect">
            <a:avLst/>
          </a:prstGeom>
          <a:solidFill>
            <a:srgbClr val="4A90D9"/>
          </a:solidFill>
          <a:ln w="12700">
            <a:solidFill>
              <a:srgbClr val="8899B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19856" y="155448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419856" y="19659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[3]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315968" y="1554480"/>
            <a:ext cx="822960" cy="640080"/>
          </a:xfrm>
          <a:prstGeom prst="rect">
            <a:avLst/>
          </a:prstGeom>
          <a:solidFill>
            <a:srgbClr val="141C3D"/>
          </a:solidFill>
          <a:ln w="12700">
            <a:solidFill>
              <a:srgbClr val="8899B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315968" y="155448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315968" y="19659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[4]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212080" y="1554480"/>
            <a:ext cx="822960" cy="640080"/>
          </a:xfrm>
          <a:prstGeom prst="rect">
            <a:avLst/>
          </a:prstGeom>
          <a:solidFill>
            <a:srgbClr val="141C3D"/>
          </a:solidFill>
          <a:ln w="12700">
            <a:solidFill>
              <a:srgbClr val="8899B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212080" y="155448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212080" y="19659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[5]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6108192" y="1554480"/>
            <a:ext cx="822960" cy="640080"/>
          </a:xfrm>
          <a:prstGeom prst="rect">
            <a:avLst/>
          </a:prstGeom>
          <a:solidFill>
            <a:srgbClr val="141C3D"/>
          </a:solidFill>
          <a:ln w="12700">
            <a:solidFill>
              <a:srgbClr val="8899B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108192" y="155448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108192" y="19659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[6]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7004304" y="1554480"/>
            <a:ext cx="822960" cy="640080"/>
          </a:xfrm>
          <a:prstGeom prst="rect">
            <a:avLst/>
          </a:prstGeom>
          <a:solidFill>
            <a:srgbClr val="141C3D"/>
          </a:solidFill>
          <a:ln w="12700">
            <a:solidFill>
              <a:srgbClr val="8899B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004304" y="155448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7004304" y="19659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[7]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4315968" y="12801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731520" y="12801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tail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ring buffers are used:</a:t>
            </a:r>
            <a:endParaRPr lang="en-US" sz="1400" dirty="0"/>
          </a:p>
        </p:txBody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017520"/>
            <a:ext cx="182880" cy="182880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868680" y="29900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 receive buffer — bytes arrive via interrupt, main loop reads them</a:t>
            </a:r>
            <a:endParaRPr lang="en-US" sz="1100" dirty="0"/>
          </a:p>
        </p:txBody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337560"/>
            <a:ext cx="182880" cy="18288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868680" y="33101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data logging — store last N readings, overwrite oldest</a:t>
            </a:r>
            <a:endParaRPr lang="en-US" sz="1100" dirty="0"/>
          </a:p>
        </p:txBody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657600"/>
            <a:ext cx="182880" cy="182880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868680" y="36301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queue — ISR pushes events, loop() processes them</a:t>
            </a:r>
            <a:endParaRPr lang="en-US" sz="1100" dirty="0"/>
          </a:p>
        </p:txBody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977640"/>
            <a:ext cx="182880" cy="182880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868680" y="39502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/ signal processing — sliding window over incoming samples</a:t>
            </a:r>
            <a:endParaRPr lang="en-US" sz="1100" dirty="0"/>
          </a:p>
        </p:txBody>
      </p:sp>
      <p:sp>
        <p:nvSpPr>
          <p:cNvPr id="40" name="Shape 33"/>
          <p:cNvSpPr/>
          <p:nvPr/>
        </p:nvSpPr>
        <p:spPr>
          <a:xfrm>
            <a:off x="457200" y="4343400"/>
            <a:ext cx="8229600" cy="502920"/>
          </a:xfrm>
          <a:prstGeom prst="rect">
            <a:avLst/>
          </a:prstGeom>
          <a:solidFill>
            <a:srgbClr val="141C3D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1" name="Text 34"/>
          <p:cNvSpPr/>
          <p:nvPr/>
        </p:nvSpPr>
        <p:spPr>
          <a:xfrm>
            <a:off x="594360" y="434340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size, no allocation, O(1) push/pop, wraps around when full — ideal for MCUs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Ring Buffer: Template Class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solidFill>
            <a:srgbClr val="141E33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1051560"/>
            <a:ext cx="79552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template&lt;typename T, uint8_t SIZE&gt;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RingBuffer {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       buf_[SIZE];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uint8_t head_;          // next write position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uint8_t count_;         // number of items stored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RingBuffer() : head_(0), count_(0) {}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push(const T&amp; item) {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buf_[head_] = item;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head_ = (head_ + 1) % SIZE;         // wrap around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(count_ &lt; SIZE) count_++;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 peek(uint8_t age = 0) const {          // 0 = newest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uint8_t idx = (head_ - 1 - age + SIZE) % SIZE;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buf_[idx];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uint8_t count() const { return count_; }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bool    full()  const { return count_ == SIZE; }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Usage: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RingBuffer&lt;uint16_t, 32&gt; sensorLog;    // stores last 32 readings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sensorLog.push(analogRead(A0));        // add new reading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uint16_t latest = sensorLog.peek(0);   // get newest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Arrays vs Linked Lists in Embedded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Array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931920" cy="2377440"/>
          </a:xfrm>
          <a:prstGeom prst="rect">
            <a:avLst/>
          </a:prstGeom>
          <a:solidFill>
            <a:srgbClr val="141C3D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572768"/>
            <a:ext cx="182880" cy="182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53619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Contiguous memory — cache-friendly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956816"/>
            <a:ext cx="182880" cy="1828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4400" y="192024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access by index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340864"/>
            <a:ext cx="182880" cy="1828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14400" y="230428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allocation overhead</a:t>
            </a:r>
            <a:endParaRPr lang="en-US" sz="11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2724912"/>
            <a:ext cx="182880" cy="18288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14400" y="2688336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memory usage</a:t>
            </a:r>
            <a:endParaRPr lang="en-US" sz="11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108960"/>
            <a:ext cx="182880" cy="18288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14400" y="3072384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DMA transfers</a:t>
            </a:r>
            <a:endParaRPr lang="en-US" sz="1100" dirty="0"/>
          </a:p>
        </p:txBody>
      </p:sp>
      <p:sp>
        <p:nvSpPr>
          <p:cNvPr id="15" name="Text 8"/>
          <p:cNvSpPr/>
          <p:nvPr/>
        </p:nvSpPr>
        <p:spPr>
          <a:xfrm>
            <a:off x="4800600" y="10515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List</a:t>
            </a:r>
            <a:endParaRPr lang="en-US" sz="1500" dirty="0"/>
          </a:p>
        </p:txBody>
      </p:sp>
      <p:sp>
        <p:nvSpPr>
          <p:cNvPr id="16" name="Shape 9"/>
          <p:cNvSpPr/>
          <p:nvPr/>
        </p:nvSpPr>
        <p:spPr>
          <a:xfrm>
            <a:off x="4800600" y="1463040"/>
            <a:ext cx="3931920" cy="2377440"/>
          </a:xfrm>
          <a:prstGeom prst="rect">
            <a:avLst/>
          </a:prstGeom>
          <a:solidFill>
            <a:srgbClr val="141C3D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1572768"/>
            <a:ext cx="182880" cy="18288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5257800" y="153619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memory — cache misses</a:t>
            </a:r>
            <a:endParaRPr lang="en-US" sz="110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0" y="1956816"/>
            <a:ext cx="182880" cy="18288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5257800" y="192024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 access (must traverse)</a:t>
            </a:r>
            <a:endParaRPr lang="en-US" sz="1100" dirty="0"/>
          </a:p>
        </p:txBody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7760" y="2340864"/>
            <a:ext cx="182880" cy="182880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5257800" y="230428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node needs a next pointer (extra RAM)</a:t>
            </a:r>
            <a:endParaRPr lang="en-US" sz="1100" dirty="0"/>
          </a:p>
        </p:txBody>
      </p:sp>
      <p:pic>
        <p:nvPicPr>
          <p:cNvPr id="2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37760" y="2724912"/>
            <a:ext cx="182880" cy="182880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5257800" y="2688336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dynamic allocation (heap risk)</a:t>
            </a:r>
            <a:endParaRPr lang="en-US" sz="1100" dirty="0"/>
          </a:p>
        </p:txBody>
      </p:sp>
      <p:pic>
        <p:nvPicPr>
          <p:cNvPr id="2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37760" y="3108960"/>
            <a:ext cx="182880" cy="182880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5257800" y="3072384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 overhead adds up on small MCUs</a:t>
            </a:r>
            <a:endParaRPr lang="en-US" sz="1100" dirty="0"/>
          </a:p>
        </p:txBody>
      </p:sp>
      <p:sp>
        <p:nvSpPr>
          <p:cNvPr id="27" name="Shape 15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solidFill>
            <a:srgbClr val="141C3D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2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0080" y="4206240"/>
            <a:ext cx="320040" cy="320040"/>
          </a:xfrm>
          <a:prstGeom prst="rect">
            <a:avLst/>
          </a:prstGeom>
        </p:spPr>
      </p:pic>
      <p:sp>
        <p:nvSpPr>
          <p:cNvPr id="29" name="Text 16"/>
          <p:cNvSpPr/>
          <p:nvPr/>
        </p:nvSpPr>
        <p:spPr>
          <a:xfrm>
            <a:off x="1097280" y="411480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embedded: arrays (and ring buffers) win almost every time. Use linked lists only when frequent insert/delete in the middle is essential.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Practice Exercises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11480"/>
            <a:ext cx="457200" cy="457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051560"/>
            <a:ext cx="8229600" cy="685800"/>
          </a:xfrm>
          <a:prstGeom prst="rect">
            <a:avLst/>
          </a:prstGeom>
          <a:solidFill>
            <a:srgbClr val="141C3D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94360" y="1188720"/>
            <a:ext cx="365760" cy="36576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6" name="Text 3"/>
          <p:cNvSpPr/>
          <p:nvPr/>
        </p:nvSpPr>
        <p:spPr>
          <a:xfrm>
            <a:off x="594360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43000" y="10698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1 — circle class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143000" y="134416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circle class that inherits from point.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Add: radius_, area(), circumference(), print().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1828800"/>
            <a:ext cx="8229600" cy="685800"/>
          </a:xfrm>
          <a:prstGeom prst="rect">
            <a:avLst/>
          </a:prstGeom>
          <a:solidFill>
            <a:srgbClr val="141C3D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94360" y="1965960"/>
            <a:ext cx="365760" cy="36576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1" name="Text 8"/>
          <p:cNvSpPr/>
          <p:nvPr/>
        </p:nvSpPr>
        <p:spPr>
          <a:xfrm>
            <a:off x="59436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143000" y="18470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2 — rectangle class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143000" y="212140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rectangle class that inherits from point.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Add: width_, height_, area(), perimeter(), print().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57200" y="2606040"/>
            <a:ext cx="8229600" cy="685800"/>
          </a:xfrm>
          <a:prstGeom prst="rect">
            <a:avLst/>
          </a:prstGeom>
          <a:solidFill>
            <a:srgbClr val="141C3D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94360" y="2743200"/>
            <a:ext cx="365760" cy="36576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6" name="Text 13"/>
          <p:cNvSpPr/>
          <p:nvPr/>
        </p:nvSpPr>
        <p:spPr>
          <a:xfrm>
            <a:off x="594360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143000" y="26243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3 — Template myMax()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143000" y="289864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template function myMax(T a, T b).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it with uint8_t, int16_t, and float.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57200" y="3383280"/>
            <a:ext cx="8229600" cy="685800"/>
          </a:xfrm>
          <a:prstGeom prst="rect">
            <a:avLst/>
          </a:prstGeom>
          <a:solidFill>
            <a:srgbClr val="141C3D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94360" y="3520440"/>
            <a:ext cx="365760" cy="36576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21" name="Text 18"/>
          <p:cNvSpPr/>
          <p:nvPr/>
        </p:nvSpPr>
        <p:spPr>
          <a:xfrm>
            <a:off x="594360" y="3520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143000" y="34015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4 — RingBuffer for points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143000" y="367588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RingBuffer template to store the last 8 point positions.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a new random point every second, print the buffer contents.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57200" y="4160520"/>
            <a:ext cx="8229600" cy="685800"/>
          </a:xfrm>
          <a:prstGeom prst="rect">
            <a:avLst/>
          </a:prstGeom>
          <a:solidFill>
            <a:srgbClr val="141C3D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594360" y="4297680"/>
            <a:ext cx="365760" cy="36576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26" name="Text 23"/>
          <p:cNvSpPr/>
          <p:nvPr/>
        </p:nvSpPr>
        <p:spPr>
          <a:xfrm>
            <a:off x="594360" y="4297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1143000" y="41788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— virtual print()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1143000" y="445312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print() virtual in point. Override in circle and rectangle.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array of point* and call print() — observe polymorphism.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Homework 7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1148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Collection with History</a:t>
            </a:r>
            <a:endParaRPr lang="en-US" sz="20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72768"/>
            <a:ext cx="201168" cy="20116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68680" y="153619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circle and rectangle classes inheriting from point</a:t>
            </a:r>
            <a:endParaRPr lang="en-US" sz="12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38528"/>
            <a:ext cx="201168" cy="20116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68680" y="190195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shape has area() and a print() that includes its specific data</a:t>
            </a:r>
            <a:endParaRPr lang="en-US" sz="12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304288"/>
            <a:ext cx="201168" cy="20116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868680" y="226771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RingBuffer&lt;point, 16&gt; to log point position history</a:t>
            </a:r>
            <a:endParaRPr lang="en-US" sz="12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670048"/>
            <a:ext cx="201168" cy="201168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868680" y="263347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 A (GPIO 0): creates a new random shape and logs its position</a:t>
            </a:r>
            <a:endParaRPr lang="en-US" sz="1200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035808"/>
            <a:ext cx="201168" cy="201168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868680" y="29992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output: print shape info + buffer contents on each press</a:t>
            </a:r>
            <a:endParaRPr lang="en-US" sz="1200" dirty="0"/>
          </a:p>
        </p:txBody>
      </p:sp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3401568"/>
            <a:ext cx="201168" cy="201168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868680" y="336499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template myMax() to find the shape with the largest area</a:t>
            </a:r>
            <a:endParaRPr lang="en-US" sz="1200" dirty="0"/>
          </a:p>
        </p:txBody>
      </p:sp>
      <p:sp>
        <p:nvSpPr>
          <p:cNvPr id="17" name="Shape 8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solidFill>
            <a:srgbClr val="141C3D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Text 9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Due: before Lesson 8  |  Push to your GitHub repository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C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Summary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97280"/>
            <a:ext cx="201168" cy="2011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06984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 lets derived classes reuse and extend base class code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44752"/>
            <a:ext cx="201168" cy="2011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97280" y="141732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members are accessible to children but not outsiders</a:t>
            </a:r>
            <a:endParaRPr lang="en-US" sz="13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92224"/>
            <a:ext cx="201168" cy="20116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97280" y="176479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enables polymorphism — one interface, many implementations</a:t>
            </a:r>
            <a:endParaRPr lang="en-US" sz="13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139696"/>
            <a:ext cx="201168" cy="20116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97280" y="2112264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generate type-specific code at compile time (zero runtime cost)</a:t>
            </a:r>
            <a:endParaRPr lang="en-US" sz="13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2487168"/>
            <a:ext cx="201168" cy="20116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097280" y="2459736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classes must be fully defined in headers</a:t>
            </a:r>
            <a:endParaRPr lang="en-US" sz="130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2834640"/>
            <a:ext cx="201168" cy="201168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097280" y="280720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 buffers: fixed-size, O(1), no allocation — the go-to embedded container</a:t>
            </a:r>
            <a:endParaRPr lang="en-US" sz="1300" dirty="0"/>
          </a:p>
        </p:txBody>
      </p:sp>
      <p:sp>
        <p:nvSpPr>
          <p:cNvPr id="16" name="Shape 8"/>
          <p:cNvSpPr/>
          <p:nvPr/>
        </p:nvSpPr>
        <p:spPr>
          <a:xfrm>
            <a:off x="457200" y="3474720"/>
            <a:ext cx="8229600" cy="118872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Text 9"/>
          <p:cNvSpPr/>
          <p:nvPr/>
        </p:nvSpPr>
        <p:spPr>
          <a:xfrm>
            <a:off x="640080" y="3566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Lesson 08</a:t>
            </a:r>
            <a:endParaRPr lang="en-US" sz="1600" dirty="0"/>
          </a:p>
        </p:txBody>
      </p:sp>
      <p:sp>
        <p:nvSpPr>
          <p:cNvPr id="18" name="Text 10"/>
          <p:cNvSpPr/>
          <p:nvPr/>
        </p:nvSpPr>
        <p:spPr>
          <a:xfrm>
            <a:off x="640080" y="3931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RAII, Memory Handling, Standard Libraries</a:t>
            </a:r>
            <a:endParaRPr lang="en-US" sz="1400" dirty="0"/>
          </a:p>
        </p:txBody>
      </p:sp>
      <p:sp>
        <p:nvSpPr>
          <p:cNvPr id="19" name="Text 11"/>
          <p:cNvSpPr/>
          <p:nvPr/>
        </p:nvSpPr>
        <p:spPr>
          <a:xfrm>
            <a:off x="640080" y="42519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management, stack vs heap, smart pointers, and what parts of the STL are safe for MCUs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07 — Inheritance, Templates, Data Structures</dc:title>
  <dc:subject>PptxGenJS Presentation</dc:subject>
  <dc:creator>Embedded Systems Course 2026</dc:creator>
  <cp:lastModifiedBy>Embedded Systems Course 2026</cp:lastModifiedBy>
  <cp:revision>1</cp:revision>
  <dcterms:created xsi:type="dcterms:W3CDTF">2026-03-06T14:35:54Z</dcterms:created>
  <dcterms:modified xsi:type="dcterms:W3CDTF">2026-03-06T14:35:54Z</dcterms:modified>
</cp:coreProperties>
</file>