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 Input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RGB Control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class  |  RgbLed class  |  Library design patterns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C++ for Microcontrollers  |  ESP32-C3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 —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1430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98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analogRead() works on ESP32-C3, 12-bit resolution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430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from AnalogPin, readRaw() and readPercent()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945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5146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1: Brightness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70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controls LED brightness via PwmPin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5146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Class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670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three PwmPin members, setColor(r,g,b)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8862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2: Color Zones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41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0-33% Red, 34-66% Green, 67-100% Blue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14300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457200" cy="1143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8862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Pitfalls &amp; Best Practices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041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noise, map() vs constrain(), polling vs ISR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Recap: Class Hierarchy from Lesson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777240"/>
            <a:ext cx="228600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850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DigitalPin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46304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828800"/>
            <a:ext cx="1325880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46304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1828800"/>
            <a:ext cx="1325880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28800"/>
            <a:ext cx="164592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1901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146304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777240"/>
            <a:ext cx="228600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850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AnalogPin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146304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228600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NEW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834640"/>
            <a:ext cx="146304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08960" y="2907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PwmPin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2514600"/>
            <a:ext cx="0" cy="32004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1783080"/>
            <a:ext cx="2560320" cy="777240"/>
          </a:xfrm>
          <a:prstGeom prst="rect">
            <a:avLst/>
          </a:prstGeom>
          <a:solidFill>
            <a:srgbClr val="26316E"/>
          </a:solidFill>
          <a:ln w="254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  &lt;-- NEW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88720" y="2834640"/>
            <a:ext cx="1645920" cy="68580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8720" y="2907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0" y="2514600"/>
            <a:ext cx="0" cy="32004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2788920"/>
            <a:ext cx="1920240" cy="777240"/>
          </a:xfrm>
          <a:prstGeom prst="rect">
            <a:avLst/>
          </a:prstGeom>
          <a:solidFill>
            <a:srgbClr val="26316E"/>
          </a:solidFill>
          <a:ln w="254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5156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  &lt;-- NEW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add two new classes to our driver library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on ESP32-C3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13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resolution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4095 raw counts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35608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35608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72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voltage range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099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 to 3.3 V (do not exceed!)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93976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93976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voltage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3682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3.3 V (no external VREF needed)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52344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channels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026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0-5 on ESP32-C3 (ADC1)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10712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47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analogRead() return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685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uint16_t, 0..4095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5029200" cy="54864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69080"/>
            <a:ext cx="54864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call — ~10 us, call from loop()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777240"/>
            <a:ext cx="3108960" cy="393192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822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 -&gt;  Raw Value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325880"/>
            <a:ext cx="1828800" cy="292608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344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1344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1947672"/>
            <a:ext cx="137160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2.475 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2569464"/>
            <a:ext cx="914400" cy="2926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1.65 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3191256"/>
            <a:ext cx="457200" cy="2926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0.825 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3813048"/>
            <a:ext cx="0" cy="292608"/>
          </a:xfrm>
          <a:prstGeom prst="rect">
            <a:avLst/>
          </a:prstGeom>
          <a:solidFill>
            <a:srgbClr val="6A7A8A"/>
          </a:solidFill>
          <a:ln w="12700">
            <a:solidFill>
              <a:srgbClr val="6A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V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8096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Class —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840480" cy="41148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32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840480" cy="256032"/>
          </a:xfrm>
          <a:prstGeom prst="rect">
            <a:avLst/>
          </a:prstGeom>
          <a:solidFill>
            <a:srgbClr val="1A255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inherits: AnalogPin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3840480" cy="0"/>
          </a:xfrm>
          <a:prstGeom prst="line">
            <a:avLst/>
          </a:prstGeom>
          <a:noFill/>
          <a:ln w="10160">
            <a:solidFill>
              <a:srgbClr val="8AA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44752"/>
            <a:ext cx="3840480" cy="457200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90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_resolution : uint16_t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3840480" cy="0"/>
          </a:xfrm>
          <a:prstGeom prst="line">
            <a:avLst/>
          </a:prstGeom>
          <a:noFill/>
          <a:ln w="10160">
            <a:solidFill>
              <a:srgbClr val="8AAE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01952"/>
            <a:ext cx="3840480" cy="1417320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Potentiometer(pin: uint8_t)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295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readRaw()     : uint16_t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624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readPercent() : uint8_t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953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map(outMin, outMax) : int32_t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777240"/>
            <a:ext cx="4389120" cy="91440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777240"/>
            <a:ext cx="54864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124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extends AnalogPin.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pin setup is handled by the base class.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828800"/>
            <a:ext cx="4389120" cy="91440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828800"/>
            <a:ext cx="54864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readRaw()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21762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0..4095 directly from analogRead().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 — raw hardware value.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880360"/>
            <a:ext cx="4389120" cy="91440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2880360"/>
            <a:ext cx="54864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readPercent()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227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raw 0..4095 to 0..100.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integer arithmetic only.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931920"/>
            <a:ext cx="4389120" cy="91440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3931920"/>
            <a:ext cx="54864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279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scaler.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potentiometer range to any output range.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Class —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114800" cy="4224528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13232"/>
            <a:ext cx="4114800" cy="29260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Potentiometer.h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"AnalogPin.h"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Potentiometer : public AnalogPin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Potentiometer(uint8_t pin);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readRaw()     const;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readPercent() const;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int32_t  map(int32_t outMin,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int32_t outMax) const;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13232"/>
            <a:ext cx="4114800" cy="4224528"/>
          </a:xfrm>
          <a:prstGeom prst="rect">
            <a:avLst/>
          </a:prstGeom>
          <a:solidFill>
            <a:srgbClr val="131C3E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713232"/>
            <a:ext cx="411480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7498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Potentiometer.cpp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042416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"Potentiometer.h"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Potentiometer::Potentiometer(uint8_t pin)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AnalogPin(pin) {}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Potentiometer::readRaw() const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analogRead(_pin);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Potentiometer::readPercent() const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(uint8_t)(readRaw() * 100UL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 4095UL);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Potentiometer::map(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outMin,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outMax) const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::map(readRaw(),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0, 4095,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outMin, outMax);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 — Potentiometer Controls LED Brightness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00200" cy="822960"/>
          </a:xfrm>
          <a:prstGeom prst="rect">
            <a:avLst/>
          </a:prstGeom>
          <a:solidFill>
            <a:srgbClr val="1A2555"/>
          </a:solidFill>
          <a:ln w="254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(ADC pin)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234440"/>
            <a:ext cx="502920" cy="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43000"/>
            <a:ext cx="91440" cy="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325880"/>
            <a:ext cx="91440" cy="-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822960"/>
            <a:ext cx="1600200" cy="822960"/>
          </a:xfrm>
          <a:prstGeom prst="rect">
            <a:avLst/>
          </a:prstGeom>
          <a:solidFill>
            <a:srgbClr val="1A2555"/>
          </a:solidFill>
          <a:ln w="2540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896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readRaw()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0 .. 4095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234440"/>
            <a:ext cx="502920" cy="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143000"/>
            <a:ext cx="91440" cy="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325880"/>
            <a:ext cx="91440" cy="-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822960"/>
            <a:ext cx="1600200" cy="822960"/>
          </a:xfrm>
          <a:prstGeom prst="rect">
            <a:avLst/>
          </a:prstGeom>
          <a:solidFill>
            <a:srgbClr val="1A2555"/>
          </a:solidFill>
          <a:ln w="254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896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0 .. 255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234440"/>
            <a:ext cx="502920" cy="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143000"/>
            <a:ext cx="91440" cy="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325880"/>
            <a:ext cx="91440" cy="-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822960"/>
            <a:ext cx="1600200" cy="822960"/>
          </a:xfrm>
          <a:prstGeom prst="rect">
            <a:avLst/>
          </a:prstGeom>
          <a:solidFill>
            <a:srgbClr val="1A2555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896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PwmPin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setBrightness()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234440"/>
            <a:ext cx="502920" cy="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1143000"/>
            <a:ext cx="91440" cy="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325880"/>
            <a:ext cx="91440" cy="-91440"/>
          </a:xfrm>
          <a:prstGeom prst="line">
            <a:avLst/>
          </a:prstGeom>
          <a:noFill/>
          <a:ln w="25400">
            <a:solidFill>
              <a:srgbClr val="8AAE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822960"/>
            <a:ext cx="1600200" cy="822960"/>
          </a:xfrm>
          <a:prstGeom prst="rect">
            <a:avLst/>
          </a:prstGeom>
          <a:solidFill>
            <a:srgbClr val="26316E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896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.. bright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" y="2286000"/>
            <a:ext cx="4206240" cy="402336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 pin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14600" y="2359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arg (e.g. GPIO 2)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2761488"/>
            <a:ext cx="4206240" cy="402336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 VCC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51460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3236976"/>
            <a:ext cx="4206240" cy="402336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 GND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3310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12464"/>
            <a:ext cx="4206240" cy="402336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LED (active-low)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514600" y="3785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  (existing)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1920240"/>
            <a:ext cx="3931920" cy="283464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2920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analogRead() returns 12-bit value (0-4095)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duty cycle expects 8-bit value (0-255)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map() converts between ranges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37124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is active-low: invert the value!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4142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ISR needed -- polling in loop() is correct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 — Code: main.cpp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5303520" cy="4407408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58952"/>
            <a:ext cx="51206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"Potentiometer.h"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"Led.h"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drivers;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GPIO 2 = ADC-capable pin on ESP32-C3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Potentiometer pot(2);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GPIO 3, active-low (common anode)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Led            led(3, true);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Serial.begin(115200);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raw  = pot.readRaw();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pct  = pot.readPercent();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map 0..4095 -&gt; 0..255 for PWM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int32_t  duty = pot.map(0, 255);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active-low: 255=off, 0=full brightness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inv  = (uint8_t)(255 - duty);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led.setBrightness(inv);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Serial.print("Raw: "); Serial.print(raw);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Serial.print("  %: "); Serial.println(pct);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delay(20);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960120"/>
            <a:ext cx="320040" cy="0"/>
          </a:xfrm>
          <a:prstGeom prst="line">
            <a:avLst/>
          </a:prstGeom>
          <a:noFill/>
          <a:ln w="12700">
            <a:solidFill>
              <a:srgbClr val="F0C0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0" y="813816"/>
            <a:ext cx="2834640" cy="329184"/>
          </a:xfrm>
          <a:prstGeom prst="rect">
            <a:avLst/>
          </a:prstGeom>
          <a:solidFill>
            <a:srgbClr val="26316E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our new class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965960"/>
            <a:ext cx="320040" cy="0"/>
          </a:xfrm>
          <a:prstGeom prst="line">
            <a:avLst/>
          </a:prstGeom>
          <a:noFill/>
          <a:ln w="12700">
            <a:solidFill>
              <a:srgbClr val="F0C0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0" y="1819656"/>
            <a:ext cx="2834640" cy="329184"/>
          </a:xfrm>
          <a:prstGeom prst="rect">
            <a:avLst/>
          </a:prstGeom>
          <a:solidFill>
            <a:srgbClr val="26316E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allocation -- no heap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3310128"/>
            <a:ext cx="320040" cy="0"/>
          </a:xfrm>
          <a:prstGeom prst="line">
            <a:avLst/>
          </a:prstGeom>
          <a:noFill/>
          <a:ln w="12700">
            <a:solidFill>
              <a:srgbClr val="F0C0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43600" y="3163824"/>
            <a:ext cx="2834640" cy="329184"/>
          </a:xfrm>
          <a:prstGeom prst="rect">
            <a:avLst/>
          </a:prstGeom>
          <a:solidFill>
            <a:srgbClr val="26316E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191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-&gt; 8-bit scaling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3931920"/>
            <a:ext cx="320040" cy="0"/>
          </a:xfrm>
          <a:prstGeom prst="line">
            <a:avLst/>
          </a:prstGeom>
          <a:noFill/>
          <a:ln w="12700">
            <a:solidFill>
              <a:srgbClr val="F0C0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943600" y="3785616"/>
            <a:ext cx="2834640" cy="329184"/>
          </a:xfrm>
          <a:prstGeom prst="rect">
            <a:avLst/>
          </a:prstGeom>
          <a:solidFill>
            <a:srgbClr val="26316E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813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for active-low LED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4617720"/>
            <a:ext cx="320040" cy="0"/>
          </a:xfrm>
          <a:prstGeom prst="line">
            <a:avLst/>
          </a:prstGeom>
          <a:noFill/>
          <a:ln w="12700">
            <a:solidFill>
              <a:srgbClr val="F0C04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943600" y="4471416"/>
            <a:ext cx="2834640" cy="329184"/>
          </a:xfrm>
          <a:prstGeom prst="rect">
            <a:avLst/>
          </a:prstGeom>
          <a:solidFill>
            <a:srgbClr val="26316E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498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output to Serial Monitor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Class —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931920" cy="41148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3931920" cy="256032"/>
          </a:xfrm>
          <a:prstGeom prst="rect">
            <a:avLst/>
          </a:prstGeom>
          <a:solidFill>
            <a:srgbClr val="1A255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inherits: Led  (which inherits: PwmPin)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931920" cy="0"/>
          </a:xfrm>
          <a:prstGeom prst="line">
            <a:avLst/>
          </a:prstGeom>
          <a:noFill/>
          <a:ln w="10160">
            <a:solidFill>
              <a:srgbClr val="8AA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3931920" cy="822960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_red   : PwmPin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728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_green : PwmPin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9751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_blue  : PwmPin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3931920" cy="0"/>
          </a:xfrm>
          <a:prstGeom prst="line">
            <a:avLst/>
          </a:prstGeom>
          <a:noFill/>
          <a:ln w="10160">
            <a:solidFill>
              <a:srgbClr val="8AA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40280"/>
            <a:ext cx="3931920" cy="1097280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RgbLed(rPin, gPin, bPin : uint8_t)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setColor(r, g, b : uint8_t)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off()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3931920" cy="178308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Note: Composition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RgbLed HAS three PwmPin members (composition),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IS-A PwmPin (inheritance).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RGB LED is three independent PWM channels.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models this more accurately.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749808"/>
            <a:ext cx="4297680" cy="128016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749808"/>
            <a:ext cx="54864" cy="12801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Inherits from 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1728" y="11612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RgbLed extends Led so it also acts as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LED (the red channel).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two-level hierarchy in action.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2194560"/>
            <a:ext cx="4297680" cy="128016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2194560"/>
            <a:ext cx="54864" cy="12801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setColor(r,g,b)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2606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three uint8_t values (0-255).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drives one PwmPin channel.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cathode: higher = brighter.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3639312"/>
            <a:ext cx="4297680" cy="1280160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3639312"/>
            <a:ext cx="54864" cy="12801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40507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setBrightness(0) on all three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channels. Clean one-liner for students.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Class —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114800" cy="29260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RgbLed.h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931920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"Led.h"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"PwmPin.h"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RgbLed : public Led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RgbLed(uint8_t rPin,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gPin,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bPin);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setColor(uint8_t 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 _green;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 _blue;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_red channel is inherited 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13232"/>
            <a:ext cx="411480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7498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RgbLed.cpp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3931920"/>
          </a:xfrm>
          <a:prstGeom prst="rect">
            <a:avLst/>
          </a:prstGeom>
          <a:solidFill>
            <a:srgbClr val="131C3E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"RgbLed.h"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RgbLed::RgbLed(uint8_t rPin,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uint8_t gPin,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uint8_t bPin)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Led(rPin),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_green(gPin),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_blue(bPin)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RgbLed::setColor(uint8_t 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uint8_t 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uint8_t b)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setBrightness(r); // inherited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_green.write(g);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_blue.write(b);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RgbLed::off()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setColor(0, 0,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 — Color Zones: Concept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88920" cy="91440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777240"/>
            <a:ext cx="2971800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777240"/>
            <a:ext cx="2743200" cy="91440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98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0698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0698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0698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0698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0698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13441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1344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80760" y="1344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Logic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1097280" cy="34747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2240280"/>
            <a:ext cx="1828800" cy="34747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Percent range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240280"/>
            <a:ext cx="2560320" cy="34747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setColor(r, g, 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587752"/>
            <a:ext cx="109728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17320" y="2587752"/>
            <a:ext cx="182880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26517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0 .. 33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587752"/>
            <a:ext cx="256032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651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setColor(255, 0, 0)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109728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358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417320" y="2971800"/>
            <a:ext cx="182880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0358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34 .. 66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56032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358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setColor(0, 255, 0)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355848"/>
            <a:ext cx="109728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417320" y="3355848"/>
            <a:ext cx="182880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63040" y="34198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67 .. 100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46120" y="3355848"/>
            <a:ext cx="2560320" cy="347472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4198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setColor(0, 0, 255)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0" y="1874520"/>
            <a:ext cx="2880360" cy="3017520"/>
          </a:xfrm>
          <a:prstGeom prst="rect">
            <a:avLst/>
          </a:prstGeom>
          <a:solidFill>
            <a:srgbClr val="26316E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8076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Notes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23317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pot.readPercent() in loop()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2798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/ else-if chain for zones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3264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map() -- just compare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80760" y="3730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cathode: no inversion needed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41970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Serial.println() the zone name for debug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 — Code: main.cpp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5303520" cy="4315968"/>
          </a:xfrm>
          <a:prstGeom prst="rect">
            <a:avLst/>
          </a:prstGeom>
          <a:solidFill>
            <a:srgbClr val="131C3E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58952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"Potentiometer.h"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"RgbLed.h"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drivers;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Potentiometer pot(2);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cathode: R=GPIO6, G=GPIO7, B=GPIO8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RgbLed rgb(6, 7, 8);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Serial.begin(115200);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pct = pot.readPercent();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(pct &lt;= 33)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rgb.setColor(255, 0, 0); // 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Serial.println("Zone: RED");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(pct &lt;= 66)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rgb.setColor(0, 255, 0); // GREEN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Serial.println("Zone: GREEN");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rgb.setColor(0, 0, 255); // BLUE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Serial.println("Zone: BLUE");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delay(50);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3017520" cy="822960"/>
          </a:xfrm>
          <a:prstGeom prst="rect">
            <a:avLst/>
          </a:prstGeom>
          <a:solidFill>
            <a:srgbClr val="26316E"/>
          </a:solidFill>
          <a:ln w="2540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0" y="1371600"/>
            <a:ext cx="228600" cy="82296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Zone: 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755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0..33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setColor(255,0,0)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2423160"/>
            <a:ext cx="3017520" cy="822960"/>
          </a:xfrm>
          <a:prstGeom prst="rect">
            <a:avLst/>
          </a:prstGeom>
          <a:solidFill>
            <a:srgbClr val="26316E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2423160"/>
            <a:ext cx="228600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Zone: GREEN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807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34..66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setColor(0,255,0)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3474720"/>
            <a:ext cx="3017520" cy="822960"/>
          </a:xfrm>
          <a:prstGeom prst="rect">
            <a:avLst/>
          </a:prstGeom>
          <a:solidFill>
            <a:srgbClr val="26316E"/>
          </a:solidFill>
          <a:ln w="2540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3474720"/>
            <a:ext cx="228600" cy="82296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Zone: BLUE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858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67..100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setColor(0,0,255)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Class Hierarchy — After Lesson 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01168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DigitalPin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749808"/>
            <a:ext cx="201168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AnalogPin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12280" y="749808"/>
            <a:ext cx="201168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PwmPin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25880" y="1344168"/>
            <a:ext cx="0" cy="32004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77240" y="1664208"/>
            <a:ext cx="548640" cy="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874520" y="1664208"/>
            <a:ext cx="-548640" cy="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" y="1664208"/>
            <a:ext cx="137160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4480" y="1664208"/>
            <a:ext cx="137160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344168"/>
            <a:ext cx="0" cy="32004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566160" y="1664208"/>
            <a:ext cx="201168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Potentiometer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40280" y="2258568"/>
            <a:ext cx="0" cy="32004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554480" y="2578608"/>
            <a:ext cx="1371600" cy="59436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5448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54480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0" y="2880360"/>
            <a:ext cx="4572000" cy="0"/>
          </a:xfrm>
          <a:prstGeom prst="line">
            <a:avLst/>
          </a:prstGeom>
          <a:noFill/>
          <a:ln w="15240">
            <a:solidFill>
              <a:srgbClr val="4CAF7D"/>
            </a:solidFill>
            <a:prstDash val="lgDash"/>
          </a:ln>
        </p:spPr>
      </p:sp>
      <p:sp>
        <p:nvSpPr>
          <p:cNvPr id="31" name="Shape 29"/>
          <p:cNvSpPr/>
          <p:nvPr/>
        </p:nvSpPr>
        <p:spPr>
          <a:xfrm>
            <a:off x="7498080" y="2880360"/>
            <a:ext cx="0" cy="-914400"/>
          </a:xfrm>
          <a:prstGeom prst="line">
            <a:avLst/>
          </a:prstGeom>
          <a:noFill/>
          <a:ln w="15240">
            <a:solidFill>
              <a:srgbClr val="4CAF7D"/>
            </a:solidFill>
            <a:prstDash val="lgDash"/>
          </a:ln>
        </p:spPr>
      </p:sp>
      <p:sp>
        <p:nvSpPr>
          <p:cNvPr id="32" name="Text 30"/>
          <p:cNvSpPr/>
          <p:nvPr/>
        </p:nvSpPr>
        <p:spPr>
          <a:xfrm>
            <a:off x="365760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2x PwmPin (composition)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80560"/>
            <a:ext cx="457200" cy="0"/>
          </a:xfrm>
          <a:prstGeom prst="line">
            <a:avLst/>
          </a:prstGeom>
          <a:noFill/>
          <a:ln w="15240">
            <a:solidFill>
              <a:srgbClr val="8AAEE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005840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inheritance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4480560"/>
            <a:ext cx="457200" cy="0"/>
          </a:xfrm>
          <a:prstGeom prst="line">
            <a:avLst/>
          </a:prstGeom>
          <a:noFill/>
          <a:ln w="15240">
            <a:solidFill>
              <a:srgbClr val="4CAF7D"/>
            </a:solidFill>
            <a:prstDash val="lgDash"/>
          </a:ln>
        </p:spPr>
      </p:sp>
      <p:sp>
        <p:nvSpPr>
          <p:cNvPr id="37" name="Text 35"/>
          <p:cNvSpPr/>
          <p:nvPr/>
        </p:nvSpPr>
        <p:spPr>
          <a:xfrm>
            <a:off x="3566160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composition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4315968"/>
            <a:ext cx="411480" cy="292608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new this lesson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Pitfalls &amp; Best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1920240"/>
          </a:xfrm>
          <a:prstGeom prst="rect">
            <a:avLst/>
          </a:prstGeom>
          <a:solidFill>
            <a:srgbClr val="26316E"/>
          </a:solidFill>
          <a:ln w="1905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92608" cy="192024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435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Noise &amp; Jitter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115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analogRead() on ESP32-C3 has ~5-10 LSB noise at rest.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may flicker at zone boundaries. Fix: add deadband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multiple readings.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3730752" cy="914400"/>
          </a:xfrm>
          <a:prstGeom prst="rect">
            <a:avLst/>
          </a:prstGeom>
          <a:solidFill>
            <a:srgbClr val="131C3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682496"/>
            <a:ext cx="3639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avg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for(uint8_t i=0;i&lt;8;i++) avg+=analogRead(_pin);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/= 8;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60520" cy="192024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49808"/>
            <a:ext cx="292608" cy="19202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4356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38928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map() Does Not Clamp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1115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map() returns values outside [outMin,outMax]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input exceeds [inMin,inMax]. Always constrain() first.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1645920"/>
            <a:ext cx="3730752" cy="914400"/>
          </a:xfrm>
          <a:prstGeom prst="rect">
            <a:avLst/>
          </a:prstGeom>
          <a:solidFill>
            <a:srgbClr val="131C3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1682496"/>
            <a:ext cx="3639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raw = constrain(readRaw(), 0, 4095);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duty = ::map(raw, 0, 4095, 0, 255);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4160520" cy="1920240"/>
          </a:xfrm>
          <a:prstGeom prst="rect">
            <a:avLst/>
          </a:prstGeom>
          <a:solidFill>
            <a:srgbClr val="26316E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52928"/>
            <a:ext cx="292608" cy="192024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53872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analogRead() Inside ISR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" y="3218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analogRead() from an ISR on ESP32.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blocking operation that uses the SAR ADC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peripheral. Use a timer flag + poll in loop() instead.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749040"/>
            <a:ext cx="3730752" cy="914400"/>
          </a:xfrm>
          <a:prstGeom prst="rect">
            <a:avLst/>
          </a:prstGeom>
          <a:solidFill>
            <a:srgbClr val="131C3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3785616"/>
            <a:ext cx="3639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onTimer() { analogRead(pin);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CORRECT: set flag, read in loop()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852928"/>
            <a:ext cx="4160520" cy="1920240"/>
          </a:xfrm>
          <a:prstGeom prst="rect">
            <a:avLst/>
          </a:prstGeom>
          <a:solidFill>
            <a:srgbClr val="26316E"/>
          </a:solidFill>
          <a:ln w="19050">
            <a:solidFill>
              <a:srgbClr val="4CAF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52928"/>
            <a:ext cx="292608" cy="19202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53872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3892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Boundary Flicker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3218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exactly 33% or 66%, noise causes rapid 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switching. Add a +/-1% hysteresis band to fix.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02352" y="3749040"/>
            <a:ext cx="3730752" cy="914400"/>
          </a:xfrm>
          <a:prstGeom prst="rect">
            <a:avLst/>
          </a:prstGeom>
          <a:solidFill>
            <a:srgbClr val="131C3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3785616"/>
            <a:ext cx="3639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hysteresis example: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if(pct &lt; 32)      { /* RED */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if(pct &gt; 34) { /* check next zone */ 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Cathode vs Common Anode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47548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Cathode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lesson -- RGB LED)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4160520" cy="2011680"/>
          </a:xfrm>
          <a:prstGeom prst="rect">
            <a:avLst/>
          </a:prstGeom>
          <a:solidFill>
            <a:srgbClr val="26316E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GND pin (-)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signal on R, G, B pins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write(255) = full brightness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write(0)   = LED off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setColor(255,0,0) = RED fully 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236976"/>
            <a:ext cx="4160520" cy="822960"/>
          </a:xfrm>
          <a:prstGeom prst="rect">
            <a:avLst/>
          </a:prstGeom>
          <a:solidFill>
            <a:srgbClr val="131C3E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2735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cathode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rgb.setColor(255, 0, 0); // RED 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749808"/>
            <a:ext cx="4160520" cy="47548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Anode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033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LED on GPIO 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25296"/>
            <a:ext cx="4160520" cy="2011680"/>
          </a:xfrm>
          <a:prstGeom prst="rect">
            <a:avLst/>
          </a:prstGeom>
          <a:solidFill>
            <a:srgbClr val="26316E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80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VCC pin (+)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signal on R, G, B pins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write(0)   = full brightness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write(255) = LED 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27432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invert: inv = 255 - duty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236976"/>
            <a:ext cx="4160520" cy="822960"/>
          </a:xfrm>
          <a:prstGeom prst="rect">
            <a:avLst/>
          </a:prstGeom>
          <a:solidFill>
            <a:srgbClr val="131C3E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2735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anode (active-low)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inv = 255 - duty;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led.setBrightness(inv);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26316E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check your RGB LED datasheet, or simply test -- if colors are inverted, swap your logic.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D4A"/>
          </a:solidFill>
          <a:ln w="12700">
            <a:solidFill>
              <a:srgbClr val="161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 —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" cy="11887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972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832" y="804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1338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resolution, 0-4095, polling-only.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analogRead() from ISR.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4F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49808"/>
            <a:ext cx="502920" cy="1188720"/>
          </a:xfrm>
          <a:prstGeom prst="rect">
            <a:avLst/>
          </a:prstGeom>
          <a:solidFill>
            <a:srgbClr val="4FA3E0"/>
          </a:solidFill>
          <a:ln w="12700">
            <a:solidFill>
              <a:srgbClr val="4FA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972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76672" y="804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1338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AnalogPin. Adds readRaw(),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readPercent(), and map() helpers.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39696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4CAF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39696"/>
            <a:ext cx="502920" cy="11887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487168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" y="2194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1: Brightness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252374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converts 12-bit to 8-bit PWM range.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LED needs value inversion.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39696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39696"/>
            <a:ext cx="502920" cy="1188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87168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76672" y="2194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Class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252374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Led. Adds two PwmPin members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composition. setColor(r,g,b) API.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9584"/>
            <a:ext cx="502920" cy="118872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877056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" y="35844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2: Color Zones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" y="391363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chain on readPercent().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color regions on the dial.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4160520" cy="1188720"/>
          </a:xfrm>
          <a:prstGeom prst="rect">
            <a:avLst/>
          </a:prstGeom>
          <a:solidFill>
            <a:srgbClr val="26316E"/>
          </a:solidFill>
          <a:ln w="19050">
            <a:solidFill>
              <a:srgbClr val="8AAE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9584"/>
            <a:ext cx="502920" cy="1188720"/>
          </a:xfrm>
          <a:prstGeom prst="rect">
            <a:avLst/>
          </a:prstGeom>
          <a:solidFill>
            <a:srgbClr val="8AAEE0"/>
          </a:solidFill>
          <a:ln w="12700">
            <a:solidFill>
              <a:srgbClr val="8AAE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877056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76672" y="35844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Pitfalls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391363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noise, map() clamping, 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hysteresis -- test on hardware!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 covered: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class (inherits AnalogPin)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807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RgbLed class (inherits Led, composition of PwmPin)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1912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brightness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5753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three-zone color display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C++ for Microcontrollers  |  ESP32-C3  |  Lesson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10 - Analog Input and RGB Control</dc:title>
  <dc:subject>PptxGenJS Presentation</dc:subject>
  <dc:creator>PptxGenJS</dc:creator>
  <cp:lastModifiedBy>PptxGenJS</cp:lastModifiedBy>
  <cp:revision>1</cp:revision>
  <dcterms:created xsi:type="dcterms:W3CDTF">2026-03-18T15:03:59Z</dcterms:created>
  <dcterms:modified xsi:type="dcterms:W3CDTF">2026-03-18T15:03:59Z</dcterms:modified>
</cp:coreProperties>
</file>