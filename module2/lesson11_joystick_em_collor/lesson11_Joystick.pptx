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1" autoAdjust="0"/>
    <p:restoredTop sz="94610"/>
  </p:normalViewPr>
  <p:slideViewPr>
    <p:cSldViewPr snapToGrid="0" snapToObjects="1">
      <p:cViewPr>
        <p:scale>
          <a:sx n="169" d="100"/>
          <a:sy n="169" d="100"/>
        </p:scale>
        <p:origin x="1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0405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73152" cy="4997196"/>
          </a:xfrm>
          <a:prstGeom prst="rect">
            <a:avLst/>
          </a:prstGeom>
          <a:solidFill>
            <a:srgbClr val="81D4FA">
              <a:alpha val="40000"/>
            </a:srgbClr>
          </a:solidFill>
          <a:ln w="12700">
            <a:solidFill>
              <a:srgbClr val="81D4F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em_color &amp; Joystick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 abstraction + analog input in the drivers library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common::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20240" y="320040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Text 9"/>
          <p:cNvSpPr/>
          <p:nvPr/>
        </p:nvSpPr>
        <p:spPr>
          <a:xfrm>
            <a:off x="192024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drivers::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320040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Text 11"/>
          <p:cNvSpPr/>
          <p:nvPr/>
        </p:nvSpPr>
        <p:spPr>
          <a:xfrm>
            <a:off x="3383280" y="3200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ESP32-C3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 of C++ for Microcontrollers  |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11 — 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cover today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320040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0881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em_color struct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3258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reusable color type in namespace common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572768"/>
            <a:ext cx="8412480" cy="475488"/>
          </a:xfrm>
          <a:prstGeom prst="rect">
            <a:avLst/>
          </a:prstGeom>
          <a:solidFill>
            <a:srgbClr val="101824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Shape 9"/>
          <p:cNvSpPr/>
          <p:nvPr/>
        </p:nvSpPr>
        <p:spPr>
          <a:xfrm>
            <a:off x="365760" y="1572768"/>
            <a:ext cx="320040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/>
          <p:nvPr/>
        </p:nvSpPr>
        <p:spPr>
          <a:xfrm>
            <a:off x="365760" y="157276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16093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Named color constants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84708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RED, GREEN, BLUE, WHITE, BLACK, YELLOW, CYAN, MAGENTA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093976"/>
            <a:ext cx="841248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6" name="Shape 14"/>
          <p:cNvSpPr/>
          <p:nvPr/>
        </p:nvSpPr>
        <p:spPr>
          <a:xfrm>
            <a:off x="365760" y="2093976"/>
            <a:ext cx="320040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Text 15"/>
          <p:cNvSpPr/>
          <p:nvPr/>
        </p:nvSpPr>
        <p:spPr>
          <a:xfrm>
            <a:off x="365760" y="209397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2130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 lerp()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236829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interpolation between two colors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615184"/>
            <a:ext cx="8412480" cy="475488"/>
          </a:xfrm>
          <a:prstGeom prst="rect">
            <a:avLst/>
          </a:prstGeom>
          <a:solidFill>
            <a:srgbClr val="101824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1" name="Shape 19"/>
          <p:cNvSpPr/>
          <p:nvPr/>
        </p:nvSpPr>
        <p:spPr>
          <a:xfrm>
            <a:off x="365760" y="2615184"/>
            <a:ext cx="320040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2" name="Text 20"/>
          <p:cNvSpPr/>
          <p:nvPr/>
        </p:nvSpPr>
        <p:spPr>
          <a:xfrm>
            <a:off x="365760" y="261518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2651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RgbLed update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288950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setColor(const common::em_color&amp;) added to existing class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136392"/>
            <a:ext cx="841248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6" name="Shape 24"/>
          <p:cNvSpPr/>
          <p:nvPr/>
        </p:nvSpPr>
        <p:spPr>
          <a:xfrm>
            <a:off x="365760" y="3136392"/>
            <a:ext cx="320040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7" name="Text 25"/>
          <p:cNvSpPr/>
          <p:nvPr/>
        </p:nvSpPr>
        <p:spPr>
          <a:xfrm>
            <a:off x="365760" y="3136392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3172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Joystick hardware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34107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potentiometers + push button on ESP32-C3 ADC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657600"/>
            <a:ext cx="8412480" cy="475488"/>
          </a:xfrm>
          <a:prstGeom prst="rect">
            <a:avLst/>
          </a:prstGeom>
          <a:solidFill>
            <a:srgbClr val="101824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1" name="Shape 29"/>
          <p:cNvSpPr/>
          <p:nvPr/>
        </p:nvSpPr>
        <p:spPr>
          <a:xfrm>
            <a:off x="365760" y="3657600"/>
            <a:ext cx="320040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2" name="Text 30"/>
          <p:cNvSpPr/>
          <p:nvPr/>
        </p:nvSpPr>
        <p:spPr>
          <a:xfrm>
            <a:off x="365760" y="365760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" y="36941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Joystick class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" y="39319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Composition: AnalogPin x2 + Button, mapped -100..+100, dead zone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178808"/>
            <a:ext cx="841248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6" name="Shape 34"/>
          <p:cNvSpPr/>
          <p:nvPr/>
        </p:nvSpPr>
        <p:spPr>
          <a:xfrm>
            <a:off x="365760" y="4178808"/>
            <a:ext cx="320040" cy="47548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7" name="Text 35"/>
          <p:cNvSpPr/>
          <p:nvPr/>
        </p:nvSpPr>
        <p:spPr>
          <a:xfrm>
            <a:off x="365760" y="417880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" y="42153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+ Homework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7240" y="44531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Joystick controls RGB LED color via em_color lerp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 Color Type?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with raw bytes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566160"/>
          </a:xfrm>
          <a:prstGeom prst="rect">
            <a:avLst/>
          </a:prstGeom>
          <a:solidFill>
            <a:srgbClr val="162032"/>
          </a:solidFill>
          <a:ln w="15240">
            <a:solidFill>
              <a:srgbClr val="FF704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0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em_color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749040" cy="2926080"/>
          </a:xfrm>
          <a:prstGeom prst="rect">
            <a:avLst/>
          </a:prstGeom>
          <a:solidFill>
            <a:srgbClr val="0A1520"/>
          </a:solidFill>
          <a:ln w="9525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8" name="Text 6"/>
          <p:cNvSpPr/>
          <p:nvPr/>
        </p:nvSpPr>
        <p:spPr>
          <a:xfrm>
            <a:off x="566928" y="1554480"/>
            <a:ext cx="35295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Caller must know the order!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led.setColor(255, 0, 0);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 does this mean?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led.setColor(0, 100, 200);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Easy to mix up R/G/B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r = 0, g = 255, b = 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led.setColor(b, r, g); // BUG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931920" cy="3566160"/>
          </a:xfrm>
          <a:prstGeom prst="rect">
            <a:avLst/>
          </a:prstGeom>
          <a:solidFill>
            <a:srgbClr val="162032"/>
          </a:solidFill>
          <a:ln w="15240">
            <a:solidFill>
              <a:srgbClr val="69F0A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0" name="Text 8"/>
          <p:cNvSpPr/>
          <p:nvPr/>
        </p:nvSpPr>
        <p:spPr>
          <a:xfrm>
            <a:off x="49377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9F0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em_color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37760" y="1463040"/>
            <a:ext cx="3749040" cy="2926080"/>
          </a:xfrm>
          <a:prstGeom prst="rect">
            <a:avLst/>
          </a:prstGeom>
          <a:solidFill>
            <a:srgbClr val="0A1520"/>
          </a:solidFill>
          <a:ln w="9525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/>
          <p:nvPr/>
        </p:nvSpPr>
        <p:spPr>
          <a:xfrm>
            <a:off x="5047488" y="1554480"/>
            <a:ext cx="35295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common;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Clear and self-documenting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led.setColor(em_color::RED);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Explicit construction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em_color sky(135, 206, 235);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led.setColor(sky);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Reusable, composable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led.setColor(lerp(RED, BLUE, t));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em_color — Struct Layout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namespace common  |  include/color.h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846320" cy="4297680"/>
          </a:xfrm>
          <a:prstGeom prst="rect">
            <a:avLst/>
          </a:prstGeom>
          <a:solidFill>
            <a:srgbClr val="0A1520"/>
          </a:solidFill>
          <a:ln w="9525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475488" y="1097280"/>
            <a:ext cx="4626864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include/color.h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once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&lt;stdint.h&gt;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common {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em_color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r;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g;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b;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em_color();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em_color(uint8_t r, uint8_t g, uint8_t b);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const em_color RED;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const em_color GREEN;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const em_color BLUE;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const em_color WHITE;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const em_color BLACK;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const em_color YELLOW;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const em_color CYAN;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const em_color MAGENTA;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em_color lerp(em_color a, em_color b, uint8_t t);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// namespace common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0" y="1051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layout (3 bytes)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0" y="1417320"/>
            <a:ext cx="914400" cy="54864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/>
          <p:nvPr/>
        </p:nvSpPr>
        <p:spPr>
          <a:xfrm>
            <a:off x="5486400" y="1417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0" y="19842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92240" y="1417320"/>
            <a:ext cx="914400" cy="548640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/>
          <p:nvPr/>
        </p:nvSpPr>
        <p:spPr>
          <a:xfrm>
            <a:off x="6492240" y="1417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19842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0" y="1417320"/>
            <a:ext cx="914400" cy="548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5" name="Text 13"/>
          <p:cNvSpPr/>
          <p:nvPr/>
        </p:nvSpPr>
        <p:spPr>
          <a:xfrm>
            <a:off x="7498080" y="1417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498080" y="19842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0" y="19659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uint8_t  [0..255]  each field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0" y="23774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points: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2697480"/>
            <a:ext cx="64008" cy="2011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0" name="Text 18"/>
          <p:cNvSpPr/>
          <p:nvPr/>
        </p:nvSpPr>
        <p:spPr>
          <a:xfrm>
            <a:off x="5623560" y="26974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float: integer math only, MCU-friendly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0" y="3081528"/>
            <a:ext cx="64008" cy="2011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2" name="Text 20"/>
          <p:cNvSpPr/>
          <p:nvPr/>
        </p:nvSpPr>
        <p:spPr>
          <a:xfrm>
            <a:off x="5623560" y="30815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sizeof(em_color) == 3 bytes — compact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0" y="3465576"/>
            <a:ext cx="64008" cy="2011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4" name="Text 22"/>
          <p:cNvSpPr/>
          <p:nvPr/>
        </p:nvSpPr>
        <p:spPr>
          <a:xfrm>
            <a:off x="5623560" y="34655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default constructor sets r=g=b=0 (BLACK)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0" y="3849624"/>
            <a:ext cx="64008" cy="2011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6" name="Text 24"/>
          <p:cNvSpPr/>
          <p:nvPr/>
        </p:nvSpPr>
        <p:spPr>
          <a:xfrm>
            <a:off x="5623560" y="38496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consts defined in color.cpp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Named Color Constants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Defined in color.cpp  |  used via common::em_color::RED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965960" cy="15544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783080" cy="77724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585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{255,  0,  0}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68880" y="1051560"/>
            <a:ext cx="1965960" cy="15544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0" name="Shape 8"/>
          <p:cNvSpPr/>
          <p:nvPr/>
        </p:nvSpPr>
        <p:spPr>
          <a:xfrm>
            <a:off x="2560320" y="1143000"/>
            <a:ext cx="1783080" cy="7772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Text 9"/>
          <p:cNvSpPr/>
          <p:nvPr/>
        </p:nvSpPr>
        <p:spPr>
          <a:xfrm>
            <a:off x="2468880" y="19659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22585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 0,255,  0}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965960" cy="15544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1783080" cy="7772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Text 13"/>
          <p:cNvSpPr/>
          <p:nvPr/>
        </p:nvSpPr>
        <p:spPr>
          <a:xfrm>
            <a:off x="4572000" y="19659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2585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 0,  0,255}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75120" y="1051560"/>
            <a:ext cx="1965960" cy="15544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8" name="Shape 16"/>
          <p:cNvSpPr/>
          <p:nvPr/>
        </p:nvSpPr>
        <p:spPr>
          <a:xfrm>
            <a:off x="6766560" y="1143000"/>
            <a:ext cx="1783080" cy="77724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Text 17"/>
          <p:cNvSpPr/>
          <p:nvPr/>
        </p:nvSpPr>
        <p:spPr>
          <a:xfrm>
            <a:off x="6675120" y="19659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22585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{255,255,255}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880360"/>
            <a:ext cx="1965960" cy="15544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1783080" cy="77724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3" name="Text 21"/>
          <p:cNvSpPr/>
          <p:nvPr/>
        </p:nvSpPr>
        <p:spPr>
          <a:xfrm>
            <a:off x="365760" y="3794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BLACK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0873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 0,  0,  0}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68880" y="2880360"/>
            <a:ext cx="1965960" cy="15544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26" name="Shape 24"/>
          <p:cNvSpPr/>
          <p:nvPr/>
        </p:nvSpPr>
        <p:spPr>
          <a:xfrm>
            <a:off x="2560320" y="2971800"/>
            <a:ext cx="1783080" cy="777240"/>
          </a:xfrm>
          <a:prstGeom prst="rect">
            <a:avLst/>
          </a:prstGeom>
          <a:solidFill>
            <a:srgbClr val="FFEB3B"/>
          </a:solidFill>
          <a:ln w="12700">
            <a:solidFill>
              <a:srgbClr val="FFEB3B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7" name="Text 25"/>
          <p:cNvSpPr/>
          <p:nvPr/>
        </p:nvSpPr>
        <p:spPr>
          <a:xfrm>
            <a:off x="2468880" y="3794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YELLOW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68880" y="40873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{255,255,  0}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0" y="2880360"/>
            <a:ext cx="1965960" cy="15544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30" name="Shape 28"/>
          <p:cNvSpPr/>
          <p:nvPr/>
        </p:nvSpPr>
        <p:spPr>
          <a:xfrm>
            <a:off x="4663440" y="2971800"/>
            <a:ext cx="1783080" cy="7772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1" name="Text 29"/>
          <p:cNvSpPr/>
          <p:nvPr/>
        </p:nvSpPr>
        <p:spPr>
          <a:xfrm>
            <a:off x="4572000" y="3794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CYAN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40873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 0,255,255}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675120" y="2880360"/>
            <a:ext cx="1965960" cy="15544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34" name="Shape 32"/>
          <p:cNvSpPr/>
          <p:nvPr/>
        </p:nvSpPr>
        <p:spPr>
          <a:xfrm>
            <a:off x="6766560" y="2971800"/>
            <a:ext cx="1783080" cy="77724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5" name="Text 33"/>
          <p:cNvSpPr/>
          <p:nvPr/>
        </p:nvSpPr>
        <p:spPr>
          <a:xfrm>
            <a:off x="6675120" y="3794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MAGENTA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75120" y="40873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A4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{255,  0,255}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5760" y="4645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Usage: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25880" y="4645152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led.setColor(common::em_color::CYAN);   // or: using namespace common;  led.setColor(em_color::CYAN);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 Interpolation — lerp()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Smooth transition between two colors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solidFill>
            <a:srgbClr val="0A152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em_color lerp(em_color a, em_color b, uint8_t t)   //  t: 0=full a,  255=full 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70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= 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97280" y="1691640"/>
            <a:ext cx="749808" cy="50292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Shape 7"/>
          <p:cNvSpPr/>
          <p:nvPr/>
        </p:nvSpPr>
        <p:spPr>
          <a:xfrm>
            <a:off x="1847088" y="1691640"/>
            <a:ext cx="749808" cy="502920"/>
          </a:xfrm>
          <a:prstGeom prst="rect">
            <a:avLst/>
          </a:prstGeom>
          <a:solidFill>
            <a:srgbClr val="DF0020"/>
          </a:solidFill>
          <a:ln w="12700">
            <a:solidFill>
              <a:srgbClr val="DF002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Shape 8"/>
          <p:cNvSpPr/>
          <p:nvPr/>
        </p:nvSpPr>
        <p:spPr>
          <a:xfrm>
            <a:off x="2596896" y="1691640"/>
            <a:ext cx="749808" cy="502920"/>
          </a:xfrm>
          <a:prstGeom prst="rect">
            <a:avLst/>
          </a:prstGeom>
          <a:solidFill>
            <a:srgbClr val="BF0040"/>
          </a:solidFill>
          <a:ln w="12700">
            <a:solidFill>
              <a:srgbClr val="BF004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Shape 9"/>
          <p:cNvSpPr/>
          <p:nvPr/>
        </p:nvSpPr>
        <p:spPr>
          <a:xfrm>
            <a:off x="3346704" y="1691640"/>
            <a:ext cx="749808" cy="502920"/>
          </a:xfrm>
          <a:prstGeom prst="rect">
            <a:avLst/>
          </a:prstGeom>
          <a:solidFill>
            <a:srgbClr val="9F0060"/>
          </a:solidFill>
          <a:ln w="12700">
            <a:solidFill>
              <a:srgbClr val="9F006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Shape 10"/>
          <p:cNvSpPr/>
          <p:nvPr/>
        </p:nvSpPr>
        <p:spPr>
          <a:xfrm>
            <a:off x="4096512" y="1691640"/>
            <a:ext cx="749808" cy="502920"/>
          </a:xfrm>
          <a:prstGeom prst="rect">
            <a:avLst/>
          </a:prstGeom>
          <a:solidFill>
            <a:srgbClr val="800080"/>
          </a:solidFill>
          <a:ln w="12700">
            <a:solidFill>
              <a:srgbClr val="80008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Shape 11"/>
          <p:cNvSpPr/>
          <p:nvPr/>
        </p:nvSpPr>
        <p:spPr>
          <a:xfrm>
            <a:off x="4846320" y="1691640"/>
            <a:ext cx="749808" cy="502920"/>
          </a:xfrm>
          <a:prstGeom prst="rect">
            <a:avLst/>
          </a:prstGeom>
          <a:solidFill>
            <a:srgbClr val="60009F"/>
          </a:solidFill>
          <a:ln w="12700">
            <a:solidFill>
              <a:srgbClr val="60009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Shape 12"/>
          <p:cNvSpPr/>
          <p:nvPr/>
        </p:nvSpPr>
        <p:spPr>
          <a:xfrm>
            <a:off x="5596128" y="1691640"/>
            <a:ext cx="749808" cy="502920"/>
          </a:xfrm>
          <a:prstGeom prst="rect">
            <a:avLst/>
          </a:prstGeom>
          <a:solidFill>
            <a:srgbClr val="4000BF"/>
          </a:solidFill>
          <a:ln w="12700">
            <a:solidFill>
              <a:srgbClr val="4000B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Shape 13"/>
          <p:cNvSpPr/>
          <p:nvPr/>
        </p:nvSpPr>
        <p:spPr>
          <a:xfrm>
            <a:off x="6345936" y="1691640"/>
            <a:ext cx="749808" cy="502920"/>
          </a:xfrm>
          <a:prstGeom prst="rect">
            <a:avLst/>
          </a:prstGeom>
          <a:solidFill>
            <a:srgbClr val="2000DF"/>
          </a:solidFill>
          <a:ln w="12700">
            <a:solidFill>
              <a:srgbClr val="2000D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6" name="Shape 14"/>
          <p:cNvSpPr/>
          <p:nvPr/>
        </p:nvSpPr>
        <p:spPr>
          <a:xfrm>
            <a:off x="7095744" y="1691640"/>
            <a:ext cx="749808" cy="502920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F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Text 15"/>
          <p:cNvSpPr/>
          <p:nvPr/>
        </p:nvSpPr>
        <p:spPr>
          <a:xfrm>
            <a:off x="7955280" y="17373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= 255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2402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lerp(RED, BLUE, t)  as t goes 0 -&gt; 255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2560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(color.cpp):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4846320" cy="2103120"/>
          </a:xfrm>
          <a:prstGeom prst="rect">
            <a:avLst/>
          </a:prstGeom>
          <a:solidFill>
            <a:srgbClr val="0A1520"/>
          </a:solidFill>
          <a:ln w="9525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21" name="Text 19"/>
          <p:cNvSpPr/>
          <p:nvPr/>
        </p:nvSpPr>
        <p:spPr>
          <a:xfrm>
            <a:off x="475488" y="2926080"/>
            <a:ext cx="46268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em_color lerp(em_color a, em_color b, uint8_t t)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Scale to 0-255 range using integer math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uint16_t inv = 255u - 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r = (uint8_t)((a.r * inv + b.r * t) / 255u);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g = (uint8_t)((a.g * inv + b.g * t) / 255u);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bv = (uint8_t)((a.b * inv + b.b * t) / 255u);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em_color(r, g, bv);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560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 usage: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94960" y="2834640"/>
            <a:ext cx="3383280" cy="2103120"/>
          </a:xfrm>
          <a:prstGeom prst="rect">
            <a:avLst/>
          </a:prstGeom>
          <a:solidFill>
            <a:srgbClr val="0A1520"/>
          </a:solidFill>
          <a:ln w="9525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24" name="Text 22"/>
          <p:cNvSpPr/>
          <p:nvPr/>
        </p:nvSpPr>
        <p:spPr>
          <a:xfrm>
            <a:off x="5504688" y="2926080"/>
            <a:ext cx="31638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t = 0;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 c = lerp(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em_color::RED,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em_color::BLUE,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led.setColor(c);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t++;  // wraps 255-&gt;0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delay(10);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RgbLed — Adding setColor(em_color)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Extending the Lesson 9 class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(Lesson 9)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931920" cy="3291840"/>
          </a:xfrm>
          <a:prstGeom prst="rect">
            <a:avLst/>
          </a:prstGeom>
          <a:solidFill>
            <a:srgbClr val="0A1520"/>
          </a:solidFill>
          <a:ln w="9525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/>
          <p:nvPr/>
        </p:nvSpPr>
        <p:spPr>
          <a:xfrm>
            <a:off x="475488" y="1417320"/>
            <a:ext cx="37124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RgbLed {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RgbLed(uint8_t pin_r,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uint8_t pin_g,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uint8_t pin_b);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setColor(uint8_t r,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uint8_t g,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uint8_t b);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off();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PwmPin _r, _g, _b;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4389120" y="2743200"/>
            <a:ext cx="36576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/>
          <p:nvPr/>
        </p:nvSpPr>
        <p:spPr>
          <a:xfrm>
            <a:off x="4663440" y="26334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9F0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(Lesson 11)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325880"/>
            <a:ext cx="3931920" cy="3291840"/>
          </a:xfrm>
          <a:prstGeom prst="rect">
            <a:avLst/>
          </a:prstGeom>
          <a:solidFill>
            <a:srgbClr val="0A1520"/>
          </a:solidFill>
          <a:ln w="9525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/>
          <p:nvPr/>
        </p:nvSpPr>
        <p:spPr>
          <a:xfrm>
            <a:off x="4956048" y="1417320"/>
            <a:ext cx="37124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"color.h"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RgbLed {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RgbLed(uint8_t pin_r,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uint8_t pin_g,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uint8_t pin_b);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setColor(uint8_t r,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uint8_t g,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uint8_t b);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NEW: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setColor(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common::em_color&amp; c);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off();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PwmPin _r, _g, _b;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solidFill>
            <a:srgbClr val="162032"/>
          </a:solidFill>
          <a:ln w="12700">
            <a:solidFill>
              <a:srgbClr val="81D4F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Text 12"/>
          <p:cNvSpPr/>
          <p:nvPr/>
        </p:nvSpPr>
        <p:spPr>
          <a:xfrm>
            <a:off x="502920" y="470001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Both overloads coexist — old code calling setColor(r, g, b) continues to work without changes.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Joystick Module — Hardware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potentiometers + tactile button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the module: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640080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Potentiometer — X axis  (ADC input)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640080" cy="347472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Text 8"/>
          <p:cNvSpPr/>
          <p:nvPr/>
        </p:nvSpPr>
        <p:spPr>
          <a:xfrm>
            <a:off x="365760" y="184708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1892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Potentiometer — Y axis  (ADC input)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322576"/>
            <a:ext cx="640080" cy="34747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Text 11"/>
          <p:cNvSpPr/>
          <p:nvPr/>
        </p:nvSpPr>
        <p:spPr>
          <a:xfrm>
            <a:off x="365760" y="232257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23682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button (active-low, pull-up)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798064"/>
            <a:ext cx="640080" cy="34747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6" name="Text 14"/>
          <p:cNvSpPr/>
          <p:nvPr/>
        </p:nvSpPr>
        <p:spPr>
          <a:xfrm>
            <a:off x="365760" y="279806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VCC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28437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3.3 V power supply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640080" cy="347472"/>
          </a:xfrm>
          <a:prstGeom prst="rect">
            <a:avLst/>
          </a:prstGeom>
          <a:solidFill>
            <a:srgbClr val="90A4B7"/>
          </a:solidFill>
          <a:ln w="12700">
            <a:solidFill>
              <a:srgbClr val="90A4B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Text 17"/>
          <p:cNvSpPr/>
          <p:nvPr/>
        </p:nvSpPr>
        <p:spPr>
          <a:xfrm>
            <a:off x="365760" y="32735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" y="3319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9319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Suggested pin assignment (ESP32-C3):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224528"/>
            <a:ext cx="3931920" cy="749808"/>
          </a:xfrm>
          <a:prstGeom prst="rect">
            <a:avLst/>
          </a:prstGeom>
          <a:solidFill>
            <a:srgbClr val="0A1520"/>
          </a:solidFill>
          <a:ln w="9525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23" name="Text 21"/>
          <p:cNvSpPr/>
          <p:nvPr/>
        </p:nvSpPr>
        <p:spPr>
          <a:xfrm>
            <a:off x="475488" y="4315968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VRx -&gt; GPIO 4   (ADC1 CH4)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VRy -&gt; GPIO 5   (ADC1 CH5)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 -&gt; GPIO 6   (digital, pull-up)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1005840"/>
            <a:ext cx="3931920" cy="3977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25" name="Text 23"/>
          <p:cNvSpPr/>
          <p:nvPr/>
        </p:nvSpPr>
        <p:spPr>
          <a:xfrm>
            <a:off x="498348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ESP32-C3 ADC notes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83480" y="1508760"/>
            <a:ext cx="64008" cy="2286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7" name="Text 25"/>
          <p:cNvSpPr/>
          <p:nvPr/>
        </p:nvSpPr>
        <p:spPr>
          <a:xfrm>
            <a:off x="512064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12-bit ADC: values 0 - 4095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83480" y="1984248"/>
            <a:ext cx="64008" cy="2286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9" name="Text 27"/>
          <p:cNvSpPr/>
          <p:nvPr/>
        </p:nvSpPr>
        <p:spPr>
          <a:xfrm>
            <a:off x="5120640" y="1984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ADC1 pins only (ADC2 conflicts with WiFi)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83480" y="2459736"/>
            <a:ext cx="64008" cy="2286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1" name="Text 29"/>
          <p:cNvSpPr/>
          <p:nvPr/>
        </p:nvSpPr>
        <p:spPr>
          <a:xfrm>
            <a:off x="5120640" y="24597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analogRead() returns uint16_t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83480" y="2935224"/>
            <a:ext cx="64008" cy="2286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3" name="Text 31"/>
          <p:cNvSpPr/>
          <p:nvPr/>
        </p:nvSpPr>
        <p:spPr>
          <a:xfrm>
            <a:off x="5120640" y="29352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Center resting: ~2048 (may drift)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83480" y="3410712"/>
            <a:ext cx="64008" cy="2286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5" name="Text 33"/>
          <p:cNvSpPr/>
          <p:nvPr/>
        </p:nvSpPr>
        <p:spPr>
          <a:xfrm>
            <a:off x="5120640" y="3410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map() used to convert to -100..+100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983480" y="3886200"/>
            <a:ext cx="64008" cy="2286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7" name="Text 35"/>
          <p:cNvSpPr/>
          <p:nvPr/>
        </p:nvSpPr>
        <p:spPr>
          <a:xfrm>
            <a:off x="5120640" y="3886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Dead zone compensates center noise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Joystick — Class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Composition over inheritance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017520" y="1005840"/>
            <a:ext cx="3108960" cy="8229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3017520" y="1005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Joystick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899824" y="8046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namespace drivers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201168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69F0A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9F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AnalogPin _x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2926080"/>
            <a:ext cx="201168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69F0A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1" name="Text 9"/>
          <p:cNvSpPr/>
          <p:nvPr/>
        </p:nvSpPr>
        <p:spPr>
          <a:xfrm>
            <a:off x="3383280" y="2926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9F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AnalogPin _y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0" y="2926080"/>
            <a:ext cx="201168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54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3" name="Text 11"/>
          <p:cNvSpPr/>
          <p:nvPr/>
        </p:nvSpPr>
        <p:spPr>
          <a:xfrm>
            <a:off x="6583680" y="29260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_btn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flipH="1">
            <a:off x="1779006" y="1828800"/>
            <a:ext cx="1421394" cy="1069848"/>
          </a:xfrm>
          <a:prstGeom prst="line">
            <a:avLst/>
          </a:prstGeom>
          <a:noFill/>
          <a:ln w="19050">
            <a:solidFill>
              <a:srgbClr val="69F0AE"/>
            </a:solidFill>
            <a:prstDash val="dash"/>
          </a:ln>
        </p:spPr>
        <p:txBody>
          <a:bodyPr/>
          <a:lstStyle/>
          <a:p>
            <a:endParaRPr lang="et-EE"/>
          </a:p>
        </p:txBody>
      </p:sp>
      <p:sp>
        <p:nvSpPr>
          <p:cNvPr id="15" name="Shape 13"/>
          <p:cNvSpPr/>
          <p:nvPr/>
        </p:nvSpPr>
        <p:spPr>
          <a:xfrm flipH="1">
            <a:off x="4513152" y="1828800"/>
            <a:ext cx="58848" cy="1097280"/>
          </a:xfrm>
          <a:prstGeom prst="line">
            <a:avLst/>
          </a:prstGeom>
          <a:noFill/>
          <a:ln w="19050">
            <a:solidFill>
              <a:srgbClr val="69F0AE"/>
            </a:solidFill>
            <a:prstDash val="dash"/>
          </a:ln>
        </p:spPr>
        <p:txBody>
          <a:bodyPr/>
          <a:lstStyle/>
          <a:p>
            <a:endParaRPr lang="et-EE"/>
          </a:p>
        </p:txBody>
      </p:sp>
      <p:sp>
        <p:nvSpPr>
          <p:cNvPr id="16" name="Shape 14"/>
          <p:cNvSpPr/>
          <p:nvPr/>
        </p:nvSpPr>
        <p:spPr>
          <a:xfrm>
            <a:off x="5943600" y="1828800"/>
            <a:ext cx="2011680" cy="1097280"/>
          </a:xfrm>
          <a:prstGeom prst="line">
            <a:avLst/>
          </a:prstGeom>
          <a:noFill/>
          <a:ln w="19050">
            <a:solidFill>
              <a:srgbClr val="FFD54F"/>
            </a:solidFill>
            <a:prstDash val="dash"/>
          </a:ln>
        </p:spPr>
        <p:txBody>
          <a:bodyPr/>
          <a:lstStyle/>
          <a:p>
            <a:endParaRPr lang="et-EE"/>
          </a:p>
        </p:txBody>
      </p:sp>
      <p:sp>
        <p:nvSpPr>
          <p:cNvPr id="17" name="Text 15"/>
          <p:cNvSpPr/>
          <p:nvPr/>
        </p:nvSpPr>
        <p:spPr>
          <a:xfrm>
            <a:off x="365760" y="3611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API: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6912" y="3854693"/>
            <a:ext cx="8288448" cy="1228827"/>
          </a:xfrm>
          <a:prstGeom prst="rect">
            <a:avLst/>
          </a:prstGeom>
          <a:solidFill>
            <a:srgbClr val="0A1520"/>
          </a:solidFill>
          <a:ln w="9525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 dirty="0"/>
          </a:p>
        </p:txBody>
      </p:sp>
      <p:sp>
        <p:nvSpPr>
          <p:cNvPr id="19" name="Text 17"/>
          <p:cNvSpPr/>
          <p:nvPr/>
        </p:nvSpPr>
        <p:spPr>
          <a:xfrm>
            <a:off x="446064" y="3854694"/>
            <a:ext cx="81930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Joystick(uint8_t pin_x, uint8_t pin_y,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uint8_t pin_btn, uint8_t dead_zone = 10);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    update();           // call every loop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int8_t   getX() const;       // -100..+100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int8_t   getY() const;       // -100..+100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    isPressed() const;  // button state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    wasPressed();       // edge detect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Mapping &amp; Dead Zone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raw ADC to signed int8_t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ADC range  0 - 4095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411480"/>
          </a:xfrm>
          <a:prstGeom prst="rect">
            <a:avLst/>
          </a:prstGeom>
          <a:solidFill>
            <a:srgbClr val="162032"/>
          </a:solidFill>
          <a:ln w="12700">
            <a:solidFill>
              <a:srgbClr val="90A4B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185166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8" name="Shape 6"/>
          <p:cNvSpPr/>
          <p:nvPr/>
        </p:nvSpPr>
        <p:spPr>
          <a:xfrm>
            <a:off x="2217420" y="1417320"/>
            <a:ext cx="411480" cy="411480"/>
          </a:xfrm>
          <a:prstGeom prst="rect">
            <a:avLst/>
          </a:prstGeom>
          <a:solidFill>
            <a:srgbClr val="4FC3F7">
              <a:alpha val="70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Shape 7"/>
          <p:cNvSpPr/>
          <p:nvPr/>
        </p:nvSpPr>
        <p:spPr>
          <a:xfrm>
            <a:off x="2628900" y="1417320"/>
            <a:ext cx="1851660" cy="41148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Text 8"/>
          <p:cNvSpPr/>
          <p:nvPr/>
        </p:nvSpPr>
        <p:spPr>
          <a:xfrm>
            <a:off x="365760" y="18470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35124" y="1847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~2048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069080" y="1847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4095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Mapped  -100 .. +100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4114800" cy="411480"/>
          </a:xfrm>
          <a:prstGeom prst="rect">
            <a:avLst/>
          </a:prstGeom>
          <a:solidFill>
            <a:srgbClr val="162032"/>
          </a:solidFill>
          <a:ln w="12700">
            <a:solidFill>
              <a:srgbClr val="90A4B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20574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6" name="Shape 14"/>
          <p:cNvSpPr/>
          <p:nvPr/>
        </p:nvSpPr>
        <p:spPr>
          <a:xfrm>
            <a:off x="2423160" y="2468880"/>
            <a:ext cx="2057400" cy="411480"/>
          </a:xfrm>
          <a:prstGeom prst="rect">
            <a:avLst/>
          </a:prstGeom>
          <a:solidFill>
            <a:srgbClr val="1A4A3A"/>
          </a:solidFill>
          <a:ln w="12700">
            <a:solidFill>
              <a:srgbClr val="1A4A3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Shape 15"/>
          <p:cNvSpPr/>
          <p:nvPr/>
        </p:nvSpPr>
        <p:spPr>
          <a:xfrm>
            <a:off x="2217420" y="2468880"/>
            <a:ext cx="411480" cy="411480"/>
          </a:xfrm>
          <a:prstGeom prst="rect">
            <a:avLst/>
          </a:prstGeom>
          <a:solidFill>
            <a:srgbClr val="FFD54F">
              <a:alpha val="80000"/>
            </a:srgbClr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8" name="Text 16"/>
          <p:cNvSpPr/>
          <p:nvPr/>
        </p:nvSpPr>
        <p:spPr>
          <a:xfrm>
            <a:off x="365760" y="2898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7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29384" y="28986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(dead zone)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23360" y="2898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9F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005840"/>
            <a:ext cx="4297680" cy="3108960"/>
          </a:xfrm>
          <a:prstGeom prst="rect">
            <a:avLst/>
          </a:prstGeom>
          <a:solidFill>
            <a:srgbClr val="0A1520"/>
          </a:solidFill>
          <a:ln w="9525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22" name="Text 20"/>
          <p:cNvSpPr/>
          <p:nvPr/>
        </p:nvSpPr>
        <p:spPr>
          <a:xfrm>
            <a:off x="4681728" y="1097280"/>
            <a:ext cx="407822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int8_t Joystick::_mapAxis(uint16_t raw) const {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map 0-4095 to -100..+100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int16_t v = (int16_t)map(raw, 0, 4095,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-100, 100);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apply dead zone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(v &gt; -(int8_t)_dz &amp;&amp; v &lt; (int8_t)_dz) {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(int8_t)v;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Joystick::update() {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_vx = _mapAxis(_x.read());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_vy = _mapAxis(_y.read());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_btn.update();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4" name="Text 22"/>
          <p:cNvSpPr/>
          <p:nvPr/>
        </p:nvSpPr>
        <p:spPr>
          <a:xfrm>
            <a:off x="502920" y="45262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Dead zone prevents jitter when the joystick is at rest near center.  Constructor default: dead_zone = 10  (maps to ~10 units out of 100).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Joystick — Full Header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include/joystick.h  |  namespace drivers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91540"/>
            <a:ext cx="8634290" cy="4160294"/>
          </a:xfrm>
          <a:prstGeom prst="rect">
            <a:avLst/>
          </a:prstGeom>
          <a:solidFill>
            <a:srgbClr val="0A1520"/>
          </a:solidFill>
          <a:ln w="9525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/>
          <p:nvPr/>
        </p:nvSpPr>
        <p:spPr>
          <a:xfrm>
            <a:off x="375900" y="891540"/>
            <a:ext cx="46397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once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&lt;stdint.h&gt;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"analog_pin.h"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"button.h"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drivers {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Joystick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Joystick(uint8_t pin_x, uint8_t pin_y,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uint8_t pin_btn,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uint8_t dead_zone = 10);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  update();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int8_t getX()      const;  // -100..+100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int8_t getY()      const;  // -100..+100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isPressed() const;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wasPressed();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AnalogPin _x;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AnalogPin _y;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Button    _btn;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  _dz;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int8_t    _vx;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int8_t    _vy;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int8_t _mapAxis(uint16_t raw) const;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// namespace drivers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— Joystick Controls RGB Color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Joystick X axis -&gt; lerp RED to BLUE,  button -&gt; WHITE flash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demo/src/main.cpp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754880" cy="3703320"/>
          </a:xfrm>
          <a:prstGeom prst="rect">
            <a:avLst/>
          </a:prstGeom>
          <a:solidFill>
            <a:srgbClr val="0A1520"/>
          </a:solidFill>
          <a:ln w="9525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/>
          <p:nvPr/>
        </p:nvSpPr>
        <p:spPr>
          <a:xfrm>
            <a:off x="475488" y="1335205"/>
            <a:ext cx="4535424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"joystick.h"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"rgb_led.h"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"color.h"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drivers;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common;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Joystick joy(4, 5, 6);   // x, y, btn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RgbLed   led(3, 10, 2);  // r, g, b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{}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80" dirty="0" err="1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joy.update</a:t>
            </a:r>
            <a:r>
              <a:rPr lang="en-US" sz="88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map X axis 0..200 -&gt; t 0..255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int8_t x = joy.getX();      // -100..+100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t = (uint8_t)(x + 100);  // 0..200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em_color c = lerp(em_color::RED,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em_color::BLUE, t);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(joy.wasPressed())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led.setColor(em_color::WHITE);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delay(120);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led.setColor(c);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delay(20);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81D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5303520" y="1005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03520" y="1371600"/>
            <a:ext cx="914400" cy="43891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0" name="Text 8"/>
          <p:cNvSpPr/>
          <p:nvPr/>
        </p:nvSpPr>
        <p:spPr>
          <a:xfrm>
            <a:off x="5303520" y="13716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Left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1444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LED glows 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1965960"/>
            <a:ext cx="914400" cy="438912"/>
          </a:xfrm>
          <a:prstGeom prst="rect">
            <a:avLst/>
          </a:prstGeom>
          <a:solidFill>
            <a:srgbClr val="90A4B7"/>
          </a:solidFill>
          <a:ln w="12700">
            <a:solidFill>
              <a:srgbClr val="90A4B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Text 11"/>
          <p:cNvSpPr/>
          <p:nvPr/>
        </p:nvSpPr>
        <p:spPr>
          <a:xfrm>
            <a:off x="5303520" y="196596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09360" y="2039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LED is PURPLE (mix)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0" y="2560320"/>
            <a:ext cx="914400" cy="43891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6" name="Text 14"/>
          <p:cNvSpPr/>
          <p:nvPr/>
        </p:nvSpPr>
        <p:spPr>
          <a:xfrm>
            <a:off x="5303520" y="25603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26334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LED glows BLUE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03520" y="3154680"/>
            <a:ext cx="914400" cy="43891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Text 17"/>
          <p:cNvSpPr/>
          <p:nvPr/>
        </p:nvSpPr>
        <p:spPr>
          <a:xfrm>
            <a:off x="5303520" y="31546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3227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Flash WHITE briefly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03520" y="3931920"/>
            <a:ext cx="3474720" cy="1051560"/>
          </a:xfrm>
          <a:prstGeom prst="rect">
            <a:avLst/>
          </a:prstGeom>
          <a:solidFill>
            <a:srgbClr val="162032"/>
          </a:solidFill>
          <a:ln w="12700">
            <a:solidFill>
              <a:srgbClr val="90A4B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2" name="Text 20"/>
          <p:cNvSpPr/>
          <p:nvPr/>
        </p:nvSpPr>
        <p:spPr>
          <a:xfrm>
            <a:off x="5394960" y="40050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axis (getY()) is available but not used in the demo — good extension point for homework!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94960" y="44622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dead_zone = 10  -&gt; X = 0 near center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 — Lesson 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 the joystick + color system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931920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10 —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1097280"/>
          </a:xfrm>
          <a:prstGeom prst="rect">
            <a:avLst/>
          </a:prstGeom>
          <a:solidFill>
            <a:srgbClr val="162032"/>
          </a:solidFill>
          <a:ln w="12700">
            <a:solidFill>
              <a:srgbClr val="69F0A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09728" cy="1097280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F0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em_color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Reusable 3-byte color struct in namespace common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23360" cy="1097280"/>
          </a:xfrm>
          <a:prstGeom prst="rect">
            <a:avLst/>
          </a:prstGeom>
          <a:solidFill>
            <a:srgbClr val="162032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109728" cy="10972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Text 9"/>
          <p:cNvSpPr/>
          <p:nvPr/>
        </p:nvSpPr>
        <p:spPr>
          <a:xfrm>
            <a:off x="484632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Constants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3898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named colors as static const members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148840"/>
            <a:ext cx="4023360" cy="1097280"/>
          </a:xfrm>
          <a:prstGeom prst="rect">
            <a:avLst/>
          </a:prstGeom>
          <a:solidFill>
            <a:srgbClr val="162032"/>
          </a:solidFill>
          <a:ln w="12700">
            <a:solidFill>
              <a:srgbClr val="81D4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109728" cy="1097280"/>
          </a:xfrm>
          <a:prstGeom prst="rect">
            <a:avLst/>
          </a:prstGeom>
          <a:solidFill>
            <a:srgbClr val="81D4FA"/>
          </a:solidFill>
          <a:ln w="12700">
            <a:solidFill>
              <a:srgbClr val="81D4F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Text 13"/>
          <p:cNvSpPr/>
          <p:nvPr/>
        </p:nvSpPr>
        <p:spPr>
          <a:xfrm>
            <a:off x="54864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lerp()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6243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Integer-based color interpolation, no float needed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148840"/>
            <a:ext cx="4023360" cy="109728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54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18" name="Shape 16"/>
          <p:cNvSpPr/>
          <p:nvPr/>
        </p:nvSpPr>
        <p:spPr>
          <a:xfrm>
            <a:off x="4663440" y="2148840"/>
            <a:ext cx="109728" cy="109728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Text 17"/>
          <p:cNvSpPr/>
          <p:nvPr/>
        </p:nvSpPr>
        <p:spPr>
          <a:xfrm>
            <a:off x="484632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RgbLed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6243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Extended with setColor(const em_color&amp;) overload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383280"/>
            <a:ext cx="4023360" cy="1097280"/>
          </a:xfrm>
          <a:prstGeom prst="rect">
            <a:avLst/>
          </a:prstGeom>
          <a:solidFill>
            <a:srgbClr val="162032"/>
          </a:solidFill>
          <a:ln w="12700">
            <a:solidFill>
              <a:srgbClr val="FF704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22" name="Shape 20"/>
          <p:cNvSpPr/>
          <p:nvPr/>
        </p:nvSpPr>
        <p:spPr>
          <a:xfrm>
            <a:off x="365760" y="3383280"/>
            <a:ext cx="109728" cy="109728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3" name="Text 21"/>
          <p:cNvSpPr/>
          <p:nvPr/>
        </p:nvSpPr>
        <p:spPr>
          <a:xfrm>
            <a:off x="54864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0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Joystick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858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Composition: AnalogPin x2 + Button, -100..+100 with dead zone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383280"/>
            <a:ext cx="4023360" cy="1097280"/>
          </a:xfrm>
          <a:prstGeom prst="rect">
            <a:avLst/>
          </a:prstGeom>
          <a:solidFill>
            <a:srgbClr val="162032"/>
          </a:solidFill>
          <a:ln w="12700">
            <a:solidFill>
              <a:srgbClr val="69F0A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sp>
        <p:nvSpPr>
          <p:cNvPr id="26" name="Shape 24"/>
          <p:cNvSpPr/>
          <p:nvPr/>
        </p:nvSpPr>
        <p:spPr>
          <a:xfrm>
            <a:off x="4663440" y="3383280"/>
            <a:ext cx="109728" cy="1097280"/>
          </a:xfrm>
          <a:prstGeom prst="rect">
            <a:avLst/>
          </a:prstGeom>
          <a:solidFill>
            <a:srgbClr val="69F0AE"/>
          </a:solidFill>
          <a:ln w="12700">
            <a:solidFill>
              <a:srgbClr val="69F0AE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7" name="Text 25"/>
          <p:cNvSpPr/>
          <p:nvPr/>
        </p:nvSpPr>
        <p:spPr>
          <a:xfrm>
            <a:off x="484632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9F0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858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1D4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Reuse existing drivers classes instead of re-implementing logic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Next: Communication Protocols (I2C, SPI, UART) or further design patterns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2050</Words>
  <Application>Microsoft Office PowerPoint</Application>
  <PresentationFormat>On-screen Show (16:9)</PresentationFormat>
  <Paragraphs>351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10 - em_color and Joystick</dc:title>
  <dc:subject>PptxGenJS Presentation</dc:subject>
  <dc:creator>PptxGenJS</dc:creator>
  <cp:lastModifiedBy>Bobyrev, Aleksandr</cp:lastModifiedBy>
  <cp:revision>3</cp:revision>
  <dcterms:created xsi:type="dcterms:W3CDTF">2026-03-20T14:17:51Z</dcterms:created>
  <dcterms:modified xsi:type="dcterms:W3CDTF">2026-03-20T15:21:01Z</dcterms:modified>
</cp:coreProperties>
</file>