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73152" cy="3657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640080"/>
            <a:ext cx="1463040" cy="4114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LESSON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and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to Structs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8580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data • Memory layout • Arrow operator • Embedded patterns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Embedded Systems Course 2026  |  ESP32-C3 / PlatformIO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Struct basics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Defining, initializing, and accessing members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48840"/>
            <a:ext cx="640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221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Memory layout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structs live in RAM — alignment and padding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640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24612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319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Pointers to structs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&amp; operator, -&gt; operator, passing by pointer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051560"/>
            <a:ext cx="640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5156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0" y="1124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Embedded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1463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GPIO descriptor, peripheral config, driver structs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214884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148840"/>
            <a:ext cx="6400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1488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760720" y="2221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Hands-on exercise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60720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 a button driver using a struct + pointer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What Is a Struct?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 struct bundles multiple variables of different types under one name.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Think of it as a custom data type that models a real-world object.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97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In embedded systems, structs represent hardware registers, peripheral configs, sensor readings, and protocol frames.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Structs keep related data together — improving readability and enabling clean driver APIs.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822960"/>
            <a:ext cx="3840480" cy="384048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896112"/>
            <a:ext cx="3703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Modeling a GPIO pin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pin_num;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is_output;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active_high;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Creating an instance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led;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led.pin_num    = 8;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led.is_output  = true;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led.active_high = true;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Accessing a member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(led.is_output)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gpio_set(led.pin_num, 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Memory Layout of a Struct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88720" cy="640080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pin_num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uint8_t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097280"/>
            <a:ext cx="1188720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097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34640" y="1097280"/>
            <a:ext cx="118872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097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is_output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023360" y="1097280"/>
            <a:ext cx="1188720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097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1097280"/>
            <a:ext cx="11887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97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active_high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bool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0" y="1097280"/>
            <a:ext cx="3566160" cy="640080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Byte: 0        1        2        3        4        5     6  7  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2296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774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</a:rPr>
              <a:t>Note: The compiler may insert padding bytes to align members on natural boundaries (e.g. a uint32_t wants to start at an address divisible by 4). Use __attribute__((packed)) to disable padding — but be aware of performance trade-offs on RISC-V (ESP32-C3).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24612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size at compile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static_assert(sizeof(struct GpioPin) == 3,  "Unexpected padding!");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Packed: no padding, useful for protocol frames / register maps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__attribute__((packed)) SpiFrame { uint8_t cmd; uint16_t addr; uint32_t data; };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Pointers to Structs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Two ways to access members: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90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Dot operator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Direct variable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pin.pin_num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06040"/>
            <a:ext cx="64008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060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-&gt;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Arrow operator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90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Pointer to struct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2644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p-&gt;pin_num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1148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673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p-&gt;member   is shorthand for   (*p).member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46320" y="822960"/>
            <a:ext cx="3931920" cy="402336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896112"/>
            <a:ext cx="374904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led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.pin_num    = 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.is_output  =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.active_high =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Pointer to the struct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*p = &amp;led;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Three equivalent accesses: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a = led.pin_num;   // dot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b = (*p).pin_num;  // deref+dot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 = p-&gt;pin_num;    // arrow (preferred)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Pass to a function by pointer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gpio_init(struct GpioPin *pin)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pinMode(pin-&gt;pin_num,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pin-&gt;is_output ? OUTPUT : INPUT);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gpio_init(&amp;led);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Passing Structs: By Value vs By Pointer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Value  (AVOID for structs)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init_val(struct GpioPin pin)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'pin' is a full COPY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Changes do NOT affect caller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pin.is_output = true; // lost!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52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Copies all bytes of the struct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355848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36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Expensive for large structs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39896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210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Original is never modified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123944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050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Rarely useful in embedded drivers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914400"/>
            <a:ext cx="3931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By Pointer  (PREFERRED)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463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init_ptr(struct GpioPin *pin)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'pin' is a 4-byte pointer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Changes DO affect caller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pin-&gt;is_output = true; // works!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pinMode(pin-&gt;pin_num, OUTPUT);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29718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852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Only 4 bytes copied (pointer size)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83480" y="3355848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236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Zero copy overhead — always fast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983480" y="373989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6210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Caller's struct IS modified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83480" y="41239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40050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Standard pattern in embedded C drivers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Embedded Pattern: GPIO Pin Descriptor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ESP32-C3 — PlatformIO / Arduino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gpio_driver.h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&lt;stdbool.h&gt;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&lt;Arduino.h&gt;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 pin;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output;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active_high;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 pull_up;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GpioPin_t;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Driver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gpio_pin_init(GpioPin_t *p);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gpio_pin_set(GpioPin_t *p, bool state);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gpio_pin_read(GpioPin_t *p);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0F1729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261872"/>
            <a:ext cx="38404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gpio_driver.cpp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gpio_pin_init(GpioPin_t *p)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mode = p-&gt;output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? OUTPUT : INPUT;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(!p-&gt;output &amp;&amp; p-&gt;pull_up)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 = INPUT_PULLUP;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pinMode(p-&gt;pin, mode);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gpio_pin_set(GpioPin_t *p,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bool state)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level = p-&gt;active_high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? state : !state;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digitalWrite(p-&gt;pin, level);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gpio_pin_read(GpioPin_t *p)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raw = digitalRead(p-&gt;pin);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p-&gt;active_high ? raw : !raw;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Using the GPIO Driver in main.cpp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292608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"gpio_driver.h"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Declare pins as structs — no "magic numbers" scattered in code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GpioPin_t led    = { .pin = 8,  .output = true,  .active_high = true,  .pull_up = false 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GpioPin_t button = { .pin = 9,  .output = false, .active_high = false, .pull_up = true  };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gpio_pin_init(&amp;led);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gpio_pin_init(&amp;button);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pressed = gpio_pin_read(&amp;button);  // abstraction hides active-low detail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gpio_pin_set(&amp;led, pressed);            // LED mirrors button state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delay(10);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3977640"/>
            <a:ext cx="45720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97764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Designated initializers (.pin = 8) make struct init readable and safe — no positional mistakes.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4343400"/>
            <a:ext cx="45720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34340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The driver hides hardware details (active-low, pull-up) behind a clean API.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4709160"/>
            <a:ext cx="457200" cy="3017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7091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709160"/>
            <a:ext cx="78638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Adding a new pin requires zero code changes — just a new GpioPin_t instance.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typedef struct — Clean Naming Convention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103120"/>
          </a:xfrm>
          <a:prstGeom prst="rect">
            <a:avLst/>
          </a:prstGeom>
          <a:solidFill>
            <a:srgbClr val="0F172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Without typedef — verbose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output;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GpioPin led;             // need 'struct' keyword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init(struct GpioPin *p);   // everywhere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023360" cy="2103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With typedef — clean (C99+)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uint8_t pin;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   output;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GpioPin_t;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GpioPin_t led;             // no 'struct' keyword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init(GpioPin_t *p);   // cleaner everywhere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841248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8211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</a:rPr>
              <a:t>Convention: append _t to typedef names (GpioPin_t, SpiConfig_t). Matches stdint.h style (uint8_t, int32_t) — consistent and instantly recognizable as a type.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Avoid typedef for pointer types (e.g. typedef GpioPin_t* PGpioPin).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2400E"/>
                </a:solidFill>
              </a:rPr>
              <a:t>Hiding the pointer makes code harder to reason about — always write GpioPin_t* p explicitly.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Arrays of Structs — Managing Multiple Peripherals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200400"/>
          </a:xfrm>
          <a:prstGeom prst="rect">
            <a:avLst/>
          </a:prstGeom>
          <a:solidFill>
            <a:srgbClr val="0F1729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Multiple LEDs — array of structs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GpioPin_t leds[]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.pin = 8,  .output = true, .active_high = true,  .pull_up = false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.pin = 9,  .output = true, .active_high = false, .pull_up = false },  // active-low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.pin = 10, .output = true, .active_high = true,  .pull_up = false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uint8_t NUM_LEDS = sizeof(leds) / sizeof(leds[0]);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setup()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(uint8_t i = 0; i &lt; NUM_LEDS; i++)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gpio_pin_init(&amp;leds[i]);       // pointer to each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all_leds_on(void)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GpioPin_t *p = leds;               // pointer arithmetic on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(uint8_t i = 0; i &lt; NUM_LEDS; i++, p++)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gpio_pin_set(p, true);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50292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5196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leds[i]  is equivalent to  *(leds + i)  — the array name is a pointer to its first element.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Hands-On Exercise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Build a Button Driver Using a Struct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59436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8229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Define a Button_t struct with fields: pin (uint8_t), active_high (bool), debounce_ms (uint16_t), last_state (bool), last_time (uint32_t).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8412480" cy="59436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39112"/>
            <a:ext cx="8229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39112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08483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Write button_init(Button_t *b) that sets up the pin with INPUT_PULLUP when active_high is false.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8412480" cy="59436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52344"/>
            <a:ext cx="8229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52344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798064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Write button_read(Button_t *b) that returns a debounced bool using millis() and the struct's last_state / last_time fields.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8412480" cy="59436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465576"/>
            <a:ext cx="82296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6557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51129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In main.cpp, create one Button_t instance and one GpioPin_t LED. Toggle the LED on each confirmed button press.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841248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178808"/>
            <a:ext cx="8229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7880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BONUS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4224528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Create an array of 2 buttons. Print which button was pressed to Serial.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051560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ysDot"/>
          </a:ln>
        </p:spPr>
      </p:sp>
      <p:sp>
        <p:nvSpPr>
          <p:cNvPr id="7" name="Text 5"/>
          <p:cNvSpPr/>
          <p:nvPr/>
        </p:nvSpPr>
        <p:spPr>
          <a:xfrm>
            <a:off x="2011680" y="10058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Groups heterogeneous data into a single named type. Use typedef struct { } Name_t; convention.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8412480" cy="68580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1847088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ysDot"/>
          </a:ln>
        </p:spPr>
      </p:sp>
      <p:sp>
        <p:nvSpPr>
          <p:cNvPr id="11" name="Text 9"/>
          <p:cNvSpPr/>
          <p:nvPr/>
        </p:nvSpPr>
        <p:spPr>
          <a:xfrm>
            <a:off x="2011680" y="180136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Compiler adds padding for alignment. sizeof() reveals actual size. Use static_assert to catch surprises.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51176"/>
            <a:ext cx="8412480" cy="68580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9689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2642616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2011680" y="2596896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arrow operator accesses members through a pointer. p-&gt;x is (*p).x — always prefer -&gt;.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8412480" cy="68580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9242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pointer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20240" y="3438144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ysDot"/>
          </a:ln>
        </p:spPr>
      </p:sp>
      <p:sp>
        <p:nvSpPr>
          <p:cNvPr id="19" name="Text 17"/>
          <p:cNvSpPr/>
          <p:nvPr/>
        </p:nvSpPr>
        <p:spPr>
          <a:xfrm>
            <a:off x="2011680" y="3392424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Always pass structs to functions by pointer. Avoids copying, enables mutation, matches driver APIs.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42232"/>
            <a:ext cx="8412480" cy="685800"/>
          </a:xfrm>
          <a:prstGeom prst="rect">
            <a:avLst/>
          </a:prstGeom>
          <a:solidFill>
            <a:srgbClr val="1A2B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8795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4233672"/>
            <a:ext cx="0" cy="502920"/>
          </a:xfrm>
          <a:prstGeom prst="line">
            <a:avLst/>
          </a:prstGeom>
          <a:noFill/>
          <a:ln w="12700">
            <a:solidFill>
              <a:srgbClr val="3B82F6"/>
            </a:solidFill>
            <a:prstDash val="sysDot"/>
          </a:ln>
        </p:spPr>
      </p:sp>
      <p:sp>
        <p:nvSpPr>
          <p:cNvPr id="23" name="Text 21"/>
          <p:cNvSpPr/>
          <p:nvPr/>
        </p:nvSpPr>
        <p:spPr>
          <a:xfrm>
            <a:off x="2011680" y="4187952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Structs are the foundation of C driver design — GPIO, SPI, I2C, UART configs all use this pattern.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Next: Dynamic memory (malloc / free) and linked lists in embedded 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4: Structs and Pointers to Structs</dc:title>
  <dc:subject>PptxGenJS Presentation</dc:subject>
  <dc:creator>Embedded Systems Course 2026</dc:creator>
  <cp:lastModifiedBy>Embedded Systems Course 2026</cp:lastModifiedBy>
  <cp:revision>1</cp:revision>
  <dcterms:created xsi:type="dcterms:W3CDTF">2026-02-23T12:46:07Z</dcterms:created>
  <dcterms:modified xsi:type="dcterms:W3CDTF">2026-02-23T12:46:07Z</dcterms:modified>
</cp:coreProperties>
</file>