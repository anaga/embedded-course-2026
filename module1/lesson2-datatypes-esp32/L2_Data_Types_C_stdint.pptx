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2D3748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30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225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 Types in 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</a:rPr>
              <a:t>From Basics to stdint.h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Embedded Systems Course - Lesson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Basic C Data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05050"/>
                </a:solidFill>
              </a:rPr>
              <a:t>What C provides out of the box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Integer numbers (whole numbers)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6400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1554480" y="2130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/ double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2130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Floating-point numbers (decimals)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51760"/>
            <a:ext cx="6400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1554480" y="2724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Single character or small integer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46120"/>
            <a:ext cx="6400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1554480" y="33192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Boolean values (true/false)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1554480" y="39136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913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Memory addresses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</a:rPr>
              <a:t>We'll explore each type and their quirks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Integer Types: int, short, long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6949440" cy="201168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1234440" y="128016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counter = 42;           // Standard integer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small = 100;          // Smaller integer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big = 1000000L;        // Larger integer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positive = 50; // Only positive (0 and up)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signed vs unsigned: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temperature = -10;      // Can be negative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age = 25;      // Never negative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6949440" cy="1397318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128016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WARNING: Size is platform-dependent!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int could be 2 bytes or 4 bytes depending on your CPU
</a:t>
            </a: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</a:rPr>
              <a:t>We'll address this problem soon with stdint.h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Floating-Point Types: float, double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6949440" cy="137160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1234440" y="128016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temperature = 23.5f;     // 32-bit, ~7 decimal digits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precise = 3.14159265;   // 64-bit, ~15 decimal digits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use 'f' suffix for float literals: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pi = 3.14f;              // Correct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pi = 3.14;               // Treated as double, then converted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834639"/>
            <a:ext cx="3200400" cy="2089785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128016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</a:rPr>
              <a:t>float (32-bit)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+ Smaller memory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+ Faster operations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- Less precision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- ~7 digits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2834640"/>
            <a:ext cx="3200400" cy="2089784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502920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double (64-bit)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+ High precision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+ ~15 digits accuracy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- More memory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- Slower on some CPUs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Float Performance in MCUs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05050"/>
                </a:solidFill>
              </a:rPr>
              <a:t>Most microcontrollers lack hardware FPU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185928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FPU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Float Speed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Arduino (AVR)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~100x slower (software)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ESP32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</a:rPr>
                        <a:t>Fast (hardware)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STM32 F4/F7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</a:rPr>
                        <a:t>Fast (hardware)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STM32 F1/F0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Slow (software)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RP2040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Slow (software)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3657600"/>
            <a:ext cx="731520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3"/>
          <p:cNvSpPr/>
          <p:nvPr/>
        </p:nvSpPr>
        <p:spPr>
          <a:xfrm>
            <a:off x="1097280" y="3794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Best Practices for Embedded: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- Avoid float/double when FPU is not available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- Use integer math with scaling (fixed-point)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05050"/>
                </a:solidFill>
              </a:rPr>
              <a:t>- Example: temperature * 100 -&gt; store as int (2534 = 25.34C)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Boolean Type: bool</a:t>
            </a:r>
            <a:endParaRPr lang="en-US" sz="3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81B535-A545-514D-88E8-44FA7F320F2A}"/>
              </a:ext>
            </a:extLst>
          </p:cNvPr>
          <p:cNvGrpSpPr/>
          <p:nvPr/>
        </p:nvGrpSpPr>
        <p:grpSpPr>
          <a:xfrm>
            <a:off x="795339" y="902970"/>
            <a:ext cx="6634162" cy="3545206"/>
            <a:chOff x="457201" y="848677"/>
            <a:chExt cx="6634162" cy="3680461"/>
          </a:xfrm>
        </p:grpSpPr>
        <p:sp>
          <p:nvSpPr>
            <p:cNvPr id="3" name="Shape 1"/>
            <p:cNvSpPr/>
            <p:nvPr/>
          </p:nvSpPr>
          <p:spPr>
            <a:xfrm>
              <a:off x="457201" y="848677"/>
              <a:ext cx="6634162" cy="3680461"/>
            </a:xfrm>
            <a:prstGeom prst="rect">
              <a:avLst/>
            </a:prstGeom>
            <a:solidFill>
              <a:srgbClr val="2D3748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4" name="Text 2"/>
            <p:cNvSpPr/>
            <p:nvPr/>
          </p:nvSpPr>
          <p:spPr>
            <a:xfrm>
              <a:off x="577215" y="850582"/>
              <a:ext cx="6318885" cy="3297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#include &lt;stdbool.h&gt;  // Required in C (C99+)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bool is_ready = true;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bool has_error = false;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In C++, bool is built-in (no include needed)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Common usage: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if (is_ready) {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// Do something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Note: Any non-zero value is "true", zero is "false"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 x = 5;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if (x) {  // This is true because x != 0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printf("x is non-zero\n");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CADC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400" dirty="0"/>
            </a:p>
          </p:txBody>
        </p:sp>
      </p:grpSp>
      <p:sp>
        <p:nvSpPr>
          <p:cNvPr id="7" name="Shape 2">
            <a:extLst>
              <a:ext uri="{FF2B5EF4-FFF2-40B4-BE49-F238E27FC236}">
                <a16:creationId xmlns:a16="http://schemas.microsoft.com/office/drawing/2014/main" id="{E8AA4B1A-FA85-D076-2107-F0962E3320A4}"/>
              </a:ext>
            </a:extLst>
          </p:cNvPr>
          <p:cNvSpPr/>
          <p:nvPr/>
        </p:nvSpPr>
        <p:spPr>
          <a:xfrm>
            <a:off x="1804988" y="4667250"/>
            <a:ext cx="4195762" cy="438150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1528762" y="4667250"/>
            <a:ext cx="478155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05050"/>
                </a:solidFill>
              </a:rPr>
              <a:t>In embedded: bool typically uses 1 byte (8 bits)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Characters and Strings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317" y="1097279"/>
            <a:ext cx="6949440" cy="2741295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1234440" y="11887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letter = 'A';           // Single character (ASCII)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digit = '5';            // Character, not number 5!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Strings = array of characters ending with '\0'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name[] = "ESP32";       // Actually: {'E','S','P','3','2','\0'}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buffer[20] = "Hello";   // Fixed size buffer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operations: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strlen(name);                // Length: 5 (not counting \0)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strcpy(buffer, "World");     // Copy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strcat(buffer, "!");         // Concatenate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6317" y="4046220"/>
            <a:ext cx="6949440" cy="692468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 dirty="0"/>
          </a:p>
        </p:txBody>
      </p:sp>
      <p:sp>
        <p:nvSpPr>
          <p:cNvPr id="6" name="Text 4"/>
          <p:cNvSpPr/>
          <p:nvPr/>
        </p:nvSpPr>
        <p:spPr>
          <a:xfrm>
            <a:off x="1132522" y="40690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IMPORTANT: </a:t>
            </a:r>
            <a:r>
              <a:rPr lang="en-US" sz="1500" dirty="0">
                <a:solidFill>
                  <a:srgbClr val="1E2761"/>
                </a:solidFill>
              </a:rPr>
              <a:t>Strings in C are NOT objects like in Python/Java!
</a:t>
            </a:r>
            <a:r>
              <a:rPr lang="en-US" sz="1400" dirty="0">
                <a:solidFill>
                  <a:srgbClr val="505050"/>
                </a:solidFill>
              </a:rPr>
              <a:t>They're just arrays of characters with a null terminator (\0)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Pointers: Memory Addresses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097279"/>
            <a:ext cx="6949440" cy="2150745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1234440" y="118872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value = 42;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*ptr = &amp;value;     // ptr holds the address of value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value);   // Prints: 42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*ptr);   // Prints: 42 (dereference)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printf("%p\n", ptr);    // Prints: memory address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*ptr = 100;            // Changes value through pointer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value);   // Now prints: 100</a:t>
            </a:r>
            <a:endParaRPr lang="en-US" sz="1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12ED7A-5B4A-E76F-8207-0DA9458DCEE7}"/>
              </a:ext>
            </a:extLst>
          </p:cNvPr>
          <p:cNvGrpSpPr/>
          <p:nvPr/>
        </p:nvGrpSpPr>
        <p:grpSpPr>
          <a:xfrm>
            <a:off x="1097280" y="3505208"/>
            <a:ext cx="3200400" cy="1371600"/>
            <a:chOff x="1097280" y="3200400"/>
            <a:chExt cx="3200400" cy="1371600"/>
          </a:xfrm>
        </p:grpSpPr>
        <p:sp>
          <p:nvSpPr>
            <p:cNvPr id="5" name="Shape 3"/>
            <p:cNvSpPr/>
            <p:nvPr/>
          </p:nvSpPr>
          <p:spPr>
            <a:xfrm>
              <a:off x="1097280" y="3200400"/>
              <a:ext cx="320040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t-EE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280160" y="3337560"/>
              <a:ext cx="2834640" cy="10972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</a:rPr>
                <a:t>Pointer operators: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505050"/>
                  </a:solidFill>
                </a:rPr>
                <a:t>&amp; = address-of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505050"/>
                  </a:solidFill>
                </a:rPr>
                <a:t>* = dereference
-&gt; = access member</a:t>
              </a:r>
              <a:endParaRPr lang="en-US" sz="15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961709-C4A4-3DAC-BBD5-E9C30A6AC0DB}"/>
              </a:ext>
            </a:extLst>
          </p:cNvPr>
          <p:cNvGrpSpPr/>
          <p:nvPr/>
        </p:nvGrpSpPr>
        <p:grpSpPr>
          <a:xfrm>
            <a:off x="4846320" y="3505208"/>
            <a:ext cx="3200400" cy="1371600"/>
            <a:chOff x="4846320" y="3200400"/>
            <a:chExt cx="3200400" cy="1371600"/>
          </a:xfrm>
        </p:grpSpPr>
        <p:sp>
          <p:nvSpPr>
            <p:cNvPr id="7" name="Shape 5"/>
            <p:cNvSpPr/>
            <p:nvPr/>
          </p:nvSpPr>
          <p:spPr>
            <a:xfrm>
              <a:off x="4846320" y="3200400"/>
              <a:ext cx="320040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0" y="3337560"/>
              <a:ext cx="2834640" cy="10972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</a:rPr>
                <a:t>Common uses:
</a:t>
              </a:r>
              <a:r>
                <a:rPr lang="en-US" sz="1400" dirty="0">
                  <a:solidFill>
                    <a:srgbClr val="505050"/>
                  </a:solidFill>
                </a:rPr>
                <a:t>- Pass by reference
- Dynamic memory
- Hardware registers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The Problem: What's Wrong with int?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18872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counter = 100;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temperature = -40;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sensor_data = 0xFF;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many bytes is this?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188720"/>
            <a:ext cx="3657600" cy="2426018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The Problems:
</a:t>
            </a:r>
            <a:r>
              <a:rPr lang="en-US" sz="1600" dirty="0">
                <a:solidFill>
                  <a:srgbClr val="DC2626"/>
                </a:solidFill>
              </a:rPr>
              <a:t>- Size depends on platform
</a:t>
            </a:r>
            <a:r>
              <a:rPr lang="en-US" sz="1600" dirty="0">
                <a:solidFill>
                  <a:srgbClr val="505050"/>
                </a:solidFill>
              </a:rPr>
              <a:t>- 16 bits on AVR Arduino
- 32 bits on ESP32/STM32
- 64 bits on some systems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Result: </a:t>
            </a:r>
            <a:r>
              <a:rPr lang="en-US" sz="1600" dirty="0">
                <a:solidFill>
                  <a:srgbClr val="DC2626"/>
                </a:solidFill>
              </a:rPr>
              <a:t>unpredictable behavior!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We need a way to guarantee the size!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int Size Across Platforms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185928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sizeof(int)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Arduino (AVR)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2 bytes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-32768 to 32767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ESP32 (Xtensa)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4 bytes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-2147483648 to 2147483647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STM32 (ARM)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4 bytes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-2147483648 to 2147483647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RP2040 (ARM)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4 bytes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-2147483648 to 2147483647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Linux x86_64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4 bytes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-2147483648 to 2147483647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</a:rPr>
              <a:t>WARNING: Same code can behave differently!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Solution: stdint.h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</a:rPr>
              <a:t>C99 Standard with Fixed-Width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548640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1965960" y="21945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 counter = 0;        // ALWAYS 8 bits (1 byte)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 temperature = -40;  // ALWAYS 16 bits (2 bytes)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timestamp = 0;      // ALWAYS 32 bits (4 bytes)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Works identically 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ESP32  - STM32  - Arduino  - RP2040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</a:rPr>
              <a:t>Guaranteed size on any platform!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stdint.h Types: Complete 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3291840"/>
          </a:xfrm>
          <a:prstGeom prst="rect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</a:rPr>
              <a:t>Unsigned (no sign)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47472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  // 0 to 255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 // 0 to 65535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 // 0 to 4294967295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uint64_t  // 0 to 18+ quintillion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for: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counters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array indices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bit masks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840480" cy="3291840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Signed (with sign)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47472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int8_t   // -128 to 127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 // -32768 to 32767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int32_t  // -2147483648 to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int64_t  // huge range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for: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temperature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coordinates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differences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Rule: if no negatives needed, use unsigned!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How to Choose the Right Type?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Value always &gt;= 0?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59669"/>
                </a:solidFill>
              </a:rPr>
              <a:t>=&gt; Use uint_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Range up to 255?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59669"/>
                </a:solidFill>
              </a:rPr>
              <a:t>=&gt; uint8_t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Range up to 65535?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59669"/>
                </a:solidFill>
              </a:rPr>
              <a:t>=&gt; uint16_t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109728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Need negatives?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59669"/>
                </a:solidFill>
              </a:rPr>
              <a:t>=&gt; int8_t/16_t/32_t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1097280" y="4480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In embedded: save memory - choose smallest suitable size!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The sizeof() Operator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05050"/>
                </a:solidFill>
              </a:rPr>
              <a:t>Check the size of a type in bytes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1"/>
            <a:ext cx="6400800" cy="291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1508760" y="125730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 a = 42;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b = 1000;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c = 1000000;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printf("uint8_t:  %lu bytes\n", sizeof(a));  //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printf("uint16_t: %lu bytes\n", sizeof(b));  //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printf("uint32_t: %lu bytes\n", sizeof(c));  // 4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check type directly: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printf("Size: %lu\n", sizeof(uint32_t));     //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761"/>
                </a:solidFill>
              </a:rPr>
              <a:t>Useful for debugging and verifying sizes!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Overflow: Type Wrap-Around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210312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counter = 253;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counter++;  // 254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counter++;  // 255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counter++;  // 0  &lt;-- wraps around!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counter++;  //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counter++;  // 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uint8_t: 0-255, then back to 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6576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029200" y="128016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What happens: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505050"/>
                </a:solidFill>
              </a:rPr>
              <a:t>253 -&gt; 254 -&gt; 255 -&gt; </a:t>
            </a:r>
            <a:r>
              <a:rPr lang="en-US" sz="1600" b="1" dirty="0">
                <a:solidFill>
                  <a:srgbClr val="DC2626"/>
                </a:solidFill>
              </a:rPr>
              <a:t>0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505050"/>
                </a:solidFill>
              </a:rPr>
              <a:t>
Maximum reached!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Signed type (int8_t):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505050"/>
                </a:solidFill>
              </a:rPr>
              <a:t>127 -&gt; -128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WARNING: Be careful with range boundaries!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Type Casting: Converting Types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loss when downsizing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big = 1000;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small = big;  // small = 232 (data loss!)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1000 = 0x03E8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uint8_t takes only lower byte: 0xE8 = 232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1188720"/>
          </a:xfrm>
          <a:prstGeom prst="rect">
            <a:avLst/>
          </a:prstGeom>
          <a:solidFill>
            <a:srgbClr val="2D3748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Explicit casting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temp = -10;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positive = (uint16_t)temp;  // 65526 (wrong!)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Negative value becomes huge unsigned number!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Always think about ranges when casting types!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Best Practices for Embedded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YES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1704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Always use stdint.h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3533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Guaranteed sizes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YES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764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Choose smallest type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94767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uint8_t over uint32_t when possible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YES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359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Unsigned by default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54203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If no negatives needed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YES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29535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Check boundaries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13639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Avoid overflow/underflow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/>
          <p:nvPr/>
        </p:nvSpPr>
        <p:spPr>
          <a:xfrm>
            <a:off x="914400" y="3520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NO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547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Don't use int/long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373075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Size depends on platform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NO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4142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Don't cast blindly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3251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50"/>
                </a:solidFill>
              </a:rPr>
              <a:t>Can lose data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</a:rPr>
              <a:t>Summary</a:t>
            </a:r>
            <a:endParaRPr lang="en-US" sz="4000" dirty="0">
              <a:solidFill>
                <a:srgbClr val="1E276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409700" y="1639253"/>
            <a:ext cx="6400800" cy="2651760"/>
          </a:xfrm>
          <a:prstGeom prst="rect">
            <a:avLst/>
          </a:prstGeom>
          <a:solidFill>
            <a:srgbClr val="2D3748">
              <a:alpha val="90000"/>
            </a:srgbClr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1645920" y="173736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</a:rPr>
              <a:t> </a:t>
            </a:r>
            <a:r>
              <a:rPr lang="en-US" sz="1800" dirty="0">
                <a:solidFill>
                  <a:srgbClr val="FFFFFF"/>
                </a:solidFill>
              </a:rPr>
              <a:t>C provides basic types: int, float, char, bool, pointers
</a:t>
            </a:r>
            <a:r>
              <a:rPr lang="en-US" sz="2000" b="1" dirty="0">
                <a:solidFill>
                  <a:srgbClr val="CADCFC"/>
                </a:solidFill>
              </a:rPr>
              <a:t> </a:t>
            </a:r>
            <a:r>
              <a:rPr lang="en-US" sz="1800" dirty="0">
                <a:solidFill>
                  <a:srgbClr val="FFFFFF"/>
                </a:solidFill>
              </a:rPr>
              <a:t>Problem: int size varies by platform
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</a:rPr>
              <a:t> </a:t>
            </a:r>
            <a:r>
              <a:rPr lang="en-US" sz="1800" dirty="0">
                <a:solidFill>
                  <a:srgbClr val="FFFFFF"/>
                </a:solidFill>
              </a:rPr>
              <a:t>Solution: Use </a:t>
            </a:r>
            <a:r>
              <a:rPr lang="en-US" sz="1800" b="1" dirty="0">
                <a:solidFill>
                  <a:srgbClr val="CADCFC"/>
                </a:solidFill>
              </a:rPr>
              <a:t>stdint.h</a:t>
            </a:r>
            <a:r>
              <a:rPr lang="en-US" sz="1800" dirty="0">
                <a:solidFill>
                  <a:srgbClr val="FFFFFF"/>
                </a:solidFill>
              </a:rPr>
              <a:t> for guaranteed sizes
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</a:rPr>
              <a:t> </a:t>
            </a:r>
            <a:r>
              <a:rPr lang="en-US" sz="1800" dirty="0">
                <a:solidFill>
                  <a:srgbClr val="FFFFFF"/>
                </a:solidFill>
              </a:rPr>
              <a:t>Remember overflow and casting pitfalls!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2761"/>
                </a:solidFill>
              </a:rPr>
              <a:t>Next: Practice with ESP32!</a:t>
            </a:r>
            <a:endParaRPr lang="en-US" sz="22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1566</Words>
  <Application>Microsoft Office PowerPoint</Application>
  <PresentationFormat>On-screen Show (16:9)</PresentationFormat>
  <Paragraphs>273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 in C</dc:title>
  <dc:subject>PptxGenJS Presentation</dc:subject>
  <dc:creator>Aleks</dc:creator>
  <cp:lastModifiedBy>Bobyrev, Aleksandr</cp:lastModifiedBy>
  <cp:revision>2</cp:revision>
  <dcterms:created xsi:type="dcterms:W3CDTF">2026-02-16T13:38:06Z</dcterms:created>
  <dcterms:modified xsi:type="dcterms:W3CDTF">2026-02-16T14:15:22Z</dcterms:modified>
</cp:coreProperties>
</file>