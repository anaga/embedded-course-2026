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Flow, Functions &amp; Pointers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 Development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11480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if/else, switch/case, ternary operator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25880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938528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938528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193852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88720" y="1984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188720" y="22585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for, while, do-while, infinite loops in embedded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2075688"/>
            <a:ext cx="365760" cy="3657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57200" y="2688336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688336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3"/>
          <p:cNvSpPr/>
          <p:nvPr/>
        </p:nvSpPr>
        <p:spPr>
          <a:xfrm>
            <a:off x="640080" y="268833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188720" y="27340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1188720" y="3008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Declaration, parameters, return values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825496"/>
            <a:ext cx="365760" cy="36576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57200" y="3438144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3438144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18"/>
          <p:cNvSpPr/>
          <p:nvPr/>
        </p:nvSpPr>
        <p:spPr>
          <a:xfrm>
            <a:off x="640080" y="343814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1188720" y="34838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Introduction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1188720" y="3758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Addresses, dereferencing, why it matters</a:t>
            </a:r>
            <a:endParaRPr lang="en-US" sz="12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3575304"/>
            <a:ext cx="365760" cy="36576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457200" y="4187952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7200" y="4187952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3"/>
          <p:cNvSpPr/>
          <p:nvPr/>
        </p:nvSpPr>
        <p:spPr>
          <a:xfrm>
            <a:off x="640080" y="418795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1188720" y="4233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Button Input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1188720" y="4507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button + debounce + serial counter</a:t>
            </a:r>
            <a:endParaRPr lang="en-US" sz="12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4325112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Statements: if / else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206240" cy="3291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temp = readSensor();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(temp &gt; 50)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printf("DANGER!\n");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pPr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(temp &gt; 30)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printf("Warning\n");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pPr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printf("Normal\n");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37760" y="109728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2064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20640" y="1554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must be in parentheses ()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Braces {} define the code block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if chains for multiple checks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is optional (default case)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2743200"/>
            <a:ext cx="3749040" cy="914400"/>
          </a:xfrm>
          <a:prstGeom prst="rect">
            <a:avLst/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Bug!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 = 5)   -- assignment, always true!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 == 5)  -- comparison, correct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Ternary:  int max = (a &gt; b) ? a : b;    // compact single-line if/else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/ case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0" cy="34747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(state)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pPr indent="0" marL="0">
              <a:buNone/>
            </a:pP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STATE_IDLE: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ledOff();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pPr indent="0" marL="0">
              <a:buNone/>
            </a:pP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STATE_RUNNING: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ledBlink();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pPr indent="0" marL="0">
              <a:buNone/>
            </a:pP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STATE_ERROR: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ledOn();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0" y="1097280"/>
            <a:ext cx="33832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0" y="1188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0" y="15087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ONE variable to multiple values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machines (very common in embedded!)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systems, command parsers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than long if/else if chains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0" y="2926080"/>
            <a:ext cx="3383280" cy="82296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forget break;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break, execution "falls through" to the next case -- a classic C bug.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only works with integer/char types -- not strings or floats!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Loops: for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 i &lt; 10;  i++)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5448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7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loop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before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iteration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4206240" cy="1645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974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 0 to 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3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0; i &lt; 10; i++)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printf("%d\n", i);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2560320"/>
            <a:ext cx="3749040" cy="1645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269748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Nested loops (2D array)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2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 = 0; r &lt; 3; r++)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2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= 0; c &lt; 3; c++)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printf("%d ", grid[r][c]);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3931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4389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break;  -- exit the loop immediately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4389120"/>
            <a:ext cx="3931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4389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continue;  -- skip to next iteration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Loops: while &amp; do-while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condition FIRST, then execute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566160" cy="11887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 =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(count &lt; 5)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doSomething();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count++;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do-while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FIRST, then check condition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828800"/>
            <a:ext cx="3566160" cy="11887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9202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input;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= readButton();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(input == 0);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66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Loops in Embedded Systems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(1) { ...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(;;)   { ... 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39319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embedded, your program runs FOREVER. The main loop is always infinite. Arduino's loop() function is called inside while(1) by the framework.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Functions: Declaration &amp; Definition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 add(int a, int b) {  return a + b;  }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54480" y="1645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7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function (no return)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3566160" cy="1554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blinkLed(</a:t>
            </a:r>
            <a:pPr indent="0" marL="0">
              <a:buNone/>
            </a:pPr>
            <a:r>
              <a:rPr lang="en-US" sz="11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pin)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digitalWrite(pin, HIGH);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delay(500);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digitalWrite(pin, LOW);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delay(500);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37744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with return value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2834640"/>
            <a:ext cx="3566160" cy="1554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29260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celsiusToF(</a:t>
            </a:r>
            <a:pPr indent="0" marL="0">
              <a:buNone/>
            </a:pPr>
            <a:r>
              <a:rPr lang="en-US" sz="11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* 1.8 + 32.0;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 = celsiusToF(25.0);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C: function prototypes must appear before usage, or define functions above main()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Functions?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call many times. blinkLed() works for any pin.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11680"/>
            <a:ext cx="73152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functions explain WHAT the code does. Self-documenting.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26080"/>
            <a:ext cx="73152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337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functions are easy to test independently.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84048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4251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bug in one place, not copy-pasted in 10 places.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you copy-paste code, make it a function!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Pointers: What Are They?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pointer is a variable that stores a memory address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1691640"/>
            <a:ext cx="201168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7280" y="2057400"/>
            <a:ext cx="201168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1691640"/>
            <a:ext cx="2011680" cy="3657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0x1004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2057400"/>
            <a:ext cx="201168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201168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0x1008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057400"/>
            <a:ext cx="201168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0x1000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 rot="10800000">
            <a:off x="6858000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4290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   = 42;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ptr = </a:t>
            </a:r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x;         </a:t>
            </a:r>
            <a:pPr indent="0" marL="0">
              <a:buNone/>
            </a:pPr>
            <a:r>
              <a:rPr lang="en-US" sz="14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ptr stores ADDRESS of x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printf("%d\n", </a:t>
            </a:r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ptr);   </a:t>
            </a:r>
            <a:pPr indent="0" marL="0">
              <a:buNone/>
            </a:pPr>
            <a:r>
              <a:rPr lang="en-US" sz="14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prints 42 (dereference)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 = 99;              </a:t>
            </a:r>
            <a:pPr indent="0" marL="0">
              <a:buNone/>
            </a:pPr>
            <a:r>
              <a:rPr lang="en-US" sz="14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x is now 99!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Operators: &amp; and *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 Address-of operator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me the ADDRESS where this variable lives"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3566160" cy="11887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42;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ptr = &amp;x;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ptr now holds 0x1000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(address of x in memory)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97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Dereference operator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me the VALUE at the address this pointer holds"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011680"/>
            <a:ext cx="3566160" cy="11887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21031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printf("%d", </a:t>
            </a:r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*ptr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2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*ptr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99;         </a:t>
            </a:r>
            <a:pPr indent="0" marL="0">
              <a:buNone/>
            </a:pPr>
            <a:r>
              <a:rPr lang="en-US" sz="12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x = 99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Changed x through pointer!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49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Pointers -- Always Check!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int* ptr = NULL;           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Points to nothing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(ptr != NULL) {         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ALWAYS check before using!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*ptr;  }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Pointers Matter in Embedded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704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Register Access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444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Peripherals (GPIO, UART, SPI) are mapped to specific memory addresses. Pointers let you read/write hardware directly.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55648"/>
            <a:ext cx="768096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556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volatile uint32_t* gpio = (uint32_t*)0x60004004;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31720"/>
            <a:ext cx="73152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048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by Reference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6791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only passes by value. Pointers let functions modify the caller's variables without copying large data.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990088"/>
            <a:ext cx="768096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99008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readSensor(int* temperature, int* humidity);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566160"/>
            <a:ext cx="73152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393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 &amp; Buffers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9136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arrays, strings, and communication buffers requires pointer manipulation.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224528"/>
            <a:ext cx="768096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2245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buffer[64];  char* ptr = buffer;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dive deeper into pointers in future lessons!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 Format Specifiers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  <a:gridCol w="29260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Specifier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Example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Output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integer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printf("%d", 42)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printf("%o", 42)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%x / %X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Hexadecimal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printf("%X", 255)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FF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%f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 / double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printf("%.2f", 3.14)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printf("%c", 65)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printf("%s", "hi")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&amp; Padding (important for tables!)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402336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printf("%4d", 42);    </a:t>
            </a:r>
            <a:pPr indent="0" marL="0">
              <a:buNone/>
            </a:pPr>
            <a:r>
              <a:rPr lang="en-US" sz="13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  42"  (right-aligned, width 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printf("%-4d", 42);   </a:t>
            </a:r>
            <a:pPr indent="0" marL="0">
              <a:buNone/>
            </a:pPr>
            <a:r>
              <a:rPr lang="en-US" sz="13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"42  "  (left-aligned)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printf("%04X", 255);  </a:t>
            </a:r>
            <a:pPr indent="0" marL="0">
              <a:buNone/>
            </a:pPr>
            <a:r>
              <a:rPr lang="en-US" sz="13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"00FF"  (zero-padded hex)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Input + Serial Counter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1A1A3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(ESP32-C3 Super Mini)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Pin 1 --&gt; GPIO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Pin 2 --&gt; GND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external resistor needed!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use INPUT_PULLUP mode: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 pressed = HIGH (1)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Pressed     = LOW  (0)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Note: logic is INVERTED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compared to what you expect!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1A1A3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Build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20640" y="19202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button state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Debounce (filter noise)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Count presses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Print counter to Serial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3017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32918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if/else -- button state check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while(1) -- main loop (loop())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functions -- debounce logic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Serial.printf() -- formatted output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Basic Button Read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BUTTON_PIN 3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counter =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lastState = HIGH;  </a:t>
            </a:r>
            <a:pPr indent="0" marL="0">
              <a:buNone/>
            </a:pPr>
            <a:r>
              <a:rPr lang="en-US" sz="12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pullup = HIGH when not pressed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setup()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Serial.begin(115200);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pinMode(BUTTON_PIN, INPUT_PULLUP);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loop()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currentState = digitalRead(BUTTON_PIN);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(currentState == LOW &amp;&amp; lastState == HIGH)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counter++;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Serial.printf("Button pressed! Count: %d\n", counter);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lastState = currentState;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Add Debounce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Debounce?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buttons "bounce" -- the contacts physically vibrate for a few milliseconds. One press can register as 5-10 presses without debouncing.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0" y="1005840"/>
            <a:ext cx="4297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Fix: delay()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14173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detecting a press, wait 50ms and ignore further changes. Simple but blocks the CPU -- fine for learning, not ideal for production.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23774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5176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DEBOUNCE_MS 50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isButtonPressed()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reading = digitalRead(BUTTON_PIN);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(reading == LOW &amp;&amp; lastState == HIGH)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delay(DEBOUNCE_MS);  </a:t>
            </a:r>
            <a:pPr indent="0" marL="0">
              <a:buNone/>
            </a:pPr>
            <a:r>
              <a:rPr lang="en-US" sz="12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wait for bounce to settle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reading = digitalRead(BUTTON_PIN);  </a:t>
            </a:r>
            <a:pPr indent="0" marL="0">
              <a:buNone/>
            </a:pPr>
            <a:r>
              <a:rPr lang="en-US" sz="12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again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lastState = reading;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(reading == LOW);  </a:t>
            </a:r>
            <a:pPr indent="0" marL="0">
              <a:buNone/>
            </a:pPr>
            <a:r>
              <a:rPr lang="en-US" sz="12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 if still pressed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lastState = reading;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</a:t>
            </a:r>
            <a:pPr indent="0" marL="0">
              <a:buNone/>
            </a:pPr>
            <a:r>
              <a:rPr lang="en-US" sz="12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false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6576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1097280"/>
            <a:ext cx="73152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188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Table 16x16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15544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 16x16 multiplication table to Serial Monitor using Serial.printf()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push button to cycle between number systems: OCT -&gt; DEC -&gt; HEX -&gt; OCT ...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output with fixed-width columns using printf width specifiers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Reprint the entire table each time the button is pressed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3931920" cy="2011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2004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nested for loops for table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switch/case for mode select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print logic into a function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the button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columns (printf width)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27432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3776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937760" y="3200400"/>
            <a:ext cx="3566160" cy="13716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1"/>
          <p:cNvSpPr/>
          <p:nvPr/>
        </p:nvSpPr>
        <p:spPr>
          <a:xfrm>
            <a:off x="5120640" y="3246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OCT: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Serial.printf("%6o", val);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DEC: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Serial.printf("%4d", val);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HEX: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Serial.printf("%4X", val);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10972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 for decisions, switch/case for state machines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9164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16916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(counted), while (conditional), infinite loops in embedded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22860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code blocks with parameters and return values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88036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28803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that store memory addresses -- &amp; and * operators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47472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474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0" y="347472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specifiers: %d, %o, %x, %f with width control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06908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Input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0" y="40690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INPUT_PULLUP, debounce, edge detection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Arrays, Strings &amp; Memory Layout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next session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16x16 Multiplication Table with OCT/DEC/HEX modes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39319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3: Control Flow, Functions &amp; Pointers</dc:title>
  <dc:subject>PptxGenJS Presentation</dc:subject>
  <dc:creator>Embedded Systems Course</dc:creator>
  <cp:lastModifiedBy>Embedded Systems Course</cp:lastModifiedBy>
  <cp:revision>1</cp:revision>
  <dcterms:created xsi:type="dcterms:W3CDTF">2026-02-18T13:47:41Z</dcterms:created>
  <dcterms:modified xsi:type="dcterms:W3CDTF">2026-02-18T13:47:41Z</dcterms:modified>
</cp:coreProperties>
</file>